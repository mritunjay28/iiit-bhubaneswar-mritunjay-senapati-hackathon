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457200" rtl="0" eaLnBrk="1" latinLnBrk="0" hangingPunct="1">
      <a:defRPr lang="en-US" sz="1800" kern="1200">
        <a:solidFill>
          <a:schemeClr val="tx1"/>
        </a:solidFill>
        <a:latin typeface="+mn-lt"/>
        <a:ea typeface="+mn-ea"/>
        <a:cs typeface="+mn-cs"/>
      </a:defRPr>
    </a:lvl1pPr>
    <a:lvl2pPr marL="457200" algn="l" defTabSz="457200" rtl="0" eaLnBrk="1" latinLnBrk="0" hangingPunct="1">
      <a:defRPr lang="en-US" sz="1800" kern="1200">
        <a:solidFill>
          <a:schemeClr val="tx1"/>
        </a:solidFill>
        <a:latin typeface="+mn-lt"/>
        <a:ea typeface="+mn-ea"/>
        <a:cs typeface="+mn-cs"/>
      </a:defRPr>
    </a:lvl2pPr>
    <a:lvl3pPr marL="914400" algn="l" defTabSz="457200" rtl="0" eaLnBrk="1" latinLnBrk="0" hangingPunct="1">
      <a:defRPr lang="en-US" sz="1800" kern="1200">
        <a:solidFill>
          <a:schemeClr val="tx1"/>
        </a:solidFill>
        <a:latin typeface="+mn-lt"/>
        <a:ea typeface="+mn-ea"/>
        <a:cs typeface="+mn-cs"/>
      </a:defRPr>
    </a:lvl3pPr>
    <a:lvl4pPr marL="1371600" algn="l" defTabSz="457200" rtl="0" eaLnBrk="1" latinLnBrk="0" hangingPunct="1">
      <a:defRPr lang="en-US" sz="1800" kern="1200">
        <a:solidFill>
          <a:schemeClr val="tx1"/>
        </a:solidFill>
        <a:latin typeface="+mn-lt"/>
        <a:ea typeface="+mn-ea"/>
        <a:cs typeface="+mn-cs"/>
      </a:defRPr>
    </a:lvl4pPr>
    <a:lvl5pPr marL="1828800" algn="l" defTabSz="457200" rtl="0" eaLnBrk="1" latinLnBrk="0" hangingPunct="1">
      <a:defRPr lang="en-US" sz="1800" kern="1200">
        <a:solidFill>
          <a:schemeClr val="tx1"/>
        </a:solidFill>
        <a:latin typeface="+mn-lt"/>
        <a:ea typeface="+mn-ea"/>
        <a:cs typeface="+mn-cs"/>
      </a:defRPr>
    </a:lvl5pPr>
    <a:lvl6pPr marL="2286000" algn="l" defTabSz="457200" rtl="0" eaLnBrk="1" latinLnBrk="0" hangingPunct="1">
      <a:defRPr lang="en-US" sz="1800" kern="1200">
        <a:solidFill>
          <a:schemeClr val="tx1"/>
        </a:solidFill>
        <a:latin typeface="+mn-lt"/>
        <a:ea typeface="+mn-ea"/>
        <a:cs typeface="+mn-cs"/>
      </a:defRPr>
    </a:lvl6pPr>
    <a:lvl7pPr marL="2743200" algn="l" defTabSz="457200" rtl="0" eaLnBrk="1" latinLnBrk="0" hangingPunct="1">
      <a:defRPr lang="en-US" sz="1800" kern="1200">
        <a:solidFill>
          <a:schemeClr val="tx1"/>
        </a:solidFill>
        <a:latin typeface="+mn-lt"/>
        <a:ea typeface="+mn-ea"/>
        <a:cs typeface="+mn-cs"/>
      </a:defRPr>
    </a:lvl7pPr>
    <a:lvl8pPr marL="3200400" algn="l" defTabSz="457200" rtl="0" eaLnBrk="1" latinLnBrk="0" hangingPunct="1">
      <a:defRPr lang="en-US" sz="1800" kern="1200">
        <a:solidFill>
          <a:schemeClr val="tx1"/>
        </a:solidFill>
        <a:latin typeface="+mn-lt"/>
        <a:ea typeface="+mn-ea"/>
        <a:cs typeface="+mn-cs"/>
      </a:defRPr>
    </a:lvl8pPr>
    <a:lvl9pPr marL="3657600" algn="l" defTabSz="457200" rtl="0" eaLnBrk="1" latinLnBrk="0" hangingPunct="1">
      <a:defRPr lang="en-US"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91" d="100"/>
          <a:sy n="91" d="100"/>
        </p:scale>
        <p:origin x="341" y="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endParaRPr lang="en-US"/>
          </a:p>
        </p:txBody>
      </p:sp>
      <p:sp>
        <p:nvSpPr>
          <p:cNvPr id="3" name="Date Placeholder 2"/>
          <p:cNvSpPr>
            <a:spLocks noGrp="1"/>
          </p:cNvSpPr>
          <p:nvPr>
            <p:ph type="dt" sz="half" idx="1"/>
          </p:nvPr>
        </p:nvSpPr>
        <p:spPr>
          <a:xfrm>
            <a:off x="3884613" y="0"/>
            <a:ext cx="2971800" cy="457200"/>
          </a:xfrm>
          <a:prstGeom prst="rect">
            <a:avLst/>
          </a:prstGeom>
        </p:spPr>
        <p:txBody>
          <a:bodyPr/>
          <a:lstStyle/>
          <a:p>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endParaRPr lang="en-US"/>
          </a:p>
        </p:txBody>
      </p:sp>
    </p:spTree>
  </p:cSld>
  <p:clrMap bg1="lt1" tx1="dk1" bg2="lt2" tx2="dk2" accent1="accent1" accent2="accent2" accent3="accent3" accent4="accent4" accent5="accent5" accent6="accent6" hlink="hlink" folHlink="folHlink"/>
  <p:hf/>
  <p:notesStyle>
    <a:lvl1pPr marL="0" algn="l">
      <a:defRPr lang="en-US" sz="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r>
              <a:rPr lang="en-US" dirty="0"/>
              <a:t>Good morning, distinguished judges and industry leaders from S&amp;P Global and CRISIL. My name is Mritunjay Senapati, and today I am honored to present our project: the AI/NLP Financial Risk Engine &amp; Strategic Portfolio Stress Testing System.</a:t>
            </a:r>
          </a:p>
          <a:p>
            <a:endParaRPr lang="en-US" dirty="0"/>
          </a:p>
          <a:p>
            <a:r>
              <a:rPr lang="en-US" dirty="0"/>
              <a:t>In modern financial markets, risk does not wait for quarterly reports or delayed credit rating revisions. Market volatility is increasingly triggered by sudden unstructured intelligence—from sudden geopolitical shifts and regulatory changes to supply chain disruptions and social sentiment. However, institutional risk management desks have historically operated with fragmented tools: qualitative intelligence teams monitor news and filings, while quantitative trading desks rely on backward-looking historical variance models.</a:t>
            </a:r>
          </a:p>
          <a:p>
            <a:endParaRPr lang="en-US" dirty="0"/>
          </a:p>
          <a:p>
            <a:r>
              <a:rPr lang="en-US" dirty="0"/>
              <a:t>Our engine bridges this fundamental gap. By unifying high-throughput NLP intelligence with multi-asset quantitative risk models, we transform unstructured market signals into real-time, actionable capital stress tests, giving rating agencies, portfolio managers, and risk committees an unprecedented level of predictive resilience.</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Let us examine the core dilemma facing modern financial institutions. Today, institutional risk operations suffer from three acute structural bottlenecks:</a:t>
            </a:r>
          </a:p>
          <a:p>
            <a:endParaRPr lang="en-US" dirty="0"/>
          </a:p>
          <a:p>
            <a:r>
              <a:rPr lang="en-US" dirty="0"/>
              <a:t>First, rating downgrade latency. Traditional credit surveillance and risk evaluations operate on retrospective financial statements, leading to a critical 24- to 48-hour latency window during acute market shocks. By the time a formal rating action or credit review occurs, portfolio capital has already sustained severe impairment.</a:t>
            </a:r>
          </a:p>
          <a:p>
            <a:endParaRPr lang="en-US" dirty="0"/>
          </a:p>
          <a:p>
            <a:r>
              <a:rPr lang="en-US" dirty="0"/>
              <a:t>Second, the deluge of unstructured data. Over 80% of actionable market signals reside in non-standardized formats—ranging from 10-K/10-Q SEC regulatory filings and earnings call transcripts to breaking financial news feeds and FinTwit disclosures. Human risk analysts cannot process this volume in real time without cognitive fatigue and noise distortion.</a:t>
            </a:r>
          </a:p>
          <a:p>
            <a:endParaRPr lang="en-US" dirty="0"/>
          </a:p>
          <a:p>
            <a:r>
              <a:rPr lang="en-US" dirty="0"/>
              <a:t>Third, fragmented risk infrastructure. Qualitative market research is historically divorced from quantitative risk engines. Portfolio VaR and stress testing models fail to calibrate immediately when macroeconomic sentiment turns adverse.</a:t>
            </a:r>
          </a:p>
          <a:p>
            <a:endParaRPr lang="en-US" dirty="0"/>
          </a:p>
          <a:p>
            <a:r>
              <a:rPr lang="en-US" dirty="0"/>
              <a:t>Our solution introduces an integrated, three-layer institutional architecture:</a:t>
            </a:r>
          </a:p>
          <a:p>
            <a:r>
              <a:rPr lang="en-US" dirty="0"/>
              <a:t>1. An Unstructured NLP Intelligence Pipeline utilizing domain-adapted FinBERT, Named Entity Recognition, and S&amp;P ESG taxonomy mapping.</a:t>
            </a:r>
          </a:p>
          <a:p>
            <a:r>
              <a:rPr lang="en-US" dirty="0"/>
              <a:t>2. A Quantitative Multi-Asset Risk Engine computing dynamic GARCH volatility, Monte Carlo VaR at 99% confidence, and extreme tail-dependency copulas.</a:t>
            </a:r>
          </a:p>
          <a:p>
            <a:r>
              <a:rPr lang="en-US" dirty="0"/>
              <a:t>3. An Interactive Portfolio Stress Testing &amp; API Dashboard delivering sub-second scenario simulations and instant board-level insights.</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r>
              <a:rPr lang="en-US" dirty="0"/>
              <a:t>Moving to Slide 3, this diagram depicts the complete end-to-end architecture of our financial risk platform, spanning ingestion, AI inference, quantitative modeling, and executive delivery.</a:t>
            </a:r>
          </a:p>
          <a:p>
            <a:endParaRPr lang="en-US" dirty="0"/>
          </a:p>
          <a:p>
            <a:r>
              <a:rPr lang="en-US" dirty="0"/>
              <a:t>Starting on the left, our Data Ingestion &amp; Normalization Layer connects directly to diverse market feeds: Yahoo Finance and Alpha Vantage for tick-level and daily asset pricing; SEC EDGAR for continuous 10-K, 10-Q, and 8-K regulatory filings; news wire APIs; and Twitter/X financial streams. Every document is pre-processed through a high-throughput cleaning pipeline that removes boilerplate, strips formatting artifacts, and normalizes text streams.</a:t>
            </a:r>
          </a:p>
          <a:p>
            <a:endParaRPr lang="en-US" dirty="0"/>
          </a:p>
          <a:p>
            <a:r>
              <a:rPr lang="en-US" dirty="0"/>
              <a:t>In the center, our Hybrid NLP Intelligence Engine executes entity resolution and sentiment scoring. We employ FinBERT—a BERT model specifically fine-tuned on financial corpora—to evaluate nuanced sentiment context rather than simple word polarity. Simultaneously, SpaCy NER extracts target equity tickers and corporate entities, while our domain classifier tags ESG risk pillars. Crucially, we incorporate source credibility weighting to prevent unverified social media rumors from distorting risk signals.</a:t>
            </a:r>
          </a:p>
          <a:p>
            <a:endParaRPr lang="en-US" dirty="0"/>
          </a:p>
          <a:p>
            <a:r>
              <a:rPr lang="en-US" dirty="0"/>
              <a:t>In the lower pipeline, our Quantitative Risk Layer ingests the NLP risk factors alongside multi-asset return series across equities, fixed income, commodities, and derivatives. Here, we calculate rolling covariance matrices, fit GARCH(1,1) volatility models to capture volatility clustering, run 10,000 Monte Carlo iterations for Value at Risk and Conditional VaR (Expected Shortfall), and apply asymmetric Clayton and Gumbel copulas to model extreme tail co-movements.</a:t>
            </a:r>
          </a:p>
          <a:p>
            <a:endParaRPr lang="en-US" dirty="0"/>
          </a:p>
          <a:p>
            <a:r>
              <a:rPr lang="en-US" dirty="0"/>
              <a:t>Finally, the results are surfaced through our Enterprise Delivery Layer: high-performance Spring Boot REST APIs, real-time WebSocket alerts, and an executive institutional terminal featuring interactive scenario builders and automated compliance reports.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r>
              <a:rPr lang="en-US" dirty="0"/>
              <a:t>On Slide 4, we detail the mathematical rigor and algorithmic foundations that power our risk calculations.</a:t>
            </a:r>
          </a:p>
          <a:p>
            <a:endParaRPr lang="en-US" dirty="0"/>
          </a:p>
          <a:p>
            <a:r>
              <a:rPr lang="en-US" dirty="0"/>
              <a:t>In the NLP pillar, composite sentiment is derived from FinBERT probability vectors weighted by source credibility and entity relevance. Our engine calculates:</a:t>
            </a:r>
          </a:p>
          <a:p>
            <a:r>
              <a:rPr lang="en-US" dirty="0"/>
              <a:t>S_composite = sum of w_i multiplied by S_i(FinBERT) multiplied by C_source, normalized by total weights.</a:t>
            </a:r>
          </a:p>
          <a:p>
            <a:r>
              <a:rPr lang="en-US" dirty="0"/>
              <a:t>This ensures that official regulatory filings and audited news carry significantly higher weight than speculative retail commentary, completely mitigating adversarial noise.</a:t>
            </a:r>
          </a:p>
          <a:p>
            <a:endParaRPr lang="en-US" dirty="0"/>
          </a:p>
          <a:p>
            <a:r>
              <a:rPr lang="en-US" dirty="0"/>
              <a:t>In the Quantitative Risk pillar, market return volatility is not treated as static. We implement the GARCH(1,1) process:</a:t>
            </a:r>
          </a:p>
          <a:p>
            <a:r>
              <a:rPr lang="en-US" dirty="0"/>
              <a:t>sigma_t squared equals omega plus alpha times epsilon_{t-1} squared plus beta times sigma_{t-1} squared.</a:t>
            </a:r>
          </a:p>
          <a:p>
            <a:r>
              <a:rPr lang="en-US" dirty="0"/>
              <a:t>Subject to the stability condition that alpha plus beta is strictly less than one. This dynamically captures volatility clustering, ensuring that periods of high market turbulence feed directly into higher risk margins.</a:t>
            </a:r>
          </a:p>
          <a:p>
            <a:endParaRPr lang="en-US" dirty="0"/>
          </a:p>
          <a:p>
            <a:r>
              <a:rPr lang="en-US" dirty="0"/>
              <a:t>For portfolio loss quantification, we compute Value at Risk and Conditional Value at Risk (Expected Shortfall) at the 99% confidence level over a 10-day horizon:</a:t>
            </a:r>
          </a:p>
          <a:p>
            <a:r>
              <a:rPr lang="en-US" dirty="0"/>
              <a:t>VaR_alpha equals negative infimum of returns such that cumulative distribution is greater than or equal to 1 minus alpha.</a:t>
            </a:r>
          </a:p>
          <a:p>
            <a:r>
              <a:rPr lang="en-US" dirty="0"/>
              <a:t>And CVaR_alpha equals the expected loss given that losses exceed the VaR threshold: E[Loss | Loss &gt;= VaR_alpha].</a:t>
            </a:r>
          </a:p>
          <a:p>
            <a:r>
              <a:rPr lang="en-US" dirty="0"/>
              <a:t>Furthermore, because joint extreme losses violate normal distribution assumptions, we incorporate Archimedean copulas (Clayton for joint lower tail dependencies during market crashes, and Gumbel for upside asymmetric co-movements).</a:t>
            </a:r>
          </a:p>
          <a:p>
            <a:endParaRPr lang="en-US" dirty="0"/>
          </a:p>
          <a:p>
            <a:r>
              <a:rPr lang="en-US" dirty="0"/>
              <a:t>This combination of natural language processing and advanced financial econometrics provides an unshakeable mathematical baseline for stress testing.</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r>
              <a:rPr lang="en-US" dirty="0"/>
              <a:t>Slide 5 showcases our empirical validation and stress testing results on an institutional multi-asset benchmark portfolio valued at $585.0 Million USD.</a:t>
            </a:r>
          </a:p>
          <a:p>
            <a:endParaRPr lang="en-US" dirty="0"/>
          </a:p>
          <a:p>
            <a:r>
              <a:rPr lang="en-US" dirty="0"/>
              <a:t>In our multi-factor stress test scenario—simulating simultaneous stagflation, aggressive central bank interest rate hikes, and geopolitical supply shocks—we trace the cumulative capital impact across each risk component:</a:t>
            </a:r>
          </a:p>
          <a:p>
            <a:endParaRPr lang="en-US" dirty="0"/>
          </a:p>
          <a:p>
            <a:r>
              <a:rPr lang="en-US" dirty="0"/>
              <a:t>Starting with our baseline portfolio NAV of $585.0M:</a:t>
            </a:r>
          </a:p>
          <a:p>
            <a:r>
              <a:rPr lang="en-US" dirty="0"/>
              <a:t>• Equity market beta contraction drives an immediate -$48.2M drawdown across global equities.</a:t>
            </a:r>
          </a:p>
          <a:p>
            <a:r>
              <a:rPr lang="en-US" dirty="0"/>
              <a:t>• Fixed income duration compression and yield curve shifts contribute a -$32.4M loss in long-duration debt.</a:t>
            </a:r>
          </a:p>
          <a:p>
            <a:r>
              <a:rPr lang="en-US" dirty="0"/>
              <a:t>• Credit spread widening and default probability surges subtract -$18.6M.</a:t>
            </a:r>
          </a:p>
          <a:p>
            <a:r>
              <a:rPr lang="en-US" dirty="0"/>
              <a:t>• Our NLP Negative Sentiment Surge identifies early supplier strain and regulatory inquiries, adding an incremental -$16.9M in anticipatory tail-risk revaluation.</a:t>
            </a:r>
          </a:p>
          <a:p>
            <a:r>
              <a:rPr lang="en-US" dirty="0"/>
              <a:t>• Commodity and energy price spikes inflict an additional -$23.1M.</a:t>
            </a:r>
          </a:p>
          <a:p>
            <a:endParaRPr lang="en-US" dirty="0"/>
          </a:p>
          <a:p>
            <a:r>
              <a:rPr lang="en-US" dirty="0"/>
              <a:t>At the lowest unhedged point, the portfolio experiences a maximum peak-to-trough drawdown of -$116.1M, representing an alarming 19.8% capital impairment.</a:t>
            </a:r>
          </a:p>
          <a:p>
            <a:endParaRPr lang="en-US" dirty="0"/>
          </a:p>
          <a:p>
            <a:r>
              <a:rPr lang="en-US" dirty="0"/>
              <a:t>However, because our engine identifies these cascading risks 36 hours ahead of lagging credit rating actions, it triggers our automated dynamic rebalancing protocol:</a:t>
            </a:r>
          </a:p>
          <a:p>
            <a:r>
              <a:rPr lang="en-US" dirty="0"/>
              <a:t>• Liquidating high-vulnerability equity tranches into cash and ultra-short treasuries,</a:t>
            </a:r>
          </a:p>
          <a:p>
            <a:r>
              <a:rPr lang="en-US" dirty="0"/>
              <a:t>• Entering defensive volatility hedges (long index puts and inverse commodity ETF spreads),</a:t>
            </a:r>
          </a:p>
          <a:p>
            <a:r>
              <a:rPr lang="en-US" dirty="0"/>
              <a:t>• Recovering +$29.5M in capital preservation!</a:t>
            </a:r>
          </a:p>
          <a:p>
            <a:endParaRPr lang="en-US" dirty="0"/>
          </a:p>
          <a:p>
            <a:r>
              <a:rPr lang="en-US" dirty="0"/>
              <a:t>As a result, terminal portfolio NAV stabilizes at $498.4M. Value at Risk at 99% confidence is measured at $42.6M, with Conditional VaR at $58.1M, delivering a 4.2x stress-tested resilience improvement over unmanaged portfolios.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r>
              <a:rPr lang="en-US" dirty="0"/>
              <a:t>On Slide 6, we demonstrate how this platform delivers immediate enterprise value across key financial institutions and stakeholder personas:</a:t>
            </a:r>
          </a:p>
          <a:p>
            <a:endParaRPr lang="en-US" dirty="0"/>
          </a:p>
          <a:p>
            <a:r>
              <a:rPr lang="en-US" dirty="0"/>
              <a:t>First, for Credit Rating Agencies such as CRISIL and S&amp;P Global:</a:t>
            </a:r>
          </a:p>
          <a:p>
            <a:r>
              <a:rPr lang="en-US" dirty="0"/>
              <a:t>Our platform slashes credit surveillance latency from 48 hours down to under 15 minutes. By monitoring real-time sentiment trajectories, litigation filings, and supply chain health, rating analysts can issue early credit warnings and CreditWatch outlook revisions well before official bond defaults occur.</a:t>
            </a:r>
          </a:p>
          <a:p>
            <a:endParaRPr lang="en-US" dirty="0"/>
          </a:p>
          <a:p>
            <a:r>
              <a:rPr lang="en-US" dirty="0"/>
              <a:t>Second, for Institutional Asset Managers &amp; Hedge Funds:</a:t>
            </a:r>
          </a:p>
          <a:p>
            <a:r>
              <a:rPr lang="en-US" dirty="0"/>
              <a:t>Portfolio managers gain continuous, real-time visibility into multi-asset tail-risk and factor sensitivities. Instead of running overnight batch risk reports, managers can stress-test rebalancing decisions dynamically during active market hours, protecting client assets from sudden liquidity crunches and cascading margin calls.</a:t>
            </a:r>
          </a:p>
          <a:p>
            <a:endParaRPr lang="en-US" dirty="0"/>
          </a:p>
          <a:p>
            <a:r>
              <a:rPr lang="en-US" dirty="0"/>
              <a:t>Third, for Corporate Treasuries &amp; Enterprise Risk Committees:</a:t>
            </a:r>
          </a:p>
          <a:p>
            <a:r>
              <a:rPr lang="en-US" dirty="0"/>
              <a:t>Treasurers and Chief Risk Officers gain board-ready executive visualizations and automated Basel III / FRTB regulatory compliance audit trails. They can test working capital vulnerabilities against foreign exchange shocks, raw material spikes, and sovereign debt turbulence with clear, defensible mathematical justifications.</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r>
              <a:rPr lang="en-US" dirty="0"/>
              <a:t>Finally, on Slide 7, we address our architectural assumptions, compliance governance, and key strategic capability enhancement points:</a:t>
            </a:r>
          </a:p>
          <a:p>
            <a:endParaRPr lang="en-US" dirty="0"/>
          </a:p>
          <a:p>
            <a:r>
              <a:rPr lang="en-US" dirty="0"/>
              <a:t>We operate on explicit technical and quantitative assumptions:</a:t>
            </a:r>
          </a:p>
          <a:p>
            <a:r>
              <a:rPr lang="en-US" dirty="0"/>
              <a:t>• A1: Automated stress triggering on Impact Score &gt;= 7 guarantees immediate capital defense during acute crises without manual bottlenecks.</a:t>
            </a:r>
          </a:p>
          <a:p>
            <a:r>
              <a:rPr lang="en-US" dirty="0"/>
              <a:t>• A2 &amp; A3: Standardized NLP bounds [-1.0, +1.0] and 1–10 scoring ensure clear risk interpretation.</a:t>
            </a:r>
          </a:p>
          <a:p>
            <a:r>
              <a:rPr lang="en-US" dirty="0"/>
              <a:t>• A4 &amp; A5: Scoped $585M notional valuation and calibrated shock regimes isolate macro vulnerability from tick-level noise.</a:t>
            </a:r>
          </a:p>
          <a:p>
            <a:r>
              <a:rPr lang="en-US" dirty="0"/>
              <a:t>• A6: First-order bond duration approximation guarantees sub-75ms valuation throughput.</a:t>
            </a:r>
          </a:p>
          <a:p>
            <a:r>
              <a:rPr lang="en-US" dirty="0"/>
              <a:t>• A7 &amp; A8: Rigorous source credibility weighting discounts social noise, while 512 token clipping eliminates transformer OOM bottlenecks.</a:t>
            </a:r>
          </a:p>
          <a:p>
            <a:endParaRPr lang="en-US" dirty="0"/>
          </a:p>
          <a:p>
            <a:r>
              <a:rPr lang="en-US" dirty="0"/>
              <a:t>To extend this engine to Tier-1 institutional scale, we have established four key strategic capability improvement points:</a:t>
            </a:r>
          </a:p>
          <a:p>
            <a:r>
              <a:rPr lang="en-US" dirty="0"/>
              <a:t>1. Advanced Stochastic Monte Carlo &amp; Bond Convexity: Bootstrapping full yield curves, calculating second-order convexity, and running 10,000-path stochastic Monte Carlo simulations for 99% CVaR.</a:t>
            </a:r>
          </a:p>
          <a:p>
            <a:r>
              <a:rPr lang="en-US" dirty="0"/>
              <a:t>2. Live Market Streaming &amp; FIX Protocol: Hooking institutional WebSocket and FIX protocol feeds (Bloomberg B-PIPE and Refinitiv) for real-time streaming mark-to-market valuations.</a:t>
            </a:r>
          </a:p>
          <a:p>
            <a:r>
              <a:rPr lang="en-US" dirty="0"/>
              <a:t>3. Knowledge Graph Entity Disambiguation: Constructing property graphs across 200k+ global corporate parent-subsidiary trees to track multi-hop contagion pathways.</a:t>
            </a:r>
          </a:p>
          <a:p>
            <a:r>
              <a:rPr lang="en-US" dirty="0"/>
              <a:t>4. High-Throughput Distributed Event Mesh: Deploying an Apache Kafka streaming event mesh scaling to over 2,000,000 events per second with active-active fault tolerance.</a:t>
            </a:r>
          </a:p>
          <a:p>
            <a:endParaRPr lang="en-US" dirty="0"/>
          </a:p>
          <a:p>
            <a:r>
              <a:rPr lang="en-US" dirty="0"/>
              <a:t>In conclusion, our AI/NLP Financial Risk Engine empowers institutions to anticipate market disruptions, quantify tail-risk with mathematical precision, and protect capital with confidence. Thank you very much, and I welcome your questions.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financial_risk_engine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financial_risk_engine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lang="en-US" sz="1200">
                <a:solidFill>
                  <a:schemeClr val="tx1">
                    <a:tint val="75000"/>
                  </a:schemeClr>
                </a:solidFill>
              </a:defRPr>
            </a:lvl1pPr>
          </a:lstStyle>
          <a:p>
            <a:fld id="{5BCAD085-E8A6-8845-BD4E-CB4CCA059FC4}" type="datetimeFigureOut">
              <a:rPr lang="en-US" smtClean="0"/>
              <a:t>10/8/2026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lang="en-US"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lang="en-US"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1"/>
  </p:sldLayoutIdLst>
  <p:txStyles>
    <p:titleStyle>
      <a:lvl1pPr algn="ctr" defTabSz="457200" rtl="0" eaLnBrk="1" latinLnBrk="0" hangingPunct="1">
        <a:spcBef>
          <a:spcPct val="0"/>
        </a:spcBef>
        <a:buNone/>
        <a:defRPr lang="en-US" sz="2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lang="en-US" sz="11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lang="en-US" sz="105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lang="en-US" sz="10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lang="en-US" sz="9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lang="en-US" sz="85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lang="en-US" sz="8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lang="en-US" sz="8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lang="en-US" sz="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lang="en-US" sz="800" kern="1200">
          <a:solidFill>
            <a:schemeClr val="tx1"/>
          </a:solidFill>
          <a:latin typeface="+mn-lt"/>
          <a:ea typeface="+mn-ea"/>
          <a:cs typeface="+mn-cs"/>
        </a:defRPr>
      </a:lvl9pPr>
    </p:bodyStyle>
    <p:otherStyle>
      <a:defPPr>
        <a:defRPr lang="en-US"/>
      </a:defPPr>
      <a:lvl1pPr marL="0" algn="l" defTabSz="457200" rtl="0" eaLnBrk="1" latinLnBrk="0" hangingPunct="1">
        <a:defRPr lang="en-US" sz="1100" kern="1200">
          <a:solidFill>
            <a:schemeClr val="tx1"/>
          </a:solidFill>
          <a:latin typeface="+mn-lt"/>
          <a:ea typeface="+mn-ea"/>
          <a:cs typeface="+mn-cs"/>
        </a:defRPr>
      </a:lvl1pPr>
      <a:lvl2pPr marL="457200" algn="l" defTabSz="457200" rtl="0" eaLnBrk="1" latinLnBrk="0" hangingPunct="1">
        <a:defRPr lang="en-US" sz="1050" kern="1200">
          <a:solidFill>
            <a:schemeClr val="tx1"/>
          </a:solidFill>
          <a:latin typeface="+mn-lt"/>
          <a:ea typeface="+mn-ea"/>
          <a:cs typeface="+mn-cs"/>
        </a:defRPr>
      </a:lvl2pPr>
      <a:lvl3pPr marL="914400" algn="l" defTabSz="457200" rtl="0" eaLnBrk="1" latinLnBrk="0" hangingPunct="1">
        <a:defRPr lang="en-US" sz="1000" kern="1200">
          <a:solidFill>
            <a:schemeClr val="tx1"/>
          </a:solidFill>
          <a:latin typeface="+mn-lt"/>
          <a:ea typeface="+mn-ea"/>
          <a:cs typeface="+mn-cs"/>
        </a:defRPr>
      </a:lvl3pPr>
      <a:lvl4pPr marL="1371600" algn="l" defTabSz="457200" rtl="0" eaLnBrk="1" latinLnBrk="0" hangingPunct="1">
        <a:defRPr lang="en-US" sz="900" kern="1200">
          <a:solidFill>
            <a:schemeClr val="tx1"/>
          </a:solidFill>
          <a:latin typeface="+mn-lt"/>
          <a:ea typeface="+mn-ea"/>
          <a:cs typeface="+mn-cs"/>
        </a:defRPr>
      </a:lvl4pPr>
      <a:lvl5pPr marL="1828800" algn="l" defTabSz="457200" rtl="0" eaLnBrk="1" latinLnBrk="0" hangingPunct="1">
        <a:defRPr lang="en-US" sz="850" kern="1200">
          <a:solidFill>
            <a:schemeClr val="tx1"/>
          </a:solidFill>
          <a:latin typeface="+mn-lt"/>
          <a:ea typeface="+mn-ea"/>
          <a:cs typeface="+mn-cs"/>
        </a:defRPr>
      </a:lvl5pPr>
      <a:lvl6pPr marL="2286000" algn="l" defTabSz="457200" rtl="0" eaLnBrk="1" latinLnBrk="0" hangingPunct="1">
        <a:defRPr lang="en-US" sz="800" kern="1200">
          <a:solidFill>
            <a:schemeClr val="tx1"/>
          </a:solidFill>
          <a:latin typeface="+mn-lt"/>
          <a:ea typeface="+mn-ea"/>
          <a:cs typeface="+mn-cs"/>
        </a:defRPr>
      </a:lvl6pPr>
      <a:lvl7pPr marL="2743200" algn="l" defTabSz="457200" rtl="0" eaLnBrk="1" latinLnBrk="0" hangingPunct="1">
        <a:defRPr lang="en-US" sz="800" kern="1200">
          <a:solidFill>
            <a:schemeClr val="tx1"/>
          </a:solidFill>
          <a:latin typeface="+mn-lt"/>
          <a:ea typeface="+mn-ea"/>
          <a:cs typeface="+mn-cs"/>
        </a:defRPr>
      </a:lvl7pPr>
      <a:lvl8pPr marL="3200400" algn="l" defTabSz="457200" rtl="0" eaLnBrk="1" latinLnBrk="0" hangingPunct="1">
        <a:defRPr lang="en-US" sz="800" kern="1200">
          <a:solidFill>
            <a:schemeClr val="tx1"/>
          </a:solidFill>
          <a:latin typeface="+mn-lt"/>
          <a:ea typeface="+mn-ea"/>
          <a:cs typeface="+mn-cs"/>
        </a:defRPr>
      </a:lvl8pPr>
      <a:lvl9pPr marL="3657600" algn="l" defTabSz="457200" rtl="0" eaLnBrk="1" latinLnBrk="0" hangingPunct="1">
        <a:defRPr lang="en-US" sz="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9" name="header"/>
          <p:cNvGrpSpPr/>
          <p:nvPr/>
        </p:nvGrpSpPr>
        <p:grpSpPr>
          <a:xfrm>
            <a:off x="571500" y="400050"/>
            <a:ext cx="11053763" cy="266700"/>
            <a:chOff x="571500" y="400050"/>
            <a:chExt cx="11053763" cy="266700"/>
          </a:xfrm>
        </p:grpSpPr>
        <p:sp>
          <p:nvSpPr>
            <p:cNvPr id="2" name="Rectangle 2"/>
            <p:cNvSpPr/>
            <p:nvPr/>
          </p:nvSpPr>
          <p:spPr>
            <a:xfrm>
              <a:off x="571500" y="400050"/>
              <a:ext cx="3524250" cy="266700"/>
            </a:xfrm>
            <a:prstGeom prst="roundRect">
              <a:avLst>
                <a:gd name="adj" fmla="val 50000"/>
              </a:avLst>
            </a:prstGeom>
            <a:solidFill>
              <a:srgbClr val="EFF6FF"/>
            </a:solidFill>
            <a:ln w="9525">
              <a:solidFill>
                <a:srgbClr val="BFDBFE"/>
              </a:solidFill>
            </a:ln>
          </p:spPr>
        </p:sp>
        <p:sp>
          <p:nvSpPr>
            <p:cNvPr id="3" name="Ellipse 3"/>
            <p:cNvSpPr/>
            <p:nvPr/>
          </p:nvSpPr>
          <p:spPr>
            <a:xfrm>
              <a:off x="685800" y="495300"/>
              <a:ext cx="76200" cy="76200"/>
            </a:xfrm>
            <a:prstGeom prst="ellipse">
              <a:avLst/>
            </a:prstGeom>
            <a:solidFill>
              <a:srgbClr val="2563EB"/>
            </a:solidFill>
            <a:ln>
              <a:noFill/>
            </a:ln>
          </p:spPr>
        </p:sp>
        <p:sp>
          <p:nvSpPr>
            <p:cNvPr id="4" name="TextBox 4"/>
            <p:cNvSpPr txBox="1"/>
            <p:nvPr/>
          </p:nvSpPr>
          <p:spPr>
            <a:xfrm>
              <a:off x="833438" y="469900"/>
              <a:ext cx="3256033" cy="161925"/>
            </a:xfrm>
            <a:prstGeom prst="rect">
              <a:avLst/>
            </a:prstGeom>
            <a:noFill/>
            <a:ln>
              <a:noFill/>
            </a:ln>
          </p:spPr>
          <p:txBody>
            <a:bodyPr wrap="none" lIns="0" tIns="0" rIns="0" bIns="0" anchor="t" anchorCtr="0">
              <a:spAutoFit/>
            </a:bodyPr>
            <a:lstStyle/>
            <a:p>
              <a:pPr algn="l"/>
              <a:r>
                <a:rPr lang="en-US" sz="820" b="1" spc="75" dirty="0">
                  <a:solidFill>
                    <a:schemeClr val="accent1"/>
                  </a:solidFill>
                  <a:latin typeface="+mn-lt"/>
                  <a:ea typeface="+mn-ea"/>
                  <a:cs typeface="+mn-cs"/>
                </a:rPr>
                <a:t>S&amp;P GLOBAL &amp; CRISIL CAMPUS HACKATHON 2026</a:t>
              </a:r>
            </a:p>
          </p:txBody>
        </p:sp>
        <p:sp>
          <p:nvSpPr>
            <p:cNvPr id="5" name="Rectangle 5"/>
            <p:cNvSpPr/>
            <p:nvPr/>
          </p:nvSpPr>
          <p:spPr>
            <a:xfrm>
              <a:off x="4210050" y="400050"/>
              <a:ext cx="1809750" cy="266700"/>
            </a:xfrm>
            <a:prstGeom prst="roundRect">
              <a:avLst>
                <a:gd name="adj" fmla="val 50000"/>
              </a:avLst>
            </a:prstGeom>
            <a:solidFill>
              <a:srgbClr val="ECFDF5"/>
            </a:solidFill>
            <a:ln w="9525">
              <a:solidFill>
                <a:srgbClr val="A7F3D0"/>
              </a:solidFill>
            </a:ln>
          </p:spPr>
        </p:sp>
        <p:sp>
          <p:nvSpPr>
            <p:cNvPr id="6" name="Ellipse 6"/>
            <p:cNvSpPr/>
            <p:nvPr/>
          </p:nvSpPr>
          <p:spPr>
            <a:xfrm>
              <a:off x="4305300" y="495300"/>
              <a:ext cx="76200" cy="76200"/>
            </a:xfrm>
            <a:prstGeom prst="ellipse">
              <a:avLst/>
            </a:prstGeom>
            <a:solidFill>
              <a:schemeClr val="accent2"/>
            </a:solidFill>
            <a:ln>
              <a:noFill/>
            </a:ln>
          </p:spPr>
        </p:sp>
        <p:sp>
          <p:nvSpPr>
            <p:cNvPr id="7" name="TextBox 7"/>
            <p:cNvSpPr txBox="1"/>
            <p:nvPr/>
          </p:nvSpPr>
          <p:spPr>
            <a:xfrm>
              <a:off x="4452938" y="469900"/>
              <a:ext cx="1600389" cy="161925"/>
            </a:xfrm>
            <a:prstGeom prst="rect">
              <a:avLst/>
            </a:prstGeom>
            <a:noFill/>
            <a:ln>
              <a:noFill/>
            </a:ln>
          </p:spPr>
          <p:txBody>
            <a:bodyPr wrap="none" lIns="0" tIns="0" rIns="0" bIns="0" anchor="t" anchorCtr="0">
              <a:spAutoFit/>
            </a:bodyPr>
            <a:lstStyle/>
            <a:p>
              <a:pPr algn="l"/>
              <a:r>
                <a:rPr lang="en-US" sz="820" b="1" spc="75" dirty="0">
                  <a:solidFill>
                    <a:srgbClr val="065F46"/>
                  </a:solidFill>
                  <a:latin typeface="+mn-lt"/>
                  <a:ea typeface="+mn-ea"/>
                  <a:cs typeface="+mn-cs"/>
                </a:rPr>
                <a:t>MODULE B: RISK ENGINE</a:t>
              </a:r>
            </a:p>
          </p:txBody>
        </p:sp>
        <p:sp>
          <p:nvSpPr>
            <p:cNvPr id="8" name="TextBox 8"/>
            <p:cNvSpPr txBox="1"/>
            <p:nvPr/>
          </p:nvSpPr>
          <p:spPr>
            <a:xfrm>
              <a:off x="10818198" y="457200"/>
              <a:ext cx="807065" cy="176212"/>
            </a:xfrm>
            <a:prstGeom prst="rect">
              <a:avLst/>
            </a:prstGeom>
            <a:noFill/>
            <a:ln>
              <a:noFill/>
            </a:ln>
          </p:spPr>
          <p:txBody>
            <a:bodyPr wrap="none" lIns="0" tIns="0" rIns="0" bIns="0" anchor="t" anchorCtr="0">
              <a:spAutoFit/>
            </a:bodyPr>
            <a:lstStyle/>
            <a:p>
              <a:pPr algn="r"/>
              <a:r>
                <a:rPr lang="en-US" sz="900" b="1" dirty="0">
                  <a:solidFill>
                    <a:srgbClr val="64748B"/>
                  </a:solidFill>
                  <a:latin typeface="+mn-lt"/>
                  <a:ea typeface="+mn-ea"/>
                  <a:cs typeface="+mn-cs"/>
                </a:rPr>
                <a:t>SLIDE 01 / 07</a:t>
              </a:r>
            </a:p>
          </p:txBody>
        </p:sp>
      </p:grpSp>
      <p:grpSp>
        <p:nvGrpSpPr>
          <p:cNvPr id="13" name="hero-title"/>
          <p:cNvGrpSpPr/>
          <p:nvPr/>
        </p:nvGrpSpPr>
        <p:grpSpPr>
          <a:xfrm>
            <a:off x="557784" y="1022350"/>
            <a:ext cx="7014680" cy="1248728"/>
            <a:chOff x="557784" y="1022350"/>
            <a:chExt cx="7014680" cy="1248728"/>
          </a:xfrm>
        </p:grpSpPr>
        <p:sp>
          <p:nvSpPr>
            <p:cNvPr id="10" name="TextBox 10"/>
            <p:cNvSpPr txBox="1"/>
            <p:nvPr/>
          </p:nvSpPr>
          <p:spPr>
            <a:xfrm>
              <a:off x="557784" y="1022350"/>
              <a:ext cx="5280685" cy="528066"/>
            </a:xfrm>
            <a:prstGeom prst="rect">
              <a:avLst/>
            </a:prstGeom>
            <a:noFill/>
            <a:ln>
              <a:noFill/>
            </a:ln>
          </p:spPr>
          <p:txBody>
            <a:bodyPr wrap="none" lIns="0" tIns="0" rIns="0" bIns="0" anchor="t" anchorCtr="0">
              <a:spAutoFit/>
            </a:bodyPr>
            <a:lstStyle/>
            <a:p>
              <a:pPr algn="l"/>
              <a:r>
                <a:rPr lang="en-US" sz="2700" b="1" spc="-38" dirty="0">
                  <a:solidFill>
                    <a:schemeClr val="dk1"/>
                  </a:solidFill>
                  <a:latin typeface="+mn-lt"/>
                  <a:ea typeface="+mn-ea"/>
                  <a:cs typeface="+mn-cs"/>
                </a:rPr>
                <a:t>AI/NLP Financial Risk Engine &amp;</a:t>
              </a:r>
            </a:p>
          </p:txBody>
        </p:sp>
        <p:sp>
          <p:nvSpPr>
            <p:cNvPr id="11" name="TextBox 11"/>
            <p:cNvSpPr txBox="1"/>
            <p:nvPr/>
          </p:nvSpPr>
          <p:spPr>
            <a:xfrm>
              <a:off x="557784" y="1479550"/>
              <a:ext cx="5512939" cy="528066"/>
            </a:xfrm>
            <a:prstGeom prst="rect">
              <a:avLst/>
            </a:prstGeom>
            <a:noFill/>
            <a:ln>
              <a:noFill/>
            </a:ln>
          </p:spPr>
          <p:txBody>
            <a:bodyPr wrap="none" lIns="0" tIns="0" rIns="0" bIns="0" anchor="t" anchorCtr="0">
              <a:spAutoFit/>
            </a:bodyPr>
            <a:lstStyle/>
            <a:p>
              <a:pPr algn="l"/>
              <a:r>
                <a:rPr lang="en-US" sz="2700" b="1" spc="-38" dirty="0">
                  <a:gradFill>
                    <a:gsLst>
                      <a:gs pos="0">
                        <a:schemeClr val="accent1"/>
                      </a:gs>
                      <a:gs pos="100000">
                        <a:srgbClr val="2563EB"/>
                      </a:gs>
                    </a:gsLst>
                    <a:lin ang="0" scaled="1"/>
                  </a:gradFill>
                  <a:latin typeface="+mn-lt"/>
                  <a:ea typeface="+mn-ea"/>
                  <a:cs typeface="+mn-cs"/>
                </a:rPr>
                <a:t>Strategic Portfolio Stress Testing</a:t>
              </a:r>
            </a:p>
          </p:txBody>
        </p:sp>
        <p:sp>
          <p:nvSpPr>
            <p:cNvPr id="12" name="TextBox 12"/>
            <p:cNvSpPr txBox="1"/>
            <p:nvPr/>
          </p:nvSpPr>
          <p:spPr>
            <a:xfrm>
              <a:off x="565785" y="2051050"/>
              <a:ext cx="7006679" cy="220028"/>
            </a:xfrm>
            <a:prstGeom prst="rect">
              <a:avLst/>
            </a:prstGeom>
            <a:noFill/>
            <a:ln>
              <a:noFill/>
            </a:ln>
          </p:spPr>
          <p:txBody>
            <a:bodyPr wrap="none" lIns="0" tIns="0" rIns="0" bIns="0" anchor="t" anchorCtr="0">
              <a:spAutoFit/>
            </a:bodyPr>
            <a:lstStyle/>
            <a:p>
              <a:pPr algn="l"/>
              <a:r>
                <a:rPr lang="en-US" sz="1120" dirty="0">
                  <a:solidFill>
                    <a:schemeClr val="accent5"/>
                  </a:solidFill>
                  <a:latin typeface="+mn-lt"/>
                  <a:ea typeface="+mn-ea"/>
                  <a:cs typeface="+mn-cs"/>
                </a:rPr>
                <a:t>Real-Time Sentiment Ingestion, Event Taxonomy Classification &amp; Quantitative Multi-Asset Capital Shocks</a:t>
              </a:r>
            </a:p>
          </p:txBody>
        </p:sp>
      </p:grpSp>
      <p:grpSp>
        <p:nvGrpSpPr>
          <p:cNvPr id="35" name="candidate-card"/>
          <p:cNvGrpSpPr/>
          <p:nvPr/>
        </p:nvGrpSpPr>
        <p:grpSpPr>
          <a:xfrm>
            <a:off x="571500" y="2619375"/>
            <a:ext cx="4286250" cy="3476625"/>
            <a:chOff x="571500" y="2619375"/>
            <a:chExt cx="4286250" cy="3476625"/>
          </a:xfrm>
        </p:grpSpPr>
        <p:sp>
          <p:nvSpPr>
            <p:cNvPr id="14" name="Rectangle 14"/>
            <p:cNvSpPr/>
            <p:nvPr/>
          </p:nvSpPr>
          <p:spPr>
            <a:xfrm>
              <a:off x="571500" y="2619375"/>
              <a:ext cx="4286250" cy="3476625"/>
            </a:xfrm>
            <a:prstGeom prst="roundRect">
              <a:avLst>
                <a:gd name="adj" fmla="val 2740"/>
              </a:avLst>
            </a:prstGeom>
            <a:solidFill>
              <a:srgbClr val="FFFFFF"/>
            </a:solidFill>
            <a:ln w="9525">
              <a:solidFill>
                <a:schemeClr val="accent6"/>
              </a:solidFill>
            </a:ln>
          </p:spPr>
        </p:sp>
        <p:sp>
          <p:nvSpPr>
            <p:cNvPr id="15" name="Freeform 15"/>
            <p:cNvSpPr/>
            <p:nvPr/>
          </p:nvSpPr>
          <p:spPr>
            <a:xfrm>
              <a:off x="571500" y="2619375"/>
              <a:ext cx="4286250" cy="428625"/>
            </a:xfrm>
            <a:custGeom>
              <a:avLst/>
              <a:gdLst/>
              <a:ahLst/>
              <a:cxnLst/>
              <a:rect l="l" t="t" r="r" b="b"/>
              <a:pathLst>
                <a:path w="4286250" h="428625">
                  <a:moveTo>
                    <a:pt x="0" y="95250"/>
                  </a:moveTo>
                  <a:cubicBezTo>
                    <a:pt x="0" y="31750"/>
                    <a:pt x="31750" y="0"/>
                    <a:pt x="95250" y="0"/>
                  </a:cubicBezTo>
                  <a:lnTo>
                    <a:pt x="4191000" y="0"/>
                  </a:lnTo>
                  <a:cubicBezTo>
                    <a:pt x="4254500" y="0"/>
                    <a:pt x="4286250" y="31750"/>
                    <a:pt x="4286250" y="95250"/>
                  </a:cubicBezTo>
                  <a:lnTo>
                    <a:pt x="4286250" y="428625"/>
                  </a:lnTo>
                  <a:lnTo>
                    <a:pt x="0" y="428625"/>
                  </a:lnTo>
                  <a:close/>
                </a:path>
              </a:pathLst>
            </a:custGeom>
            <a:solidFill>
              <a:srgbClr val="F1F5F9"/>
            </a:solidFill>
            <a:ln>
              <a:noFill/>
            </a:ln>
          </p:spPr>
        </p:sp>
        <p:sp>
          <p:nvSpPr>
            <p:cNvPr id="16" name="TextBox 16"/>
            <p:cNvSpPr txBox="1"/>
            <p:nvPr/>
          </p:nvSpPr>
          <p:spPr>
            <a:xfrm>
              <a:off x="795338" y="2781300"/>
              <a:ext cx="2936626" cy="176212"/>
            </a:xfrm>
            <a:prstGeom prst="rect">
              <a:avLst/>
            </a:prstGeom>
            <a:noFill/>
            <a:ln>
              <a:noFill/>
            </a:ln>
          </p:spPr>
          <p:txBody>
            <a:bodyPr wrap="none" lIns="0" tIns="0" rIns="0" bIns="0" anchor="t" anchorCtr="0">
              <a:spAutoFit/>
            </a:bodyPr>
            <a:lstStyle/>
            <a:p>
              <a:pPr algn="l"/>
              <a:r>
                <a:rPr lang="en-US" sz="900" b="1" spc="112" dirty="0">
                  <a:solidFill>
                    <a:schemeClr val="accent1"/>
                  </a:solidFill>
                  <a:latin typeface="+mn-lt"/>
                  <a:ea typeface="+mn-ea"/>
                  <a:cs typeface="+mn-cs"/>
                </a:rPr>
                <a:t>CANDIDATE &amp; PROJECT SPECIFICATION</a:t>
              </a:r>
            </a:p>
          </p:txBody>
        </p:sp>
        <p:sp>
          <p:nvSpPr>
            <p:cNvPr id="17" name="TextBox 17"/>
            <p:cNvSpPr txBox="1"/>
            <p:nvPr/>
          </p:nvSpPr>
          <p:spPr>
            <a:xfrm>
              <a:off x="795338" y="3251200"/>
              <a:ext cx="1780736" cy="161925"/>
            </a:xfrm>
            <a:prstGeom prst="rect">
              <a:avLst/>
            </a:prstGeom>
            <a:noFill/>
            <a:ln>
              <a:noFill/>
            </a:ln>
          </p:spPr>
          <p:txBody>
            <a:bodyPr wrap="none" lIns="0" tIns="0" rIns="0" bIns="0" anchor="t" anchorCtr="0">
              <a:spAutoFit/>
            </a:bodyPr>
            <a:lstStyle/>
            <a:p>
              <a:pPr algn="l"/>
              <a:r>
                <a:rPr lang="en-US" sz="820" b="1" spc="75" dirty="0">
                  <a:solidFill>
                    <a:srgbClr val="64748B"/>
                  </a:solidFill>
                  <a:latin typeface="+mn-lt"/>
                  <a:ea typeface="+mn-ea"/>
                  <a:cs typeface="+mn-cs"/>
                </a:rPr>
                <a:t>CANDIDATE &amp; AFFILIATION</a:t>
              </a:r>
            </a:p>
          </p:txBody>
        </p:sp>
        <p:sp>
          <p:nvSpPr>
            <p:cNvPr id="18" name="TextBox 18"/>
            <p:cNvSpPr txBox="1"/>
            <p:nvPr/>
          </p:nvSpPr>
          <p:spPr>
            <a:xfrm>
              <a:off x="790956" y="3409950"/>
              <a:ext cx="2201678" cy="352044"/>
            </a:xfrm>
            <a:prstGeom prst="rect">
              <a:avLst/>
            </a:prstGeom>
            <a:noFill/>
            <a:ln>
              <a:noFill/>
            </a:ln>
          </p:spPr>
          <p:txBody>
            <a:bodyPr wrap="none" lIns="0" tIns="0" rIns="0" bIns="0" anchor="t" anchorCtr="0">
              <a:spAutoFit/>
            </a:bodyPr>
            <a:lstStyle/>
            <a:p>
              <a:pPr algn="l"/>
              <a:r>
                <a:rPr lang="en-US" sz="1800" b="1" dirty="0">
                  <a:solidFill>
                    <a:schemeClr val="dk1"/>
                  </a:solidFill>
                  <a:latin typeface="+mn-lt"/>
                  <a:ea typeface="+mn-ea"/>
                  <a:cs typeface="+mn-cs"/>
                </a:rPr>
                <a:t>Mritunjay Senapati</a:t>
              </a:r>
            </a:p>
          </p:txBody>
        </p:sp>
        <p:sp>
          <p:nvSpPr>
            <p:cNvPr id="19" name="TextBox 19"/>
            <p:cNvSpPr txBox="1"/>
            <p:nvPr/>
          </p:nvSpPr>
          <p:spPr>
            <a:xfrm>
              <a:off x="795147" y="3721100"/>
              <a:ext cx="2376796" cy="191643"/>
            </a:xfrm>
            <a:prstGeom prst="rect">
              <a:avLst/>
            </a:prstGeom>
            <a:noFill/>
            <a:ln>
              <a:noFill/>
            </a:ln>
          </p:spPr>
          <p:txBody>
            <a:bodyPr wrap="none" lIns="0" tIns="0" rIns="0" bIns="0" anchor="t" anchorCtr="0">
              <a:spAutoFit/>
            </a:bodyPr>
            <a:lstStyle/>
            <a:p>
              <a:pPr algn="l"/>
              <a:r>
                <a:rPr lang="en-US" sz="980" b="1" dirty="0">
                  <a:solidFill>
                    <a:srgbClr val="2563EB"/>
                  </a:solidFill>
                  <a:latin typeface="+mn-lt"/>
                  <a:ea typeface="+mn-ea"/>
                  <a:cs typeface="+mn-cs"/>
                </a:rPr>
                <a:t>Single Contributor | IIIT Bhubaneswar</a:t>
              </a:r>
            </a:p>
          </p:txBody>
        </p:sp>
        <p:sp>
          <p:nvSpPr>
            <p:cNvPr id="20" name="TextBox 20"/>
            <p:cNvSpPr txBox="1"/>
            <p:nvPr/>
          </p:nvSpPr>
          <p:spPr>
            <a:xfrm>
              <a:off x="795338" y="4070350"/>
              <a:ext cx="1212998" cy="161925"/>
            </a:xfrm>
            <a:prstGeom prst="rect">
              <a:avLst/>
            </a:prstGeom>
            <a:noFill/>
            <a:ln>
              <a:noFill/>
            </a:ln>
          </p:spPr>
          <p:txBody>
            <a:bodyPr wrap="none" lIns="0" tIns="0" rIns="0" bIns="0" anchor="t" anchorCtr="0">
              <a:spAutoFit/>
            </a:bodyPr>
            <a:lstStyle/>
            <a:p>
              <a:pPr algn="l"/>
              <a:r>
                <a:rPr lang="en-US" sz="820" b="1" spc="75" dirty="0">
                  <a:solidFill>
                    <a:srgbClr val="64748B"/>
                  </a:solidFill>
                  <a:latin typeface="+mn-lt"/>
                  <a:ea typeface="+mn-ea"/>
                  <a:cs typeface="+mn-cs"/>
                </a:rPr>
                <a:t>CAMPUS CONTACT</a:t>
              </a:r>
            </a:p>
          </p:txBody>
        </p:sp>
        <p:sp>
          <p:nvSpPr>
            <p:cNvPr id="21" name="TextBox 21"/>
            <p:cNvSpPr txBox="1"/>
            <p:nvPr/>
          </p:nvSpPr>
          <p:spPr>
            <a:xfrm>
              <a:off x="794766" y="4273550"/>
              <a:ext cx="1643272" cy="205359"/>
            </a:xfrm>
            <a:prstGeom prst="rect">
              <a:avLst/>
            </a:prstGeom>
            <a:noFill/>
            <a:ln>
              <a:noFill/>
            </a:ln>
          </p:spPr>
          <p:txBody>
            <a:bodyPr wrap="none" lIns="0" tIns="0" rIns="0" bIns="0" anchor="t" anchorCtr="0">
              <a:spAutoFit/>
            </a:bodyPr>
            <a:lstStyle/>
            <a:p>
              <a:pPr algn="l"/>
              <a:r>
                <a:rPr lang="en-US" sz="1050" b="1" dirty="0">
                  <a:solidFill>
                    <a:srgbClr val="1D4ED8"/>
                  </a:solidFill>
                  <a:latin typeface="Consolas"/>
                  <a:ea typeface="Consolas"/>
                  <a:cs typeface="Consolas"/>
                </a:rPr>
                <a:t>b224030@iiit-bh.ac.in</a:t>
              </a:r>
            </a:p>
          </p:txBody>
        </p:sp>
        <p:sp>
          <p:nvSpPr>
            <p:cNvPr id="22" name="Line 22"/>
            <p:cNvSpPr/>
            <p:nvPr/>
          </p:nvSpPr>
          <p:spPr>
            <a:xfrm>
              <a:off x="800100" y="4629150"/>
              <a:ext cx="3829050" cy="9525"/>
            </a:xfrm>
            <a:custGeom>
              <a:avLst/>
              <a:gdLst/>
              <a:ahLst/>
              <a:cxnLst/>
              <a:rect l="l" t="t" r="r" b="b"/>
              <a:pathLst>
                <a:path w="3829050" h="9525">
                  <a:moveTo>
                    <a:pt x="0" y="0"/>
                  </a:moveTo>
                  <a:lnTo>
                    <a:pt x="3829050" y="0"/>
                  </a:lnTo>
                </a:path>
              </a:pathLst>
            </a:custGeom>
            <a:noFill/>
            <a:ln w="9525">
              <a:solidFill>
                <a:srgbClr val="E2E8F0"/>
              </a:solidFill>
            </a:ln>
          </p:spPr>
        </p:sp>
        <p:sp>
          <p:nvSpPr>
            <p:cNvPr id="23" name="Rectangle 23"/>
            <p:cNvSpPr/>
            <p:nvPr/>
          </p:nvSpPr>
          <p:spPr>
            <a:xfrm>
              <a:off x="800100" y="4781550"/>
              <a:ext cx="1857375" cy="533400"/>
            </a:xfrm>
            <a:prstGeom prst="roundRect">
              <a:avLst>
                <a:gd name="adj" fmla="val 14286"/>
              </a:avLst>
            </a:prstGeom>
            <a:solidFill>
              <a:schemeClr val="lt1"/>
            </a:solidFill>
            <a:ln w="9525">
              <a:solidFill>
                <a:srgbClr val="E2E8F0"/>
              </a:solidFill>
            </a:ln>
          </p:spPr>
        </p:sp>
        <p:sp>
          <p:nvSpPr>
            <p:cNvPr id="24" name="TextBox 24"/>
            <p:cNvSpPr txBox="1"/>
            <p:nvPr/>
          </p:nvSpPr>
          <p:spPr>
            <a:xfrm>
              <a:off x="928688" y="4883150"/>
              <a:ext cx="1122773" cy="147638"/>
            </a:xfrm>
            <a:prstGeom prst="rect">
              <a:avLst/>
            </a:prstGeom>
            <a:noFill/>
            <a:ln>
              <a:noFill/>
            </a:ln>
          </p:spPr>
          <p:txBody>
            <a:bodyPr wrap="none" lIns="0" tIns="0" rIns="0" bIns="0" anchor="t" anchorCtr="0">
              <a:spAutoFit/>
            </a:bodyPr>
            <a:lstStyle/>
            <a:p>
              <a:pPr algn="l"/>
              <a:r>
                <a:rPr lang="en-US" sz="750" b="1" spc="38" dirty="0">
                  <a:solidFill>
                    <a:srgbClr val="64748B"/>
                  </a:solidFill>
                  <a:latin typeface="+mn-lt"/>
                  <a:ea typeface="+mn-ea"/>
                  <a:cs typeface="+mn-cs"/>
                </a:rPr>
                <a:t>SUBMISSION TRACK</a:t>
              </a:r>
            </a:p>
          </p:txBody>
        </p:sp>
        <p:sp>
          <p:nvSpPr>
            <p:cNvPr id="25" name="TextBox 25"/>
            <p:cNvSpPr txBox="1"/>
            <p:nvPr/>
          </p:nvSpPr>
          <p:spPr>
            <a:xfrm>
              <a:off x="928497" y="5054600"/>
              <a:ext cx="1520108" cy="191643"/>
            </a:xfrm>
            <a:prstGeom prst="rect">
              <a:avLst/>
            </a:prstGeom>
            <a:noFill/>
            <a:ln>
              <a:noFill/>
            </a:ln>
          </p:spPr>
          <p:txBody>
            <a:bodyPr wrap="none" lIns="0" tIns="0" rIns="0" bIns="0" anchor="t" anchorCtr="0">
              <a:spAutoFit/>
            </a:bodyPr>
            <a:lstStyle/>
            <a:p>
              <a:pPr algn="l"/>
              <a:r>
                <a:rPr lang="en-US" sz="980" b="1" dirty="0">
                  <a:solidFill>
                    <a:schemeClr val="accent1"/>
                  </a:solidFill>
                  <a:latin typeface="+mn-lt"/>
                  <a:ea typeface="+mn-ea"/>
                  <a:cs typeface="+mn-cs"/>
                </a:rPr>
                <a:t>Module B: Stress Engine</a:t>
              </a:r>
            </a:p>
          </p:txBody>
        </p:sp>
        <p:sp>
          <p:nvSpPr>
            <p:cNvPr id="26" name="Rectangle 26"/>
            <p:cNvSpPr/>
            <p:nvPr/>
          </p:nvSpPr>
          <p:spPr>
            <a:xfrm>
              <a:off x="2771775" y="4781550"/>
              <a:ext cx="1857375" cy="533400"/>
            </a:xfrm>
            <a:prstGeom prst="roundRect">
              <a:avLst>
                <a:gd name="adj" fmla="val 14286"/>
              </a:avLst>
            </a:prstGeom>
            <a:solidFill>
              <a:schemeClr val="lt1"/>
            </a:solidFill>
            <a:ln w="9525">
              <a:solidFill>
                <a:srgbClr val="E2E8F0"/>
              </a:solidFill>
            </a:ln>
          </p:spPr>
        </p:sp>
        <p:sp>
          <p:nvSpPr>
            <p:cNvPr id="27" name="TextBox 27"/>
            <p:cNvSpPr txBox="1"/>
            <p:nvPr/>
          </p:nvSpPr>
          <p:spPr>
            <a:xfrm>
              <a:off x="2900362" y="4883150"/>
              <a:ext cx="1028376" cy="147638"/>
            </a:xfrm>
            <a:prstGeom prst="rect">
              <a:avLst/>
            </a:prstGeom>
            <a:noFill/>
            <a:ln>
              <a:noFill/>
            </a:ln>
          </p:spPr>
          <p:txBody>
            <a:bodyPr wrap="none" lIns="0" tIns="0" rIns="0" bIns="0" anchor="t" anchorCtr="0">
              <a:spAutoFit/>
            </a:bodyPr>
            <a:lstStyle/>
            <a:p>
              <a:pPr algn="l"/>
              <a:r>
                <a:rPr lang="en-US" sz="750" b="1" spc="38" dirty="0">
                  <a:solidFill>
                    <a:srgbClr val="64748B"/>
                  </a:solidFill>
                  <a:latin typeface="+mn-lt"/>
                  <a:ea typeface="+mn-ea"/>
                  <a:cs typeface="+mn-cs"/>
                </a:rPr>
                <a:t>PORTFOLIO SCOPE</a:t>
              </a:r>
            </a:p>
          </p:txBody>
        </p:sp>
        <p:sp>
          <p:nvSpPr>
            <p:cNvPr id="28" name="TextBox 28"/>
            <p:cNvSpPr txBox="1"/>
            <p:nvPr/>
          </p:nvSpPr>
          <p:spPr>
            <a:xfrm>
              <a:off x="2900172" y="5054600"/>
              <a:ext cx="1211659" cy="191643"/>
            </a:xfrm>
            <a:prstGeom prst="rect">
              <a:avLst/>
            </a:prstGeom>
            <a:noFill/>
            <a:ln>
              <a:noFill/>
            </a:ln>
          </p:spPr>
          <p:txBody>
            <a:bodyPr wrap="none" lIns="0" tIns="0" rIns="0" bIns="0" anchor="t" anchorCtr="0">
              <a:spAutoFit/>
            </a:bodyPr>
            <a:lstStyle/>
            <a:p>
              <a:pPr algn="l"/>
              <a:r>
                <a:rPr lang="en-US" sz="980" b="1" dirty="0">
                  <a:solidFill>
                    <a:srgbClr val="047857"/>
                  </a:solidFill>
                  <a:latin typeface="+mn-lt"/>
                  <a:ea typeface="+mn-ea"/>
                  <a:cs typeface="+mn-cs"/>
                </a:rPr>
                <a:t>$585M Multi-Asset</a:t>
              </a:r>
            </a:p>
          </p:txBody>
        </p:sp>
        <p:sp>
          <p:nvSpPr>
            <p:cNvPr id="29" name="Rectangle 29"/>
            <p:cNvSpPr/>
            <p:nvPr/>
          </p:nvSpPr>
          <p:spPr>
            <a:xfrm>
              <a:off x="800100" y="5410200"/>
              <a:ext cx="1857375" cy="533400"/>
            </a:xfrm>
            <a:prstGeom prst="roundRect">
              <a:avLst>
                <a:gd name="adj" fmla="val 14286"/>
              </a:avLst>
            </a:prstGeom>
            <a:solidFill>
              <a:schemeClr val="lt1"/>
            </a:solidFill>
            <a:ln w="9525">
              <a:solidFill>
                <a:srgbClr val="E2E8F0"/>
              </a:solidFill>
            </a:ln>
          </p:spPr>
        </p:sp>
        <p:sp>
          <p:nvSpPr>
            <p:cNvPr id="30" name="TextBox 30"/>
            <p:cNvSpPr txBox="1"/>
            <p:nvPr/>
          </p:nvSpPr>
          <p:spPr>
            <a:xfrm>
              <a:off x="928688" y="5511800"/>
              <a:ext cx="1158134" cy="147638"/>
            </a:xfrm>
            <a:prstGeom prst="rect">
              <a:avLst/>
            </a:prstGeom>
            <a:noFill/>
            <a:ln>
              <a:noFill/>
            </a:ln>
          </p:spPr>
          <p:txBody>
            <a:bodyPr wrap="none" lIns="0" tIns="0" rIns="0" bIns="0" anchor="t" anchorCtr="0">
              <a:spAutoFit/>
            </a:bodyPr>
            <a:lstStyle/>
            <a:p>
              <a:pPr algn="l"/>
              <a:r>
                <a:rPr lang="en-US" sz="750" b="1" spc="38" dirty="0">
                  <a:solidFill>
                    <a:srgbClr val="64748B"/>
                  </a:solidFill>
                  <a:latin typeface="+mn-lt"/>
                  <a:ea typeface="+mn-ea"/>
                  <a:cs typeface="+mn-cs"/>
                </a:rPr>
                <a:t>EXECUTION TRIGGER</a:t>
              </a:r>
            </a:p>
          </p:txBody>
        </p:sp>
        <p:sp>
          <p:nvSpPr>
            <p:cNvPr id="31" name="TextBox 31"/>
            <p:cNvSpPr txBox="1"/>
            <p:nvPr/>
          </p:nvSpPr>
          <p:spPr>
            <a:xfrm>
              <a:off x="928497" y="5683250"/>
              <a:ext cx="1298119" cy="191643"/>
            </a:xfrm>
            <a:prstGeom prst="rect">
              <a:avLst/>
            </a:prstGeom>
            <a:noFill/>
            <a:ln>
              <a:noFill/>
            </a:ln>
          </p:spPr>
          <p:txBody>
            <a:bodyPr wrap="none" lIns="0" tIns="0" rIns="0" bIns="0" anchor="t" anchorCtr="0">
              <a:spAutoFit/>
            </a:bodyPr>
            <a:lstStyle/>
            <a:p>
              <a:pPr algn="l"/>
              <a:r>
                <a:rPr lang="en-US" sz="980" b="1" dirty="0">
                  <a:solidFill>
                    <a:srgbClr val="B45309"/>
                  </a:solidFill>
                  <a:latin typeface="+mn-lt"/>
                  <a:ea typeface="+mn-ea"/>
                  <a:cs typeface="+mn-cs"/>
                </a:rPr>
                <a:t>Rule A1 (Impact ≥ 7)</a:t>
              </a:r>
            </a:p>
          </p:txBody>
        </p:sp>
        <p:sp>
          <p:nvSpPr>
            <p:cNvPr id="32" name="Rectangle 32"/>
            <p:cNvSpPr/>
            <p:nvPr/>
          </p:nvSpPr>
          <p:spPr>
            <a:xfrm>
              <a:off x="2771775" y="5410200"/>
              <a:ext cx="1857375" cy="533400"/>
            </a:xfrm>
            <a:prstGeom prst="roundRect">
              <a:avLst>
                <a:gd name="adj" fmla="val 14286"/>
              </a:avLst>
            </a:prstGeom>
            <a:solidFill>
              <a:schemeClr val="lt1"/>
            </a:solidFill>
            <a:ln w="9525">
              <a:solidFill>
                <a:srgbClr val="E2E8F0"/>
              </a:solidFill>
            </a:ln>
          </p:spPr>
        </p:sp>
        <p:sp>
          <p:nvSpPr>
            <p:cNvPr id="33" name="TextBox 33"/>
            <p:cNvSpPr txBox="1"/>
            <p:nvPr/>
          </p:nvSpPr>
          <p:spPr>
            <a:xfrm>
              <a:off x="2900362" y="5511800"/>
              <a:ext cx="1035488" cy="147638"/>
            </a:xfrm>
            <a:prstGeom prst="rect">
              <a:avLst/>
            </a:prstGeom>
            <a:noFill/>
            <a:ln>
              <a:noFill/>
            </a:ln>
          </p:spPr>
          <p:txBody>
            <a:bodyPr wrap="none" lIns="0" tIns="0" rIns="0" bIns="0" anchor="t" anchorCtr="0">
              <a:spAutoFit/>
            </a:bodyPr>
            <a:lstStyle/>
            <a:p>
              <a:pPr algn="l"/>
              <a:r>
                <a:rPr lang="en-US" sz="750" b="1" spc="38" dirty="0">
                  <a:solidFill>
                    <a:srgbClr val="64748B"/>
                  </a:solidFill>
                  <a:latin typeface="+mn-lt"/>
                  <a:ea typeface="+mn-ea"/>
                  <a:cs typeface="+mn-cs"/>
                </a:rPr>
                <a:t>PIPELINE LATENCY</a:t>
              </a:r>
            </a:p>
          </p:txBody>
        </p:sp>
        <p:sp>
          <p:nvSpPr>
            <p:cNvPr id="34" name="TextBox 34"/>
            <p:cNvSpPr txBox="1"/>
            <p:nvPr/>
          </p:nvSpPr>
          <p:spPr>
            <a:xfrm>
              <a:off x="2900172" y="5683250"/>
              <a:ext cx="1295816" cy="191643"/>
            </a:xfrm>
            <a:prstGeom prst="rect">
              <a:avLst/>
            </a:prstGeom>
            <a:noFill/>
            <a:ln>
              <a:noFill/>
            </a:ln>
          </p:spPr>
          <p:txBody>
            <a:bodyPr wrap="none" lIns="0" tIns="0" rIns="0" bIns="0" anchor="t" anchorCtr="0">
              <a:spAutoFit/>
            </a:bodyPr>
            <a:lstStyle/>
            <a:p>
              <a:pPr algn="l"/>
              <a:r>
                <a:rPr lang="en-US" sz="980" b="1" dirty="0">
                  <a:solidFill>
                    <a:srgbClr val="4338CA"/>
                  </a:solidFill>
                  <a:latin typeface="+mn-lt"/>
                  <a:ea typeface="+mn-ea"/>
                  <a:cs typeface="+mn-cs"/>
                </a:rPr>
                <a:t>&lt; 75 ms Sub-Second</a:t>
              </a:r>
            </a:p>
          </p:txBody>
        </p:sp>
      </p:grpSp>
      <p:grpSp>
        <p:nvGrpSpPr>
          <p:cNvPr id="72" name="highlights-grid"/>
          <p:cNvGrpSpPr/>
          <p:nvPr/>
        </p:nvGrpSpPr>
        <p:grpSpPr>
          <a:xfrm>
            <a:off x="5095875" y="2619375"/>
            <a:ext cx="6524625" cy="3476625"/>
            <a:chOff x="5095875" y="2619375"/>
            <a:chExt cx="6524625" cy="3476625"/>
          </a:xfrm>
        </p:grpSpPr>
        <p:sp>
          <p:nvSpPr>
            <p:cNvPr id="36" name="Rectangle 36"/>
            <p:cNvSpPr/>
            <p:nvPr/>
          </p:nvSpPr>
          <p:spPr>
            <a:xfrm>
              <a:off x="5095875" y="2619375"/>
              <a:ext cx="3143250" cy="1638300"/>
            </a:xfrm>
            <a:prstGeom prst="roundRect">
              <a:avLst>
                <a:gd name="adj" fmla="val 5814"/>
              </a:avLst>
            </a:prstGeom>
            <a:solidFill>
              <a:srgbClr val="FFFFFF"/>
            </a:solidFill>
            <a:ln w="9525">
              <a:solidFill>
                <a:schemeClr val="accent6"/>
              </a:solidFill>
            </a:ln>
          </p:spPr>
        </p:sp>
        <p:sp>
          <p:nvSpPr>
            <p:cNvPr id="37" name="Rectangle 37"/>
            <p:cNvSpPr/>
            <p:nvPr/>
          </p:nvSpPr>
          <p:spPr>
            <a:xfrm>
              <a:off x="5248275" y="2771775"/>
              <a:ext cx="323850" cy="323850"/>
            </a:xfrm>
            <a:prstGeom prst="roundRect">
              <a:avLst>
                <a:gd name="adj" fmla="val 17647"/>
              </a:avLst>
            </a:prstGeom>
            <a:solidFill>
              <a:srgbClr val="EFF6FF"/>
            </a:solidFill>
            <a:ln w="9525">
              <a:solidFill>
                <a:srgbClr val="93C5FD"/>
              </a:solidFill>
            </a:ln>
          </p:spPr>
        </p:sp>
        <p:sp>
          <p:nvSpPr>
            <p:cNvPr id="38" name="TextBox 38"/>
            <p:cNvSpPr txBox="1"/>
            <p:nvPr/>
          </p:nvSpPr>
          <p:spPr>
            <a:xfrm>
              <a:off x="5280096" y="2841625"/>
              <a:ext cx="260208" cy="220028"/>
            </a:xfrm>
            <a:prstGeom prst="rect">
              <a:avLst/>
            </a:prstGeom>
            <a:noFill/>
            <a:ln>
              <a:noFill/>
            </a:ln>
          </p:spPr>
          <p:txBody>
            <a:bodyPr wrap="none" lIns="0" tIns="0" rIns="0" bIns="0" anchor="t" anchorCtr="0">
              <a:spAutoFit/>
            </a:bodyPr>
            <a:lstStyle/>
            <a:p>
              <a:pPr algn="ctr"/>
              <a:r>
                <a:rPr lang="en-US" sz="1120" b="1" dirty="0">
                  <a:solidFill>
                    <a:srgbClr val="1D4ED8"/>
                  </a:solidFill>
                  <a:latin typeface="Consolas"/>
                  <a:ea typeface="Consolas"/>
                  <a:cs typeface="Consolas"/>
                </a:rPr>
                <a:t>&lt;/&gt;</a:t>
              </a:r>
            </a:p>
          </p:txBody>
        </p:sp>
        <p:sp>
          <p:nvSpPr>
            <p:cNvPr id="39" name="TextBox 39"/>
            <p:cNvSpPr txBox="1"/>
            <p:nvPr/>
          </p:nvSpPr>
          <p:spPr>
            <a:xfrm>
              <a:off x="5681472" y="2797175"/>
              <a:ext cx="2020110" cy="191643"/>
            </a:xfrm>
            <a:prstGeom prst="rect">
              <a:avLst/>
            </a:prstGeom>
            <a:noFill/>
            <a:ln>
              <a:noFill/>
            </a:ln>
          </p:spPr>
          <p:txBody>
            <a:bodyPr wrap="none" lIns="0" tIns="0" rIns="0" bIns="0" anchor="t" anchorCtr="0">
              <a:spAutoFit/>
            </a:bodyPr>
            <a:lstStyle/>
            <a:p>
              <a:pPr algn="l"/>
              <a:r>
                <a:rPr lang="en-US" sz="980" b="1" dirty="0">
                  <a:solidFill>
                    <a:schemeClr val="dk1"/>
                  </a:solidFill>
                  <a:latin typeface="+mn-lt"/>
                  <a:ea typeface="+mn-ea"/>
                  <a:cs typeface="+mn-cs"/>
                </a:rPr>
                <a:t>DISTRIBUTED MICROSERVICES</a:t>
              </a:r>
            </a:p>
          </p:txBody>
        </p:sp>
        <p:sp>
          <p:nvSpPr>
            <p:cNvPr id="40" name="TextBox 40"/>
            <p:cNvSpPr txBox="1"/>
            <p:nvPr/>
          </p:nvSpPr>
          <p:spPr>
            <a:xfrm>
              <a:off x="5681662" y="2974975"/>
              <a:ext cx="1458367" cy="161925"/>
            </a:xfrm>
            <a:prstGeom prst="rect">
              <a:avLst/>
            </a:prstGeom>
            <a:noFill/>
            <a:ln>
              <a:noFill/>
            </a:ln>
          </p:spPr>
          <p:txBody>
            <a:bodyPr wrap="none" lIns="0" tIns="0" rIns="0" bIns="0" anchor="t" anchorCtr="0">
              <a:spAutoFit/>
            </a:bodyPr>
            <a:lstStyle/>
            <a:p>
              <a:pPr algn="l"/>
              <a:r>
                <a:rPr lang="en-US" sz="820" dirty="0">
                  <a:solidFill>
                    <a:srgbClr val="64748B"/>
                  </a:solidFill>
                  <a:latin typeface="+mn-lt"/>
                  <a:ea typeface="+mn-ea"/>
                  <a:cs typeface="+mn-cs"/>
                </a:rPr>
                <a:t>Containerized 4-Service Stack</a:t>
              </a:r>
            </a:p>
          </p:txBody>
        </p:sp>
        <p:sp>
          <p:nvSpPr>
            <p:cNvPr id="41" name="TextBox 41"/>
            <p:cNvSpPr txBox="1"/>
            <p:nvPr/>
          </p:nvSpPr>
          <p:spPr>
            <a:xfrm>
              <a:off x="5243512" y="3248025"/>
              <a:ext cx="2240239" cy="176212"/>
            </a:xfrm>
            <a:prstGeom prst="rect">
              <a:avLst/>
            </a:prstGeom>
            <a:noFill/>
            <a:ln>
              <a:noFill/>
            </a:ln>
          </p:spPr>
          <p:txBody>
            <a:bodyPr wrap="none" lIns="0" tIns="0" rIns="0" bIns="0" anchor="t" anchorCtr="0">
              <a:spAutoFit/>
            </a:bodyPr>
            <a:lstStyle/>
            <a:p>
              <a:pPr marL="77735" indent="-77735" algn="l">
                <a:buClr>
                  <a:srgbClr val="334155"/>
                </a:buClr>
                <a:buSzTx/>
                <a:buFontTx/>
                <a:buChar char="•"/>
              </a:pPr>
              <a:r>
                <a:rPr lang="en-US" sz="900" dirty="0">
                  <a:solidFill>
                    <a:srgbClr val="334155"/>
                  </a:solidFill>
                  <a:latin typeface="+mn-lt"/>
                  <a:ea typeface="+mn-ea"/>
                  <a:cs typeface="+mn-cs"/>
                </a:rPr>
                <a:t>Java 21 &amp; Spring Boot 3.3.4 (WebClient)</a:t>
              </a:r>
            </a:p>
          </p:txBody>
        </p:sp>
        <p:sp>
          <p:nvSpPr>
            <p:cNvPr id="42" name="TextBox 42"/>
            <p:cNvSpPr txBox="1"/>
            <p:nvPr/>
          </p:nvSpPr>
          <p:spPr>
            <a:xfrm>
              <a:off x="5243512" y="3457575"/>
              <a:ext cx="1965529" cy="176212"/>
            </a:xfrm>
            <a:prstGeom prst="rect">
              <a:avLst/>
            </a:prstGeom>
            <a:noFill/>
            <a:ln>
              <a:noFill/>
            </a:ln>
          </p:spPr>
          <p:txBody>
            <a:bodyPr wrap="none" lIns="0" tIns="0" rIns="0" bIns="0" anchor="t" anchorCtr="0">
              <a:spAutoFit/>
            </a:bodyPr>
            <a:lstStyle/>
            <a:p>
              <a:pPr marL="77735" indent="-77735" algn="l">
                <a:buClr>
                  <a:srgbClr val="334155"/>
                </a:buClr>
                <a:buSzTx/>
                <a:buFontTx/>
                <a:buChar char="•"/>
              </a:pPr>
              <a:r>
                <a:rPr lang="en-US" sz="900" dirty="0">
                  <a:solidFill>
                    <a:srgbClr val="334155"/>
                  </a:solidFill>
                  <a:latin typeface="+mn-lt"/>
                  <a:ea typeface="+mn-ea"/>
                  <a:cs typeface="+mn-cs"/>
                </a:rPr>
                <a:t>Python 3.11 FastAPI Engine (:8000)</a:t>
              </a:r>
            </a:p>
          </p:txBody>
        </p:sp>
        <p:sp>
          <p:nvSpPr>
            <p:cNvPr id="43" name="TextBox 43"/>
            <p:cNvSpPr txBox="1"/>
            <p:nvPr/>
          </p:nvSpPr>
          <p:spPr>
            <a:xfrm>
              <a:off x="5243512" y="3667125"/>
              <a:ext cx="2147173" cy="176212"/>
            </a:xfrm>
            <a:prstGeom prst="rect">
              <a:avLst/>
            </a:prstGeom>
            <a:noFill/>
            <a:ln>
              <a:noFill/>
            </a:ln>
          </p:spPr>
          <p:txBody>
            <a:bodyPr wrap="none" lIns="0" tIns="0" rIns="0" bIns="0" anchor="t" anchorCtr="0">
              <a:spAutoFit/>
            </a:bodyPr>
            <a:lstStyle/>
            <a:p>
              <a:pPr marL="77735" indent="-77735" algn="l">
                <a:buClr>
                  <a:srgbClr val="334155"/>
                </a:buClr>
                <a:buSzTx/>
                <a:buFontTx/>
                <a:buChar char="•"/>
              </a:pPr>
              <a:r>
                <a:rPr lang="en-US" sz="900" dirty="0">
                  <a:solidFill>
                    <a:srgbClr val="334155"/>
                  </a:solidFill>
                  <a:latin typeface="+mn-lt"/>
                  <a:ea typeface="+mn-ea"/>
                  <a:cs typeface="+mn-cs"/>
                </a:rPr>
                <a:t>PostgreSQL 16 Alpine Relational Store</a:t>
              </a:r>
            </a:p>
          </p:txBody>
        </p:sp>
        <p:sp>
          <p:nvSpPr>
            <p:cNvPr id="44" name="TextBox 44"/>
            <p:cNvSpPr txBox="1"/>
            <p:nvPr/>
          </p:nvSpPr>
          <p:spPr>
            <a:xfrm>
              <a:off x="5243512" y="3876675"/>
              <a:ext cx="1653979" cy="138499"/>
            </a:xfrm>
            <a:prstGeom prst="rect">
              <a:avLst/>
            </a:prstGeom>
            <a:noFill/>
            <a:ln>
              <a:noFill/>
            </a:ln>
          </p:spPr>
          <p:txBody>
            <a:bodyPr wrap="none" lIns="0" tIns="0" rIns="0" bIns="0" anchor="t" anchorCtr="0">
              <a:spAutoFit/>
            </a:bodyPr>
            <a:lstStyle/>
            <a:p>
              <a:pPr marL="77735" indent="-77735" algn="l">
                <a:buClr>
                  <a:srgbClr val="334155"/>
                </a:buClr>
                <a:buSzTx/>
                <a:buFontTx/>
                <a:buChar char="•"/>
              </a:pPr>
              <a:r>
                <a:rPr lang="en-US" sz="900" dirty="0">
                  <a:solidFill>
                    <a:srgbClr val="334155"/>
                  </a:solidFill>
                  <a:latin typeface="+mn-lt"/>
                  <a:ea typeface="+mn-ea"/>
                  <a:cs typeface="+mn-cs"/>
                </a:rPr>
                <a:t>React 19 + Vite 8 Interactive UI</a:t>
              </a:r>
            </a:p>
          </p:txBody>
        </p:sp>
        <p:sp>
          <p:nvSpPr>
            <p:cNvPr id="45" name="Rectangle 45"/>
            <p:cNvSpPr/>
            <p:nvPr/>
          </p:nvSpPr>
          <p:spPr>
            <a:xfrm>
              <a:off x="8477250" y="2619375"/>
              <a:ext cx="3143250" cy="1638300"/>
            </a:xfrm>
            <a:prstGeom prst="roundRect">
              <a:avLst>
                <a:gd name="adj" fmla="val 5814"/>
              </a:avLst>
            </a:prstGeom>
            <a:solidFill>
              <a:srgbClr val="FFFFFF"/>
            </a:solidFill>
            <a:ln w="9525">
              <a:solidFill>
                <a:schemeClr val="accent6"/>
              </a:solidFill>
            </a:ln>
          </p:spPr>
        </p:sp>
        <p:sp>
          <p:nvSpPr>
            <p:cNvPr id="46" name="Rectangle 46"/>
            <p:cNvSpPr/>
            <p:nvPr/>
          </p:nvSpPr>
          <p:spPr>
            <a:xfrm>
              <a:off x="8629650" y="2771775"/>
              <a:ext cx="323850" cy="323850"/>
            </a:xfrm>
            <a:prstGeom prst="roundRect">
              <a:avLst>
                <a:gd name="adj" fmla="val 17647"/>
              </a:avLst>
            </a:prstGeom>
            <a:solidFill>
              <a:srgbClr val="ECFDF5"/>
            </a:solidFill>
            <a:ln w="9525">
              <a:solidFill>
                <a:srgbClr val="A7F3D0"/>
              </a:solidFill>
            </a:ln>
          </p:spPr>
        </p:sp>
        <p:sp>
          <p:nvSpPr>
            <p:cNvPr id="47" name="TextBox 47"/>
            <p:cNvSpPr txBox="1"/>
            <p:nvPr/>
          </p:nvSpPr>
          <p:spPr>
            <a:xfrm>
              <a:off x="8653116" y="2854325"/>
              <a:ext cx="276918" cy="191643"/>
            </a:xfrm>
            <a:prstGeom prst="rect">
              <a:avLst/>
            </a:prstGeom>
            <a:noFill/>
            <a:ln>
              <a:noFill/>
            </a:ln>
          </p:spPr>
          <p:txBody>
            <a:bodyPr wrap="none" lIns="0" tIns="0" rIns="0" bIns="0" anchor="t" anchorCtr="0">
              <a:spAutoFit/>
            </a:bodyPr>
            <a:lstStyle/>
            <a:p>
              <a:pPr algn="ctr"/>
              <a:r>
                <a:rPr lang="en-US" sz="980" b="1" dirty="0">
                  <a:solidFill>
                    <a:srgbClr val="047857"/>
                  </a:solidFill>
                  <a:latin typeface="+mn-lt"/>
                  <a:ea typeface="+mn-ea"/>
                  <a:cs typeface="+mn-cs"/>
                </a:rPr>
                <a:t>NLP</a:t>
              </a:r>
            </a:p>
          </p:txBody>
        </p:sp>
        <p:sp>
          <p:nvSpPr>
            <p:cNvPr id="48" name="TextBox 48"/>
            <p:cNvSpPr txBox="1"/>
            <p:nvPr/>
          </p:nvSpPr>
          <p:spPr>
            <a:xfrm>
              <a:off x="9062847" y="2797175"/>
              <a:ext cx="1949381" cy="191643"/>
            </a:xfrm>
            <a:prstGeom prst="rect">
              <a:avLst/>
            </a:prstGeom>
            <a:noFill/>
            <a:ln>
              <a:noFill/>
            </a:ln>
          </p:spPr>
          <p:txBody>
            <a:bodyPr wrap="none" lIns="0" tIns="0" rIns="0" bIns="0" anchor="t" anchorCtr="0">
              <a:spAutoFit/>
            </a:bodyPr>
            <a:lstStyle/>
            <a:p>
              <a:pPr algn="l"/>
              <a:r>
                <a:rPr lang="en-US" sz="980" b="1" dirty="0">
                  <a:solidFill>
                    <a:schemeClr val="dk1"/>
                  </a:solidFill>
                  <a:latin typeface="+mn-lt"/>
                  <a:ea typeface="+mn-ea"/>
                  <a:cs typeface="+mn-cs"/>
                </a:rPr>
                <a:t>FINBERT SENTIMENT ENGINE</a:t>
              </a:r>
            </a:p>
          </p:txBody>
        </p:sp>
        <p:sp>
          <p:nvSpPr>
            <p:cNvPr id="49" name="TextBox 49"/>
            <p:cNvSpPr txBox="1"/>
            <p:nvPr/>
          </p:nvSpPr>
          <p:spPr>
            <a:xfrm>
              <a:off x="9063038" y="2974975"/>
              <a:ext cx="1378652" cy="161925"/>
            </a:xfrm>
            <a:prstGeom prst="rect">
              <a:avLst/>
            </a:prstGeom>
            <a:noFill/>
            <a:ln>
              <a:noFill/>
            </a:ln>
          </p:spPr>
          <p:txBody>
            <a:bodyPr wrap="none" lIns="0" tIns="0" rIns="0" bIns="0" anchor="t" anchorCtr="0">
              <a:spAutoFit/>
            </a:bodyPr>
            <a:lstStyle/>
            <a:p>
              <a:pPr algn="l"/>
              <a:r>
                <a:rPr lang="en-US" sz="820" dirty="0">
                  <a:solidFill>
                    <a:srgbClr val="64748B"/>
                  </a:solidFill>
                  <a:latin typeface="+mn-lt"/>
                  <a:ea typeface="+mn-ea"/>
                  <a:cs typeface="+mn-cs"/>
                </a:rPr>
                <a:t>Financial PhraseBank Model</a:t>
              </a:r>
            </a:p>
          </p:txBody>
        </p:sp>
        <p:sp>
          <p:nvSpPr>
            <p:cNvPr id="50" name="TextBox 50"/>
            <p:cNvSpPr txBox="1"/>
            <p:nvPr/>
          </p:nvSpPr>
          <p:spPr>
            <a:xfrm>
              <a:off x="8624888" y="3248025"/>
              <a:ext cx="1842390" cy="176212"/>
            </a:xfrm>
            <a:prstGeom prst="rect">
              <a:avLst/>
            </a:prstGeom>
            <a:noFill/>
            <a:ln>
              <a:noFill/>
            </a:ln>
          </p:spPr>
          <p:txBody>
            <a:bodyPr wrap="none" lIns="0" tIns="0" rIns="0" bIns="0" anchor="t" anchorCtr="0">
              <a:spAutoFit/>
            </a:bodyPr>
            <a:lstStyle/>
            <a:p>
              <a:pPr marL="77735" indent="-77735" algn="l">
                <a:buClr>
                  <a:srgbClr val="334155"/>
                </a:buClr>
                <a:buSzTx/>
                <a:buFontTx/>
                <a:buChar char="•"/>
              </a:pPr>
              <a:r>
                <a:rPr lang="en-US" sz="900" dirty="0">
                  <a:solidFill>
                    <a:srgbClr val="334155"/>
                  </a:solidFill>
                  <a:latin typeface="+mn-lt"/>
                  <a:ea typeface="+mn-ea"/>
                  <a:cs typeface="+mn-cs"/>
                </a:rPr>
                <a:t>Polarity Range: [-1.0, +1.0] Score</a:t>
              </a:r>
            </a:p>
          </p:txBody>
        </p:sp>
        <p:sp>
          <p:nvSpPr>
            <p:cNvPr id="51" name="TextBox 51"/>
            <p:cNvSpPr txBox="1"/>
            <p:nvPr/>
          </p:nvSpPr>
          <p:spPr>
            <a:xfrm>
              <a:off x="8624888" y="3457575"/>
              <a:ext cx="1960939" cy="176212"/>
            </a:xfrm>
            <a:prstGeom prst="rect">
              <a:avLst/>
            </a:prstGeom>
            <a:noFill/>
            <a:ln>
              <a:noFill/>
            </a:ln>
          </p:spPr>
          <p:txBody>
            <a:bodyPr wrap="none" lIns="0" tIns="0" rIns="0" bIns="0" anchor="t" anchorCtr="0">
              <a:spAutoFit/>
            </a:bodyPr>
            <a:lstStyle/>
            <a:p>
              <a:pPr marL="77735" indent="-77735" algn="l">
                <a:buClr>
                  <a:srgbClr val="334155"/>
                </a:buClr>
                <a:buSzTx/>
                <a:buFontTx/>
                <a:buChar char="•"/>
              </a:pPr>
              <a:r>
                <a:rPr lang="en-US" sz="900" dirty="0">
                  <a:solidFill>
                    <a:srgbClr val="334155"/>
                  </a:solidFill>
                  <a:latin typeface="+mn-lt"/>
                  <a:ea typeface="+mn-ea"/>
                  <a:cs typeface="+mn-cs"/>
                </a:rPr>
                <a:t>7-Tier Financial Event Classification</a:t>
              </a:r>
            </a:p>
          </p:txBody>
        </p:sp>
        <p:sp>
          <p:nvSpPr>
            <p:cNvPr id="52" name="TextBox 52"/>
            <p:cNvSpPr txBox="1"/>
            <p:nvPr/>
          </p:nvSpPr>
          <p:spPr>
            <a:xfrm>
              <a:off x="8624888" y="3667125"/>
              <a:ext cx="1949372" cy="176212"/>
            </a:xfrm>
            <a:prstGeom prst="rect">
              <a:avLst/>
            </a:prstGeom>
            <a:noFill/>
            <a:ln>
              <a:noFill/>
            </a:ln>
          </p:spPr>
          <p:txBody>
            <a:bodyPr wrap="none" lIns="0" tIns="0" rIns="0" bIns="0" anchor="t" anchorCtr="0">
              <a:spAutoFit/>
            </a:bodyPr>
            <a:lstStyle/>
            <a:p>
              <a:pPr marL="77735" indent="-77735" algn="l">
                <a:buClr>
                  <a:srgbClr val="334155"/>
                </a:buClr>
                <a:buSzTx/>
                <a:buFontTx/>
                <a:buChar char="•"/>
              </a:pPr>
              <a:r>
                <a:rPr lang="en-US" sz="900" dirty="0">
                  <a:solidFill>
                    <a:srgbClr val="334155"/>
                  </a:solidFill>
                  <a:latin typeface="+mn-lt"/>
                  <a:ea typeface="+mn-ea"/>
                  <a:cs typeface="+mn-cs"/>
                </a:rPr>
                <a:t>Ingestion from GDELT 2.0 &amp; Feeds</a:t>
              </a:r>
            </a:p>
          </p:txBody>
        </p:sp>
        <p:sp>
          <p:nvSpPr>
            <p:cNvPr id="53" name="TextBox 53"/>
            <p:cNvSpPr txBox="1"/>
            <p:nvPr/>
          </p:nvSpPr>
          <p:spPr>
            <a:xfrm>
              <a:off x="8624888" y="3876675"/>
              <a:ext cx="1978122" cy="176212"/>
            </a:xfrm>
            <a:prstGeom prst="rect">
              <a:avLst/>
            </a:prstGeom>
            <a:noFill/>
            <a:ln>
              <a:noFill/>
            </a:ln>
          </p:spPr>
          <p:txBody>
            <a:bodyPr wrap="none" lIns="0" tIns="0" rIns="0" bIns="0" anchor="t" anchorCtr="0">
              <a:spAutoFit/>
            </a:bodyPr>
            <a:lstStyle/>
            <a:p>
              <a:pPr marL="77735" indent="-77735" algn="l">
                <a:buClr>
                  <a:srgbClr val="334155"/>
                </a:buClr>
                <a:buSzTx/>
                <a:buFontTx/>
                <a:buChar char="•"/>
              </a:pPr>
              <a:r>
                <a:rPr lang="en-US" sz="900" dirty="0">
                  <a:solidFill>
                    <a:srgbClr val="334155"/>
                  </a:solidFill>
                  <a:latin typeface="+mn-lt"/>
                  <a:ea typeface="+mn-ea"/>
                  <a:cs typeface="+mn-cs"/>
                </a:rPr>
                <a:t>512 Token Clipping for High Speed</a:t>
              </a:r>
            </a:p>
          </p:txBody>
        </p:sp>
        <p:sp>
          <p:nvSpPr>
            <p:cNvPr id="54" name="Rectangle 54"/>
            <p:cNvSpPr/>
            <p:nvPr/>
          </p:nvSpPr>
          <p:spPr>
            <a:xfrm>
              <a:off x="5095875" y="4457700"/>
              <a:ext cx="3143250" cy="1638300"/>
            </a:xfrm>
            <a:prstGeom prst="roundRect">
              <a:avLst>
                <a:gd name="adj" fmla="val 5814"/>
              </a:avLst>
            </a:prstGeom>
            <a:solidFill>
              <a:srgbClr val="FFFFFF"/>
            </a:solidFill>
            <a:ln w="9525">
              <a:solidFill>
                <a:schemeClr val="accent6"/>
              </a:solidFill>
            </a:ln>
          </p:spPr>
        </p:sp>
        <p:sp>
          <p:nvSpPr>
            <p:cNvPr id="55" name="Rectangle 55"/>
            <p:cNvSpPr/>
            <p:nvPr/>
          </p:nvSpPr>
          <p:spPr>
            <a:xfrm>
              <a:off x="5248275" y="4610100"/>
              <a:ext cx="323850" cy="323850"/>
            </a:xfrm>
            <a:prstGeom prst="roundRect">
              <a:avLst>
                <a:gd name="adj" fmla="val 17647"/>
              </a:avLst>
            </a:prstGeom>
            <a:solidFill>
              <a:srgbClr val="FFFBEB"/>
            </a:solidFill>
            <a:ln w="9525">
              <a:solidFill>
                <a:srgbClr val="FDE68A"/>
              </a:solidFill>
            </a:ln>
          </p:spPr>
        </p:sp>
        <p:sp>
          <p:nvSpPr>
            <p:cNvPr id="56" name="TextBox 56"/>
            <p:cNvSpPr txBox="1"/>
            <p:nvPr/>
          </p:nvSpPr>
          <p:spPr>
            <a:xfrm>
              <a:off x="5357644" y="4667250"/>
              <a:ext cx="105112" cy="234696"/>
            </a:xfrm>
            <a:prstGeom prst="rect">
              <a:avLst/>
            </a:prstGeom>
            <a:noFill/>
            <a:ln>
              <a:noFill/>
            </a:ln>
          </p:spPr>
          <p:txBody>
            <a:bodyPr wrap="none" lIns="0" tIns="0" rIns="0" bIns="0" anchor="t" anchorCtr="0">
              <a:spAutoFit/>
            </a:bodyPr>
            <a:lstStyle/>
            <a:p>
              <a:pPr algn="ctr"/>
              <a:r>
                <a:rPr lang="en-US" sz="1200" b="1" dirty="0">
                  <a:solidFill>
                    <a:srgbClr val="B45309"/>
                  </a:solidFill>
                  <a:latin typeface="+mn-lt"/>
                  <a:ea typeface="+mn-ea"/>
                  <a:cs typeface="+mn-cs"/>
                </a:rPr>
                <a:t>$</a:t>
              </a:r>
            </a:p>
          </p:txBody>
        </p:sp>
        <p:sp>
          <p:nvSpPr>
            <p:cNvPr id="57" name="TextBox 57"/>
            <p:cNvSpPr txBox="1"/>
            <p:nvPr/>
          </p:nvSpPr>
          <p:spPr>
            <a:xfrm>
              <a:off x="5681472" y="4635500"/>
              <a:ext cx="2093125" cy="191643"/>
            </a:xfrm>
            <a:prstGeom prst="rect">
              <a:avLst/>
            </a:prstGeom>
            <a:noFill/>
            <a:ln>
              <a:noFill/>
            </a:ln>
          </p:spPr>
          <p:txBody>
            <a:bodyPr wrap="none" lIns="0" tIns="0" rIns="0" bIns="0" anchor="t" anchorCtr="0">
              <a:spAutoFit/>
            </a:bodyPr>
            <a:lstStyle/>
            <a:p>
              <a:pPr algn="l"/>
              <a:r>
                <a:rPr lang="en-US" sz="980" b="1" dirty="0">
                  <a:solidFill>
                    <a:schemeClr val="dk1"/>
                  </a:solidFill>
                  <a:latin typeface="+mn-lt"/>
                  <a:ea typeface="+mn-ea"/>
                  <a:cs typeface="+mn-cs"/>
                </a:rPr>
                <a:t>QUANTITATIVE STRESS ENGINE</a:t>
              </a:r>
            </a:p>
          </p:txBody>
        </p:sp>
        <p:sp>
          <p:nvSpPr>
            <p:cNvPr id="58" name="TextBox 58"/>
            <p:cNvSpPr txBox="1"/>
            <p:nvPr/>
          </p:nvSpPr>
          <p:spPr>
            <a:xfrm>
              <a:off x="5681662" y="4813300"/>
              <a:ext cx="1452057" cy="161925"/>
            </a:xfrm>
            <a:prstGeom prst="rect">
              <a:avLst/>
            </a:prstGeom>
            <a:noFill/>
            <a:ln>
              <a:noFill/>
            </a:ln>
          </p:spPr>
          <p:txBody>
            <a:bodyPr wrap="none" lIns="0" tIns="0" rIns="0" bIns="0" anchor="t" anchorCtr="0">
              <a:spAutoFit/>
            </a:bodyPr>
            <a:lstStyle/>
            <a:p>
              <a:pPr algn="l"/>
              <a:r>
                <a:rPr lang="en-US" sz="820" dirty="0">
                  <a:solidFill>
                    <a:srgbClr val="64748B"/>
                  </a:solidFill>
                  <a:latin typeface="+mn-lt"/>
                  <a:ea typeface="+mn-ea"/>
                  <a:cs typeface="+mn-cs"/>
                </a:rPr>
                <a:t>Cross-Asset Valuation Shocks</a:t>
              </a:r>
            </a:p>
          </p:txBody>
        </p:sp>
        <p:sp>
          <p:nvSpPr>
            <p:cNvPr id="59" name="TextBox 59"/>
            <p:cNvSpPr txBox="1"/>
            <p:nvPr/>
          </p:nvSpPr>
          <p:spPr>
            <a:xfrm>
              <a:off x="5243512" y="5086350"/>
              <a:ext cx="2100313" cy="176212"/>
            </a:xfrm>
            <a:prstGeom prst="rect">
              <a:avLst/>
            </a:prstGeom>
            <a:noFill/>
            <a:ln>
              <a:noFill/>
            </a:ln>
          </p:spPr>
          <p:txBody>
            <a:bodyPr wrap="none" lIns="0" tIns="0" rIns="0" bIns="0" anchor="t" anchorCtr="0">
              <a:spAutoFit/>
            </a:bodyPr>
            <a:lstStyle/>
            <a:p>
              <a:pPr marL="77735" indent="-77735" algn="l">
                <a:buClr>
                  <a:srgbClr val="334155"/>
                </a:buClr>
                <a:buSzTx/>
                <a:buFontTx/>
                <a:buChar char="•"/>
              </a:pPr>
              <a:r>
                <a:rPr lang="en-US" sz="900" dirty="0">
                  <a:solidFill>
                    <a:srgbClr val="334155"/>
                  </a:solidFill>
                  <a:latin typeface="+mn-lt"/>
                  <a:ea typeface="+mn-ea"/>
                  <a:cs typeface="+mn-cs"/>
                </a:rPr>
                <a:t>$585M Multi-Asset Institutional AUM</a:t>
              </a:r>
            </a:p>
          </p:txBody>
        </p:sp>
        <p:sp>
          <p:nvSpPr>
            <p:cNvPr id="60" name="TextBox 60"/>
            <p:cNvSpPr txBox="1"/>
            <p:nvPr/>
          </p:nvSpPr>
          <p:spPr>
            <a:xfrm>
              <a:off x="5243512" y="5295900"/>
              <a:ext cx="1989994" cy="176212"/>
            </a:xfrm>
            <a:prstGeom prst="rect">
              <a:avLst/>
            </a:prstGeom>
            <a:noFill/>
            <a:ln>
              <a:noFill/>
            </a:ln>
          </p:spPr>
          <p:txBody>
            <a:bodyPr wrap="none" lIns="0" tIns="0" rIns="0" bIns="0" anchor="t" anchorCtr="0">
              <a:spAutoFit/>
            </a:bodyPr>
            <a:lstStyle/>
            <a:p>
              <a:pPr marL="77735" indent="-77735" algn="l">
                <a:buClr>
                  <a:srgbClr val="334155"/>
                </a:buClr>
                <a:buSzTx/>
                <a:buFontTx/>
                <a:buChar char="•"/>
              </a:pPr>
              <a:r>
                <a:rPr lang="el-GR" sz="900" dirty="0">
                  <a:solidFill>
                    <a:srgbClr val="334155"/>
                  </a:solidFill>
                  <a:latin typeface="+mn-lt"/>
                  <a:ea typeface="+mn-ea"/>
                  <a:cs typeface="+mn-cs"/>
                </a:rPr>
                <a:t>Bonds: Duration Shock (ΔP ≈ -D·Δy)</a:t>
              </a:r>
            </a:p>
          </p:txBody>
        </p:sp>
        <p:sp>
          <p:nvSpPr>
            <p:cNvPr id="61" name="TextBox 61"/>
            <p:cNvSpPr txBox="1"/>
            <p:nvPr/>
          </p:nvSpPr>
          <p:spPr>
            <a:xfrm>
              <a:off x="5243512" y="5505450"/>
              <a:ext cx="2019503" cy="176212"/>
            </a:xfrm>
            <a:prstGeom prst="rect">
              <a:avLst/>
            </a:prstGeom>
            <a:noFill/>
            <a:ln>
              <a:noFill/>
            </a:ln>
          </p:spPr>
          <p:txBody>
            <a:bodyPr wrap="none" lIns="0" tIns="0" rIns="0" bIns="0" anchor="t" anchorCtr="0">
              <a:spAutoFit/>
            </a:bodyPr>
            <a:lstStyle/>
            <a:p>
              <a:pPr marL="77735" indent="-77735" algn="l">
                <a:buClr>
                  <a:srgbClr val="334155"/>
                </a:buClr>
                <a:buSzTx/>
                <a:buFontTx/>
                <a:buChar char="•"/>
              </a:pPr>
              <a:r>
                <a:rPr lang="en-US" sz="900" dirty="0">
                  <a:solidFill>
                    <a:srgbClr val="334155"/>
                  </a:solidFill>
                  <a:latin typeface="+mn-lt"/>
                  <a:ea typeface="+mn-ea"/>
                  <a:cs typeface="+mn-cs"/>
                </a:rPr>
                <a:t>Equities ($75M) Beta Market Shocks</a:t>
              </a:r>
            </a:p>
          </p:txBody>
        </p:sp>
        <p:sp>
          <p:nvSpPr>
            <p:cNvPr id="62" name="TextBox 62"/>
            <p:cNvSpPr txBox="1"/>
            <p:nvPr/>
          </p:nvSpPr>
          <p:spPr>
            <a:xfrm>
              <a:off x="5243512" y="5715000"/>
              <a:ext cx="2120935" cy="176212"/>
            </a:xfrm>
            <a:prstGeom prst="rect">
              <a:avLst/>
            </a:prstGeom>
            <a:noFill/>
            <a:ln>
              <a:noFill/>
            </a:ln>
          </p:spPr>
          <p:txBody>
            <a:bodyPr wrap="none" lIns="0" tIns="0" rIns="0" bIns="0" anchor="t" anchorCtr="0">
              <a:spAutoFit/>
            </a:bodyPr>
            <a:lstStyle/>
            <a:p>
              <a:pPr marL="77735" indent="-77735" algn="l">
                <a:buClr>
                  <a:srgbClr val="334155"/>
                </a:buClr>
                <a:buSzTx/>
                <a:buFontTx/>
                <a:buChar char="•"/>
              </a:pPr>
              <a:r>
                <a:rPr lang="en-US" sz="900" dirty="0">
                  <a:solidFill>
                    <a:srgbClr val="334155"/>
                  </a:solidFill>
                  <a:latin typeface="+mn-lt"/>
                  <a:ea typeface="+mn-ea"/>
                  <a:cs typeface="+mn-cs"/>
                </a:rPr>
                <a:t>Loans ($110M) &amp; Derivatives ($180M)</a:t>
              </a:r>
            </a:p>
          </p:txBody>
        </p:sp>
        <p:sp>
          <p:nvSpPr>
            <p:cNvPr id="63" name="Rectangle 63"/>
            <p:cNvSpPr/>
            <p:nvPr/>
          </p:nvSpPr>
          <p:spPr>
            <a:xfrm>
              <a:off x="8477250" y="4457700"/>
              <a:ext cx="3143250" cy="1638300"/>
            </a:xfrm>
            <a:prstGeom prst="roundRect">
              <a:avLst>
                <a:gd name="adj" fmla="val 5814"/>
              </a:avLst>
            </a:prstGeom>
            <a:solidFill>
              <a:srgbClr val="FFFFFF"/>
            </a:solidFill>
            <a:ln w="9525">
              <a:solidFill>
                <a:schemeClr val="accent6"/>
              </a:solidFill>
            </a:ln>
          </p:spPr>
        </p:sp>
        <p:sp>
          <p:nvSpPr>
            <p:cNvPr id="64" name="Rectangle 64"/>
            <p:cNvSpPr/>
            <p:nvPr/>
          </p:nvSpPr>
          <p:spPr>
            <a:xfrm>
              <a:off x="8629650" y="4610100"/>
              <a:ext cx="323850" cy="323850"/>
            </a:xfrm>
            <a:prstGeom prst="roundRect">
              <a:avLst>
                <a:gd name="adj" fmla="val 17647"/>
              </a:avLst>
            </a:prstGeom>
            <a:solidFill>
              <a:srgbClr val="FDF2F8"/>
            </a:solidFill>
            <a:ln w="9525">
              <a:solidFill>
                <a:srgbClr val="FBCFE8"/>
              </a:solidFill>
            </a:ln>
          </p:spPr>
        </p:sp>
        <p:sp>
          <p:nvSpPr>
            <p:cNvPr id="65" name="TextBox 65"/>
            <p:cNvSpPr txBox="1"/>
            <p:nvPr/>
          </p:nvSpPr>
          <p:spPr>
            <a:xfrm>
              <a:off x="8697528" y="4692650"/>
              <a:ext cx="188095" cy="191643"/>
            </a:xfrm>
            <a:prstGeom prst="rect">
              <a:avLst/>
            </a:prstGeom>
            <a:noFill/>
            <a:ln>
              <a:noFill/>
            </a:ln>
          </p:spPr>
          <p:txBody>
            <a:bodyPr wrap="none" lIns="0" tIns="0" rIns="0" bIns="0" anchor="t" anchorCtr="0">
              <a:spAutoFit/>
            </a:bodyPr>
            <a:lstStyle/>
            <a:p>
              <a:pPr algn="ctr"/>
              <a:r>
                <a:rPr lang="en-US" sz="980" b="1" dirty="0">
                  <a:solidFill>
                    <a:srgbClr val="BE185D"/>
                  </a:solidFill>
                  <a:latin typeface="+mn-lt"/>
                  <a:ea typeface="+mn-ea"/>
                  <a:cs typeface="+mn-cs"/>
                </a:rPr>
                <a:t>A1</a:t>
              </a:r>
            </a:p>
          </p:txBody>
        </p:sp>
        <p:sp>
          <p:nvSpPr>
            <p:cNvPr id="66" name="TextBox 66"/>
            <p:cNvSpPr txBox="1"/>
            <p:nvPr/>
          </p:nvSpPr>
          <p:spPr>
            <a:xfrm>
              <a:off x="9062847" y="4635500"/>
              <a:ext cx="2182492" cy="191643"/>
            </a:xfrm>
            <a:prstGeom prst="rect">
              <a:avLst/>
            </a:prstGeom>
            <a:noFill/>
            <a:ln>
              <a:noFill/>
            </a:ln>
          </p:spPr>
          <p:txBody>
            <a:bodyPr wrap="none" lIns="0" tIns="0" rIns="0" bIns="0" anchor="t" anchorCtr="0">
              <a:spAutoFit/>
            </a:bodyPr>
            <a:lstStyle/>
            <a:p>
              <a:pPr algn="l"/>
              <a:r>
                <a:rPr lang="en-US" sz="980" b="1" dirty="0">
                  <a:solidFill>
                    <a:schemeClr val="dk1"/>
                  </a:solidFill>
                  <a:latin typeface="+mn-lt"/>
                  <a:ea typeface="+mn-ea"/>
                  <a:cs typeface="+mn-cs"/>
                </a:rPr>
                <a:t>RULE A1: AUTO-STRESS TRIGGER</a:t>
              </a:r>
            </a:p>
          </p:txBody>
        </p:sp>
        <p:sp>
          <p:nvSpPr>
            <p:cNvPr id="67" name="TextBox 67"/>
            <p:cNvSpPr txBox="1"/>
            <p:nvPr/>
          </p:nvSpPr>
          <p:spPr>
            <a:xfrm>
              <a:off x="9063038" y="4813300"/>
              <a:ext cx="1463241" cy="161925"/>
            </a:xfrm>
            <a:prstGeom prst="rect">
              <a:avLst/>
            </a:prstGeom>
            <a:noFill/>
            <a:ln>
              <a:noFill/>
            </a:ln>
          </p:spPr>
          <p:txBody>
            <a:bodyPr wrap="none" lIns="0" tIns="0" rIns="0" bIns="0" anchor="t" anchorCtr="0">
              <a:spAutoFit/>
            </a:bodyPr>
            <a:lstStyle/>
            <a:p>
              <a:pPr algn="l"/>
              <a:r>
                <a:rPr lang="en-US" sz="820" dirty="0">
                  <a:solidFill>
                    <a:srgbClr val="64748B"/>
                  </a:solidFill>
                  <a:latin typeface="+mn-lt"/>
                  <a:ea typeface="+mn-ea"/>
                  <a:cs typeface="+mn-cs"/>
                </a:rPr>
                <a:t>Sub-Second Reactive Pipeline</a:t>
              </a:r>
            </a:p>
          </p:txBody>
        </p:sp>
        <p:sp>
          <p:nvSpPr>
            <p:cNvPr id="68" name="TextBox 68"/>
            <p:cNvSpPr txBox="1"/>
            <p:nvPr/>
          </p:nvSpPr>
          <p:spPr>
            <a:xfrm>
              <a:off x="8624888" y="5086350"/>
              <a:ext cx="1910856" cy="176212"/>
            </a:xfrm>
            <a:prstGeom prst="rect">
              <a:avLst/>
            </a:prstGeom>
            <a:noFill/>
            <a:ln>
              <a:noFill/>
            </a:ln>
          </p:spPr>
          <p:txBody>
            <a:bodyPr wrap="none" lIns="0" tIns="0" rIns="0" bIns="0" anchor="t" anchorCtr="0">
              <a:spAutoFit/>
            </a:bodyPr>
            <a:lstStyle/>
            <a:p>
              <a:pPr marL="77735" indent="-77735" algn="l">
                <a:buClr>
                  <a:srgbClr val="334155"/>
                </a:buClr>
                <a:buSzTx/>
                <a:buFontTx/>
                <a:buChar char="•"/>
              </a:pPr>
              <a:r>
                <a:rPr lang="en-US" sz="900" dirty="0">
                  <a:solidFill>
                    <a:srgbClr val="334155"/>
                  </a:solidFill>
                  <a:latin typeface="+mn-lt"/>
                  <a:ea typeface="+mn-ea"/>
                  <a:cs typeface="+mn-cs"/>
                </a:rPr>
                <a:t>Composite Impact Formula (1–10)</a:t>
              </a:r>
            </a:p>
          </p:txBody>
        </p:sp>
        <p:sp>
          <p:nvSpPr>
            <p:cNvPr id="69" name="TextBox 69"/>
            <p:cNvSpPr txBox="1"/>
            <p:nvPr/>
          </p:nvSpPr>
          <p:spPr>
            <a:xfrm>
              <a:off x="8624888" y="5295900"/>
              <a:ext cx="2160057" cy="176212"/>
            </a:xfrm>
            <a:prstGeom prst="rect">
              <a:avLst/>
            </a:prstGeom>
            <a:noFill/>
            <a:ln>
              <a:noFill/>
            </a:ln>
          </p:spPr>
          <p:txBody>
            <a:bodyPr wrap="none" lIns="0" tIns="0" rIns="0" bIns="0" anchor="t" anchorCtr="0">
              <a:spAutoFit/>
            </a:bodyPr>
            <a:lstStyle/>
            <a:p>
              <a:pPr marL="77735" indent="-77735" algn="l">
                <a:buClr>
                  <a:srgbClr val="334155"/>
                </a:buClr>
                <a:buSzTx/>
                <a:buFontTx/>
                <a:buChar char="•"/>
              </a:pPr>
              <a:r>
                <a:rPr lang="en-US" sz="900" dirty="0">
                  <a:solidFill>
                    <a:srgbClr val="334155"/>
                  </a:solidFill>
                  <a:latin typeface="+mn-lt"/>
                  <a:ea typeface="+mn-ea"/>
                  <a:cs typeface="+mn-cs"/>
                </a:rPr>
                <a:t>IF Impact Score &gt;= 7: Auto-Stress Run</a:t>
              </a:r>
            </a:p>
          </p:txBody>
        </p:sp>
        <p:sp>
          <p:nvSpPr>
            <p:cNvPr id="71" name="TextBox 71"/>
            <p:cNvSpPr txBox="1"/>
            <p:nvPr/>
          </p:nvSpPr>
          <p:spPr>
            <a:xfrm>
              <a:off x="8624888" y="5515717"/>
              <a:ext cx="1949074" cy="176212"/>
            </a:xfrm>
            <a:prstGeom prst="rect">
              <a:avLst/>
            </a:prstGeom>
            <a:noFill/>
            <a:ln>
              <a:noFill/>
            </a:ln>
          </p:spPr>
          <p:txBody>
            <a:bodyPr wrap="none" lIns="0" tIns="0" rIns="0" bIns="0" anchor="t" anchorCtr="0">
              <a:spAutoFit/>
            </a:bodyPr>
            <a:lstStyle/>
            <a:p>
              <a:pPr marL="77735" indent="-77735" algn="l">
                <a:buClr>
                  <a:srgbClr val="334155"/>
                </a:buClr>
                <a:buSzTx/>
                <a:buFontTx/>
                <a:buChar char="•"/>
              </a:pPr>
              <a:r>
                <a:rPr lang="en-US" sz="900" dirty="0">
                  <a:solidFill>
                    <a:srgbClr val="334155"/>
                  </a:solidFill>
                  <a:latin typeface="+mn-lt"/>
                  <a:ea typeface="+mn-ea"/>
                  <a:cs typeface="+mn-cs"/>
                </a:rPr>
                <a:t>Immutable PostgreSQL Audit Logs</a:t>
              </a:r>
            </a:p>
          </p:txBody>
        </p:sp>
      </p:grpSp>
      <p:grpSp>
        <p:nvGrpSpPr>
          <p:cNvPr id="76" name="footer"/>
          <p:cNvGrpSpPr/>
          <p:nvPr/>
        </p:nvGrpSpPr>
        <p:grpSpPr>
          <a:xfrm>
            <a:off x="566738" y="6381750"/>
            <a:ext cx="11058525" cy="288925"/>
            <a:chOff x="566738" y="6381750"/>
            <a:chExt cx="11058525" cy="288925"/>
          </a:xfrm>
        </p:grpSpPr>
        <p:sp>
          <p:nvSpPr>
            <p:cNvPr id="73" name="Line 73"/>
            <p:cNvSpPr/>
            <p:nvPr/>
          </p:nvSpPr>
          <p:spPr>
            <a:xfrm>
              <a:off x="571500" y="6381750"/>
              <a:ext cx="11049000" cy="9525"/>
            </a:xfrm>
            <a:custGeom>
              <a:avLst/>
              <a:gdLst/>
              <a:ahLst/>
              <a:cxnLst/>
              <a:rect l="l" t="t" r="r" b="b"/>
              <a:pathLst>
                <a:path w="11049000" h="9525">
                  <a:moveTo>
                    <a:pt x="0" y="0"/>
                  </a:moveTo>
                  <a:lnTo>
                    <a:pt x="11049000" y="0"/>
                  </a:lnTo>
                </a:path>
              </a:pathLst>
            </a:custGeom>
            <a:noFill/>
            <a:ln w="9525">
              <a:solidFill>
                <a:srgbClr val="E2E8F0"/>
              </a:solidFill>
            </a:ln>
          </p:spPr>
        </p:sp>
        <p:sp>
          <p:nvSpPr>
            <p:cNvPr id="74" name="TextBox 74"/>
            <p:cNvSpPr txBox="1"/>
            <p:nvPr/>
          </p:nvSpPr>
          <p:spPr>
            <a:xfrm>
              <a:off x="566738" y="6508750"/>
              <a:ext cx="5028782" cy="161925"/>
            </a:xfrm>
            <a:prstGeom prst="rect">
              <a:avLst/>
            </a:prstGeom>
            <a:noFill/>
            <a:ln>
              <a:noFill/>
            </a:ln>
          </p:spPr>
          <p:txBody>
            <a:bodyPr wrap="none" lIns="0" tIns="0" rIns="0" bIns="0" anchor="t" anchorCtr="0">
              <a:spAutoFit/>
            </a:bodyPr>
            <a:lstStyle/>
            <a:p>
              <a:pPr algn="l"/>
              <a:r>
                <a:rPr lang="en-US" sz="820" dirty="0">
                  <a:solidFill>
                    <a:srgbClr val="64748B"/>
                  </a:solidFill>
                  <a:latin typeface="+mn-lt"/>
                  <a:ea typeface="+mn-ea"/>
                  <a:cs typeface="+mn-cs"/>
                </a:rPr>
                <a:t>S&amp;P Global &amp; CRISIL Campus Hackathon 2026 | Candidate: Mritunjay Senapati (b224030@iiit-bh.ac.in)</a:t>
              </a:r>
            </a:p>
          </p:txBody>
        </p:sp>
        <p:sp>
          <p:nvSpPr>
            <p:cNvPr id="75" name="TextBox 75"/>
            <p:cNvSpPr txBox="1"/>
            <p:nvPr/>
          </p:nvSpPr>
          <p:spPr>
            <a:xfrm>
              <a:off x="9679826" y="6508750"/>
              <a:ext cx="1945437" cy="161925"/>
            </a:xfrm>
            <a:prstGeom prst="rect">
              <a:avLst/>
            </a:prstGeom>
            <a:noFill/>
            <a:ln>
              <a:noFill/>
            </a:ln>
          </p:spPr>
          <p:txBody>
            <a:bodyPr wrap="none" lIns="0" tIns="0" rIns="0" bIns="0" anchor="t" anchorCtr="0">
              <a:spAutoFit/>
            </a:bodyPr>
            <a:lstStyle/>
            <a:p>
              <a:pPr algn="r"/>
              <a:r>
                <a:rPr lang="en-US" sz="820" dirty="0">
                  <a:solidFill>
                    <a:srgbClr val="64748B"/>
                  </a:solidFill>
                  <a:latin typeface="+mn-lt"/>
                  <a:ea typeface="+mn-ea"/>
                  <a:cs typeface="+mn-cs"/>
                </a:rPr>
                <a:t>Module B: AI/NLP Financial Risk Engine</a:t>
              </a:r>
            </a:p>
          </p:txBody>
        </p:sp>
      </p:gr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header"/>
          <p:cNvGrpSpPr/>
          <p:nvPr/>
        </p:nvGrpSpPr>
        <p:grpSpPr>
          <a:xfrm>
            <a:off x="566738" y="355600"/>
            <a:ext cx="11058524" cy="206375"/>
            <a:chOff x="566738" y="355600"/>
            <a:chExt cx="11058524" cy="206375"/>
          </a:xfrm>
        </p:grpSpPr>
        <p:sp>
          <p:nvSpPr>
            <p:cNvPr id="2" name="TextBox 2"/>
            <p:cNvSpPr txBox="1"/>
            <p:nvPr/>
          </p:nvSpPr>
          <p:spPr>
            <a:xfrm>
              <a:off x="566738" y="355600"/>
              <a:ext cx="5192747" cy="161925"/>
            </a:xfrm>
            <a:prstGeom prst="rect">
              <a:avLst/>
            </a:prstGeom>
            <a:noFill/>
            <a:ln>
              <a:noFill/>
            </a:ln>
          </p:spPr>
          <p:txBody>
            <a:bodyPr wrap="none" lIns="0" tIns="0" rIns="0" bIns="0" anchor="t" anchorCtr="0">
              <a:spAutoFit/>
            </a:bodyPr>
            <a:lstStyle/>
            <a:p>
              <a:pPr algn="l"/>
              <a:r>
                <a:rPr lang="en-US" sz="820" b="1" spc="112" dirty="0">
                  <a:solidFill>
                    <a:schemeClr val="accent1"/>
                  </a:solidFill>
                  <a:latin typeface="+mn-lt"/>
                  <a:ea typeface="+mn-ea"/>
                  <a:cs typeface="+mn-cs"/>
                </a:rPr>
                <a:t>S&amp;P GLOBAL &amp; CRISIL CAMPUS HACKATHON | MODULE B: STRESS TESTING</a:t>
              </a:r>
            </a:p>
          </p:txBody>
        </p:sp>
        <p:sp>
          <p:nvSpPr>
            <p:cNvPr id="3" name="TextBox 3"/>
            <p:cNvSpPr txBox="1"/>
            <p:nvPr/>
          </p:nvSpPr>
          <p:spPr>
            <a:xfrm>
              <a:off x="10889090" y="355600"/>
              <a:ext cx="736172" cy="161925"/>
            </a:xfrm>
            <a:prstGeom prst="rect">
              <a:avLst/>
            </a:prstGeom>
            <a:noFill/>
            <a:ln>
              <a:noFill/>
            </a:ln>
          </p:spPr>
          <p:txBody>
            <a:bodyPr wrap="none" lIns="0" tIns="0" rIns="0" bIns="0" anchor="t" anchorCtr="0">
              <a:spAutoFit/>
            </a:bodyPr>
            <a:lstStyle/>
            <a:p>
              <a:pPr algn="r"/>
              <a:r>
                <a:rPr lang="en-US" sz="820" b="1" dirty="0">
                  <a:solidFill>
                    <a:srgbClr val="64748B"/>
                  </a:solidFill>
                  <a:latin typeface="+mn-lt"/>
                  <a:ea typeface="+mn-ea"/>
                  <a:cs typeface="+mn-cs"/>
                </a:rPr>
                <a:t>SLIDE 02 / 07</a:t>
              </a:r>
            </a:p>
          </p:txBody>
        </p:sp>
        <p:sp>
          <p:nvSpPr>
            <p:cNvPr id="4" name="Line 4"/>
            <p:cNvSpPr/>
            <p:nvPr/>
          </p:nvSpPr>
          <p:spPr>
            <a:xfrm>
              <a:off x="571500" y="552450"/>
              <a:ext cx="11049000" cy="9525"/>
            </a:xfrm>
            <a:custGeom>
              <a:avLst/>
              <a:gdLst/>
              <a:ahLst/>
              <a:cxnLst/>
              <a:rect l="l" t="t" r="r" b="b"/>
              <a:pathLst>
                <a:path w="11049000" h="9525">
                  <a:moveTo>
                    <a:pt x="0" y="0"/>
                  </a:moveTo>
                  <a:lnTo>
                    <a:pt x="11049000" y="0"/>
                  </a:lnTo>
                </a:path>
              </a:pathLst>
            </a:custGeom>
            <a:noFill/>
            <a:ln w="9525">
              <a:solidFill>
                <a:srgbClr val="E2E8F0"/>
              </a:solidFill>
            </a:ln>
          </p:spPr>
        </p:sp>
      </p:grpSp>
      <p:grpSp>
        <p:nvGrpSpPr>
          <p:cNvPr id="8" name="title-block"/>
          <p:cNvGrpSpPr/>
          <p:nvPr/>
        </p:nvGrpSpPr>
        <p:grpSpPr>
          <a:xfrm>
            <a:off x="559308" y="641350"/>
            <a:ext cx="7020461" cy="599059"/>
            <a:chOff x="559308" y="641350"/>
            <a:chExt cx="7020461" cy="599059"/>
          </a:xfrm>
        </p:grpSpPr>
        <p:sp>
          <p:nvSpPr>
            <p:cNvPr id="6" name="TextBox 6"/>
            <p:cNvSpPr txBox="1"/>
            <p:nvPr/>
          </p:nvSpPr>
          <p:spPr>
            <a:xfrm>
              <a:off x="559308" y="641350"/>
              <a:ext cx="7020461" cy="469392"/>
            </a:xfrm>
            <a:prstGeom prst="rect">
              <a:avLst/>
            </a:prstGeom>
            <a:noFill/>
            <a:ln>
              <a:noFill/>
            </a:ln>
          </p:spPr>
          <p:txBody>
            <a:bodyPr wrap="none" lIns="0" tIns="0" rIns="0" bIns="0" anchor="t" anchorCtr="0">
              <a:spAutoFit/>
            </a:bodyPr>
            <a:lstStyle/>
            <a:p>
              <a:pPr algn="l"/>
              <a:r>
                <a:rPr lang="en-US" sz="2400" b="1" dirty="0">
                  <a:solidFill>
                    <a:schemeClr val="dk1"/>
                  </a:solidFill>
                  <a:latin typeface="+mn-lt"/>
                  <a:ea typeface="+mn-ea"/>
                  <a:cs typeface="+mn-cs"/>
                </a:rPr>
                <a:t>The Industry Problem vs. Engineered Solution</a:t>
              </a:r>
            </a:p>
          </p:txBody>
        </p:sp>
        <p:sp>
          <p:nvSpPr>
            <p:cNvPr id="7" name="TextBox 7"/>
            <p:cNvSpPr txBox="1"/>
            <p:nvPr/>
          </p:nvSpPr>
          <p:spPr>
            <a:xfrm>
              <a:off x="566166" y="1035050"/>
              <a:ext cx="7013111" cy="205359"/>
            </a:xfrm>
            <a:prstGeom prst="rect">
              <a:avLst/>
            </a:prstGeom>
            <a:noFill/>
            <a:ln>
              <a:noFill/>
            </a:ln>
          </p:spPr>
          <p:txBody>
            <a:bodyPr wrap="none" lIns="0" tIns="0" rIns="0" bIns="0" anchor="t" anchorCtr="0">
              <a:spAutoFit/>
            </a:bodyPr>
            <a:lstStyle/>
            <a:p>
              <a:pPr algn="l"/>
              <a:r>
                <a:rPr lang="en-US" sz="1050" dirty="0">
                  <a:solidFill>
                    <a:schemeClr val="accent5"/>
                  </a:solidFill>
                  <a:latin typeface="+mn-lt"/>
                  <a:ea typeface="+mn-ea"/>
                  <a:cs typeface="+mn-cs"/>
                </a:rPr>
                <a:t>Overcoming Traditional 48-Hour Downgrade Latency via Continuous Sub-Second AI Ingestion &amp; Capital Shocks</a:t>
              </a:r>
            </a:p>
          </p:txBody>
        </p:sp>
      </p:grpSp>
      <p:grpSp>
        <p:nvGrpSpPr>
          <p:cNvPr id="15" name="col-headers"/>
          <p:cNvGrpSpPr/>
          <p:nvPr/>
        </p:nvGrpSpPr>
        <p:grpSpPr>
          <a:xfrm>
            <a:off x="571500" y="1352550"/>
            <a:ext cx="11049000" cy="342900"/>
            <a:chOff x="571500" y="1352550"/>
            <a:chExt cx="11049000" cy="342900"/>
          </a:xfrm>
        </p:grpSpPr>
        <p:sp>
          <p:nvSpPr>
            <p:cNvPr id="9" name="Rectangle 9"/>
            <p:cNvSpPr/>
            <p:nvPr/>
          </p:nvSpPr>
          <p:spPr>
            <a:xfrm>
              <a:off x="571500" y="1352550"/>
              <a:ext cx="5381625" cy="342900"/>
            </a:xfrm>
            <a:prstGeom prst="roundRect">
              <a:avLst>
                <a:gd name="adj" fmla="val 16667"/>
              </a:avLst>
            </a:prstGeom>
            <a:solidFill>
              <a:srgbClr val="FEF2F2"/>
            </a:solidFill>
            <a:ln w="9525">
              <a:solidFill>
                <a:srgbClr val="FECACA"/>
              </a:solidFill>
            </a:ln>
          </p:spPr>
        </p:sp>
        <p:sp>
          <p:nvSpPr>
            <p:cNvPr id="10" name="Ellipse 10"/>
            <p:cNvSpPr/>
            <p:nvPr/>
          </p:nvSpPr>
          <p:spPr>
            <a:xfrm>
              <a:off x="714375" y="1476375"/>
              <a:ext cx="95250" cy="95250"/>
            </a:xfrm>
            <a:prstGeom prst="ellipse">
              <a:avLst/>
            </a:prstGeom>
            <a:solidFill>
              <a:schemeClr val="accent3"/>
            </a:solidFill>
            <a:ln>
              <a:noFill/>
            </a:ln>
          </p:spPr>
        </p:sp>
        <p:sp>
          <p:nvSpPr>
            <p:cNvPr id="11" name="TextBox 11"/>
            <p:cNvSpPr txBox="1"/>
            <p:nvPr/>
          </p:nvSpPr>
          <p:spPr>
            <a:xfrm>
              <a:off x="890588" y="1447800"/>
              <a:ext cx="3560066" cy="176212"/>
            </a:xfrm>
            <a:prstGeom prst="rect">
              <a:avLst/>
            </a:prstGeom>
            <a:noFill/>
            <a:ln>
              <a:noFill/>
            </a:ln>
          </p:spPr>
          <p:txBody>
            <a:bodyPr wrap="none" lIns="0" tIns="0" rIns="0" bIns="0" anchor="t" anchorCtr="0">
              <a:spAutoFit/>
            </a:bodyPr>
            <a:lstStyle/>
            <a:p>
              <a:pPr algn="l"/>
              <a:r>
                <a:rPr lang="en-US" sz="900" b="1" spc="112" dirty="0">
                  <a:solidFill>
                    <a:srgbClr val="991B1B"/>
                  </a:solidFill>
                  <a:latin typeface="+mn-lt"/>
                  <a:ea typeface="+mn-ea"/>
                  <a:cs typeface="+mn-cs"/>
                </a:rPr>
                <a:t>THE INDUSTRY CHALLENGE (STRUCTURAL RISK)</a:t>
              </a:r>
            </a:p>
          </p:txBody>
        </p:sp>
        <p:sp>
          <p:nvSpPr>
            <p:cNvPr id="12" name="Rectangle 12"/>
            <p:cNvSpPr/>
            <p:nvPr/>
          </p:nvSpPr>
          <p:spPr>
            <a:xfrm>
              <a:off x="6238875" y="1352550"/>
              <a:ext cx="5381625" cy="342900"/>
            </a:xfrm>
            <a:prstGeom prst="roundRect">
              <a:avLst>
                <a:gd name="adj" fmla="val 16667"/>
              </a:avLst>
            </a:prstGeom>
            <a:solidFill>
              <a:srgbClr val="ECFDF5"/>
            </a:solidFill>
            <a:ln w="9525">
              <a:solidFill>
                <a:srgbClr val="A7F3D0"/>
              </a:solidFill>
            </a:ln>
          </p:spPr>
        </p:sp>
        <p:sp>
          <p:nvSpPr>
            <p:cNvPr id="13" name="Ellipse 13"/>
            <p:cNvSpPr/>
            <p:nvPr/>
          </p:nvSpPr>
          <p:spPr>
            <a:xfrm>
              <a:off x="6381750" y="1476375"/>
              <a:ext cx="95250" cy="95250"/>
            </a:xfrm>
            <a:prstGeom prst="ellipse">
              <a:avLst/>
            </a:prstGeom>
            <a:solidFill>
              <a:schemeClr val="accent2"/>
            </a:solidFill>
            <a:ln>
              <a:noFill/>
            </a:ln>
          </p:spPr>
        </p:sp>
        <p:sp>
          <p:nvSpPr>
            <p:cNvPr id="14" name="TextBox 14"/>
            <p:cNvSpPr txBox="1"/>
            <p:nvPr/>
          </p:nvSpPr>
          <p:spPr>
            <a:xfrm>
              <a:off x="6557962" y="1447800"/>
              <a:ext cx="3922547" cy="176212"/>
            </a:xfrm>
            <a:prstGeom prst="rect">
              <a:avLst/>
            </a:prstGeom>
            <a:noFill/>
            <a:ln>
              <a:noFill/>
            </a:ln>
          </p:spPr>
          <p:txBody>
            <a:bodyPr wrap="none" lIns="0" tIns="0" rIns="0" bIns="0" anchor="t" anchorCtr="0">
              <a:spAutoFit/>
            </a:bodyPr>
            <a:lstStyle/>
            <a:p>
              <a:pPr algn="l"/>
              <a:r>
                <a:rPr lang="en-US" sz="900" b="1" spc="112" dirty="0">
                  <a:solidFill>
                    <a:srgbClr val="065F46"/>
                  </a:solidFill>
                  <a:latin typeface="+mn-lt"/>
                  <a:ea typeface="+mn-ea"/>
                  <a:cs typeface="+mn-cs"/>
                </a:rPr>
                <a:t>OUR ENGINEERED SOLUTION (PRODUCTION ENGINE)</a:t>
              </a:r>
            </a:p>
          </p:txBody>
        </p:sp>
      </p:grpSp>
      <p:grpSp>
        <p:nvGrpSpPr>
          <p:cNvPr id="26" name="row-cadence"/>
          <p:cNvGrpSpPr/>
          <p:nvPr/>
        </p:nvGrpSpPr>
        <p:grpSpPr>
          <a:xfrm>
            <a:off x="571500" y="1809750"/>
            <a:ext cx="11049000" cy="1028700"/>
            <a:chOff x="571500" y="1809750"/>
            <a:chExt cx="11049000" cy="1028700"/>
          </a:xfrm>
        </p:grpSpPr>
        <p:sp>
          <p:nvSpPr>
            <p:cNvPr id="16" name="Rectangle 16"/>
            <p:cNvSpPr/>
            <p:nvPr/>
          </p:nvSpPr>
          <p:spPr>
            <a:xfrm>
              <a:off x="571500" y="1809750"/>
              <a:ext cx="5381625" cy="1028700"/>
            </a:xfrm>
            <a:prstGeom prst="roundRect">
              <a:avLst>
                <a:gd name="adj" fmla="val 7407"/>
              </a:avLst>
            </a:prstGeom>
            <a:solidFill>
              <a:srgbClr val="FFFFFF"/>
            </a:solidFill>
            <a:ln w="9525">
              <a:solidFill>
                <a:schemeClr val="accent6"/>
              </a:solidFill>
            </a:ln>
          </p:spPr>
        </p:sp>
        <p:sp>
          <p:nvSpPr>
            <p:cNvPr id="17" name="Rectangle 17"/>
            <p:cNvSpPr/>
            <p:nvPr/>
          </p:nvSpPr>
          <p:spPr>
            <a:xfrm>
              <a:off x="723900" y="1924050"/>
              <a:ext cx="266700" cy="228600"/>
            </a:xfrm>
            <a:prstGeom prst="roundRect">
              <a:avLst>
                <a:gd name="adj" fmla="val 16667"/>
              </a:avLst>
            </a:prstGeom>
            <a:solidFill>
              <a:srgbClr val="FEE2E2"/>
            </a:solidFill>
            <a:ln>
              <a:noFill/>
            </a:ln>
          </p:spPr>
        </p:sp>
        <p:sp>
          <p:nvSpPr>
            <p:cNvPr id="18" name="TextBox 18"/>
            <p:cNvSpPr txBox="1"/>
            <p:nvPr/>
          </p:nvSpPr>
          <p:spPr>
            <a:xfrm>
              <a:off x="763292" y="1962150"/>
              <a:ext cx="187915" cy="176212"/>
            </a:xfrm>
            <a:prstGeom prst="rect">
              <a:avLst/>
            </a:prstGeom>
            <a:noFill/>
            <a:ln>
              <a:noFill/>
            </a:ln>
          </p:spPr>
          <p:txBody>
            <a:bodyPr wrap="none" lIns="0" tIns="0" rIns="0" bIns="0" anchor="t" anchorCtr="0">
              <a:spAutoFit/>
            </a:bodyPr>
            <a:lstStyle/>
            <a:p>
              <a:pPr algn="ctr"/>
              <a:r>
                <a:rPr lang="en-US" sz="900" b="1" dirty="0">
                  <a:solidFill>
                    <a:schemeClr val="accent3"/>
                  </a:solidFill>
                  <a:latin typeface="+mn-lt"/>
                  <a:ea typeface="+mn-ea"/>
                  <a:cs typeface="+mn-cs"/>
                </a:rPr>
                <a:t>[X]</a:t>
              </a:r>
            </a:p>
          </p:txBody>
        </p:sp>
        <p:sp>
          <p:nvSpPr>
            <p:cNvPr id="19" name="TextBox 19"/>
            <p:cNvSpPr txBox="1"/>
            <p:nvPr/>
          </p:nvSpPr>
          <p:spPr>
            <a:xfrm>
              <a:off x="1080897" y="1949450"/>
              <a:ext cx="2955301" cy="191643"/>
            </a:xfrm>
            <a:prstGeom prst="rect">
              <a:avLst/>
            </a:prstGeom>
            <a:noFill/>
            <a:ln>
              <a:noFill/>
            </a:ln>
          </p:spPr>
          <p:txBody>
            <a:bodyPr wrap="none" lIns="0" tIns="0" rIns="0" bIns="0" anchor="t" anchorCtr="0">
              <a:spAutoFit/>
            </a:bodyPr>
            <a:lstStyle/>
            <a:p>
              <a:pPr algn="l"/>
              <a:r>
                <a:rPr lang="en-US" sz="980" b="1" dirty="0">
                  <a:solidFill>
                    <a:srgbClr val="991B1B"/>
                  </a:solidFill>
                  <a:latin typeface="+mn-lt"/>
                  <a:ea typeface="+mn-ea"/>
                  <a:cs typeface="+mn-cs"/>
                </a:rPr>
                <a:t>Lagging Stress Testing Cadence (24–48h Delay)</a:t>
              </a:r>
            </a:p>
          </p:txBody>
        </p:sp>
        <p:sp>
          <p:nvSpPr>
            <p:cNvPr id="20" name="TextBox 20"/>
            <p:cNvSpPr txBox="1"/>
            <p:nvPr/>
          </p:nvSpPr>
          <p:spPr>
            <a:xfrm>
              <a:off x="719138" y="2203450"/>
              <a:ext cx="3920722" cy="347662"/>
            </a:xfrm>
            <a:prstGeom prst="rect">
              <a:avLst/>
            </a:prstGeom>
            <a:noFill/>
            <a:ln>
              <a:noFill/>
            </a:ln>
          </p:spPr>
          <p:txBody>
            <a:bodyPr wrap="none" lIns="0" tIns="0" rIns="0" bIns="0" anchor="t" anchorCtr="0">
              <a:spAutoFit/>
            </a:bodyPr>
            <a:lstStyle/>
            <a:p>
              <a:pPr algn="l">
                <a:lnSpc>
                  <a:spcPts val="1350"/>
                </a:lnSpc>
              </a:pPr>
              <a:r>
                <a:rPr lang="en-US" sz="900" dirty="0">
                  <a:solidFill>
                    <a:srgbClr val="334155"/>
                  </a:solidFill>
                  <a:latin typeface="+mn-lt"/>
                  <a:ea typeface="+mn-ea"/>
                  <a:cs typeface="+mn-cs"/>
                </a:rPr>
                <a:t>Traditional risk tests occur quarterly or monthly. Real-world geopolitical crises</a:t>
              </a:r>
              <a:br>
                <a:rPr lang="en-US" sz="900" dirty="0">
                  <a:solidFill>
                    <a:srgbClr val="334155"/>
                  </a:solidFill>
                  <a:latin typeface="+mn-lt"/>
                  <a:ea typeface="+mn-ea"/>
                  <a:cs typeface="+mn-cs"/>
                </a:rPr>
              </a:br>
              <a:r>
                <a:rPr lang="en-US" sz="900" dirty="0">
                  <a:solidFill>
                    <a:srgbClr val="334155"/>
                  </a:solidFill>
                  <a:latin typeface="+mn-lt"/>
                  <a:ea typeface="+mn-ea"/>
                  <a:cs typeface="+mn-cs"/>
                </a:rPr>
                <a:t>and rate spikes unfold in hours, rendering legacy batch models obsolete.</a:t>
              </a:r>
            </a:p>
          </p:txBody>
        </p:sp>
        <p:sp>
          <p:nvSpPr>
            <p:cNvPr id="21" name="Rectangle 21"/>
            <p:cNvSpPr/>
            <p:nvPr/>
          </p:nvSpPr>
          <p:spPr>
            <a:xfrm>
              <a:off x="6238875" y="1809750"/>
              <a:ext cx="5381625" cy="1028700"/>
            </a:xfrm>
            <a:prstGeom prst="roundRect">
              <a:avLst>
                <a:gd name="adj" fmla="val 7407"/>
              </a:avLst>
            </a:prstGeom>
            <a:solidFill>
              <a:srgbClr val="FFFFFF"/>
            </a:solidFill>
            <a:ln w="9525">
              <a:solidFill>
                <a:schemeClr val="accent6"/>
              </a:solidFill>
            </a:ln>
          </p:spPr>
        </p:sp>
        <p:sp>
          <p:nvSpPr>
            <p:cNvPr id="22" name="Rectangle 22"/>
            <p:cNvSpPr/>
            <p:nvPr/>
          </p:nvSpPr>
          <p:spPr>
            <a:xfrm>
              <a:off x="6391275" y="1924050"/>
              <a:ext cx="266700" cy="228600"/>
            </a:xfrm>
            <a:prstGeom prst="roundRect">
              <a:avLst>
                <a:gd name="adj" fmla="val 16667"/>
              </a:avLst>
            </a:prstGeom>
            <a:solidFill>
              <a:srgbClr val="D1FAE5"/>
            </a:solidFill>
            <a:ln>
              <a:noFill/>
            </a:ln>
          </p:spPr>
        </p:sp>
        <p:sp>
          <p:nvSpPr>
            <p:cNvPr id="23" name="TextBox 23"/>
            <p:cNvSpPr txBox="1"/>
            <p:nvPr/>
          </p:nvSpPr>
          <p:spPr>
            <a:xfrm>
              <a:off x="6432314" y="1962150"/>
              <a:ext cx="184623" cy="176212"/>
            </a:xfrm>
            <a:prstGeom prst="rect">
              <a:avLst/>
            </a:prstGeom>
            <a:noFill/>
            <a:ln>
              <a:noFill/>
            </a:ln>
          </p:spPr>
          <p:txBody>
            <a:bodyPr wrap="none" lIns="0" tIns="0" rIns="0" bIns="0" anchor="t" anchorCtr="0">
              <a:spAutoFit/>
            </a:bodyPr>
            <a:lstStyle/>
            <a:p>
              <a:pPr algn="ctr"/>
              <a:r>
                <a:rPr lang="en-US" sz="900" b="1" dirty="0">
                  <a:solidFill>
                    <a:schemeClr val="accent2"/>
                  </a:solidFill>
                  <a:latin typeface="+mn-lt"/>
                  <a:ea typeface="+mn-ea"/>
                  <a:cs typeface="+mn-cs"/>
                </a:rPr>
                <a:t>[+]</a:t>
              </a:r>
            </a:p>
          </p:txBody>
        </p:sp>
        <p:sp>
          <p:nvSpPr>
            <p:cNvPr id="24" name="TextBox 24"/>
            <p:cNvSpPr txBox="1"/>
            <p:nvPr/>
          </p:nvSpPr>
          <p:spPr>
            <a:xfrm>
              <a:off x="6748272" y="1949450"/>
              <a:ext cx="2867550" cy="191643"/>
            </a:xfrm>
            <a:prstGeom prst="rect">
              <a:avLst/>
            </a:prstGeom>
            <a:noFill/>
            <a:ln>
              <a:noFill/>
            </a:ln>
          </p:spPr>
          <p:txBody>
            <a:bodyPr wrap="none" lIns="0" tIns="0" rIns="0" bIns="0" anchor="t" anchorCtr="0">
              <a:spAutoFit/>
            </a:bodyPr>
            <a:lstStyle/>
            <a:p>
              <a:pPr algn="l"/>
              <a:r>
                <a:rPr lang="en-US" sz="980" b="1" dirty="0">
                  <a:solidFill>
                    <a:srgbClr val="065F46"/>
                  </a:solidFill>
                  <a:latin typeface="+mn-lt"/>
                  <a:ea typeface="+mn-ea"/>
                  <a:cs typeface="+mn-cs"/>
                </a:rPr>
                <a:t>Sub-Second Reactive Event Ingestion Pipeline</a:t>
              </a:r>
            </a:p>
          </p:txBody>
        </p:sp>
        <p:sp>
          <p:nvSpPr>
            <p:cNvPr id="25" name="TextBox 25"/>
            <p:cNvSpPr txBox="1"/>
            <p:nvPr/>
          </p:nvSpPr>
          <p:spPr>
            <a:xfrm>
              <a:off x="6386512" y="2203450"/>
              <a:ext cx="3605780" cy="347662"/>
            </a:xfrm>
            <a:prstGeom prst="rect">
              <a:avLst/>
            </a:prstGeom>
            <a:noFill/>
            <a:ln>
              <a:noFill/>
            </a:ln>
          </p:spPr>
          <p:txBody>
            <a:bodyPr wrap="none" lIns="0" tIns="0" rIns="0" bIns="0" anchor="t" anchorCtr="0">
              <a:spAutoFit/>
            </a:bodyPr>
            <a:lstStyle/>
            <a:p>
              <a:pPr algn="l">
                <a:lnSpc>
                  <a:spcPts val="1350"/>
                </a:lnSpc>
              </a:pPr>
              <a:r>
                <a:rPr lang="en-US" sz="900" dirty="0">
                  <a:solidFill>
                    <a:srgbClr val="334155"/>
                  </a:solidFill>
                  <a:latin typeface="+mn-lt"/>
                  <a:ea typeface="+mn-ea"/>
                  <a:cs typeface="+mn-cs"/>
                </a:rPr>
                <a:t>Live GDELT &amp; news feeds ingested and scored via FinBERT and mapped</a:t>
              </a:r>
              <a:br>
                <a:rPr lang="en-US" sz="900" dirty="0">
                  <a:solidFill>
                    <a:srgbClr val="334155"/>
                  </a:solidFill>
                  <a:latin typeface="+mn-lt"/>
                  <a:ea typeface="+mn-ea"/>
                  <a:cs typeface="+mn-cs"/>
                </a:rPr>
              </a:br>
              <a:r>
                <a:rPr lang="en-US" sz="900" dirty="0">
                  <a:solidFill>
                    <a:srgbClr val="334155"/>
                  </a:solidFill>
                  <a:latin typeface="+mn-lt"/>
                  <a:ea typeface="+mn-ea"/>
                  <a:cs typeface="+mn-cs"/>
                </a:rPr>
                <a:t>to event taxonomies with deterministic &lt;75ms sub-second latency.</a:t>
              </a:r>
            </a:p>
          </p:txBody>
        </p:sp>
      </p:grpSp>
      <p:grpSp>
        <p:nvGrpSpPr>
          <p:cNvPr id="37" name="row-overload"/>
          <p:cNvGrpSpPr/>
          <p:nvPr/>
        </p:nvGrpSpPr>
        <p:grpSpPr>
          <a:xfrm>
            <a:off x="571500" y="2933700"/>
            <a:ext cx="11049000" cy="1028700"/>
            <a:chOff x="571500" y="2933700"/>
            <a:chExt cx="11049000" cy="1028700"/>
          </a:xfrm>
        </p:grpSpPr>
        <p:sp>
          <p:nvSpPr>
            <p:cNvPr id="27" name="Rectangle 27"/>
            <p:cNvSpPr/>
            <p:nvPr/>
          </p:nvSpPr>
          <p:spPr>
            <a:xfrm>
              <a:off x="571500" y="2933700"/>
              <a:ext cx="5381625" cy="1028700"/>
            </a:xfrm>
            <a:prstGeom prst="roundRect">
              <a:avLst>
                <a:gd name="adj" fmla="val 7407"/>
              </a:avLst>
            </a:prstGeom>
            <a:solidFill>
              <a:srgbClr val="FFFFFF"/>
            </a:solidFill>
            <a:ln w="9525">
              <a:solidFill>
                <a:schemeClr val="accent6"/>
              </a:solidFill>
            </a:ln>
          </p:spPr>
        </p:sp>
        <p:sp>
          <p:nvSpPr>
            <p:cNvPr id="28" name="Rectangle 28"/>
            <p:cNvSpPr/>
            <p:nvPr/>
          </p:nvSpPr>
          <p:spPr>
            <a:xfrm>
              <a:off x="723900" y="3048000"/>
              <a:ext cx="266700" cy="228600"/>
            </a:xfrm>
            <a:prstGeom prst="roundRect">
              <a:avLst>
                <a:gd name="adj" fmla="val 16667"/>
              </a:avLst>
            </a:prstGeom>
            <a:solidFill>
              <a:srgbClr val="FEE2E2"/>
            </a:solidFill>
            <a:ln>
              <a:noFill/>
            </a:ln>
          </p:spPr>
        </p:sp>
        <p:sp>
          <p:nvSpPr>
            <p:cNvPr id="29" name="TextBox 29"/>
            <p:cNvSpPr txBox="1"/>
            <p:nvPr/>
          </p:nvSpPr>
          <p:spPr>
            <a:xfrm>
              <a:off x="763292" y="3086100"/>
              <a:ext cx="187915" cy="176212"/>
            </a:xfrm>
            <a:prstGeom prst="rect">
              <a:avLst/>
            </a:prstGeom>
            <a:noFill/>
            <a:ln>
              <a:noFill/>
            </a:ln>
          </p:spPr>
          <p:txBody>
            <a:bodyPr wrap="none" lIns="0" tIns="0" rIns="0" bIns="0" anchor="t" anchorCtr="0">
              <a:spAutoFit/>
            </a:bodyPr>
            <a:lstStyle/>
            <a:p>
              <a:pPr algn="ctr"/>
              <a:r>
                <a:rPr lang="en-US" sz="900" b="1" dirty="0">
                  <a:solidFill>
                    <a:schemeClr val="accent3"/>
                  </a:solidFill>
                  <a:latin typeface="+mn-lt"/>
                  <a:ea typeface="+mn-ea"/>
                  <a:cs typeface="+mn-cs"/>
                </a:rPr>
                <a:t>[X]</a:t>
              </a:r>
            </a:p>
          </p:txBody>
        </p:sp>
        <p:sp>
          <p:nvSpPr>
            <p:cNvPr id="30" name="TextBox 30"/>
            <p:cNvSpPr txBox="1"/>
            <p:nvPr/>
          </p:nvSpPr>
          <p:spPr>
            <a:xfrm>
              <a:off x="1080897" y="3073400"/>
              <a:ext cx="3553440" cy="191643"/>
            </a:xfrm>
            <a:prstGeom prst="rect">
              <a:avLst/>
            </a:prstGeom>
            <a:noFill/>
            <a:ln>
              <a:noFill/>
            </a:ln>
          </p:spPr>
          <p:txBody>
            <a:bodyPr wrap="none" lIns="0" tIns="0" rIns="0" bIns="0" anchor="t" anchorCtr="0">
              <a:spAutoFit/>
            </a:bodyPr>
            <a:lstStyle/>
            <a:p>
              <a:pPr algn="l"/>
              <a:r>
                <a:rPr lang="en-US" sz="980" b="1" dirty="0">
                  <a:solidFill>
                    <a:srgbClr val="991B1B"/>
                  </a:solidFill>
                  <a:latin typeface="+mn-lt"/>
                  <a:ea typeface="+mn-ea"/>
                  <a:cs typeface="+mn-cs"/>
                </a:rPr>
                <a:t>Unstructured Information Overload (80% Non-Standard)</a:t>
              </a:r>
            </a:p>
          </p:txBody>
        </p:sp>
        <p:sp>
          <p:nvSpPr>
            <p:cNvPr id="31" name="TextBox 31"/>
            <p:cNvSpPr txBox="1"/>
            <p:nvPr/>
          </p:nvSpPr>
          <p:spPr>
            <a:xfrm>
              <a:off x="719138" y="3327400"/>
              <a:ext cx="3974546" cy="347662"/>
            </a:xfrm>
            <a:prstGeom prst="rect">
              <a:avLst/>
            </a:prstGeom>
            <a:noFill/>
            <a:ln>
              <a:noFill/>
            </a:ln>
          </p:spPr>
          <p:txBody>
            <a:bodyPr wrap="none" lIns="0" tIns="0" rIns="0" bIns="0" anchor="t" anchorCtr="0">
              <a:spAutoFit/>
            </a:bodyPr>
            <a:lstStyle/>
            <a:p>
              <a:pPr algn="l">
                <a:lnSpc>
                  <a:spcPts val="1350"/>
                </a:lnSpc>
              </a:pPr>
              <a:r>
                <a:rPr lang="en-US" sz="900" dirty="0">
                  <a:solidFill>
                    <a:srgbClr val="334155"/>
                  </a:solidFill>
                  <a:latin typeface="+mn-lt"/>
                  <a:ea typeface="+mn-ea"/>
                  <a:cs typeface="+mn-cs"/>
                </a:rPr>
                <a:t>Risk desk analysts drown in thousands of news articles, earnings calls, and</a:t>
              </a:r>
              <a:br>
                <a:rPr lang="en-US" sz="900" dirty="0">
                  <a:solidFill>
                    <a:srgbClr val="334155"/>
                  </a:solidFill>
                  <a:latin typeface="+mn-lt"/>
                  <a:ea typeface="+mn-ea"/>
                  <a:cs typeface="+mn-cs"/>
                </a:rPr>
              </a:br>
              <a:r>
                <a:rPr lang="en-US" sz="900" dirty="0">
                  <a:solidFill>
                    <a:srgbClr val="334155"/>
                  </a:solidFill>
                  <a:latin typeface="+mn-lt"/>
                  <a:ea typeface="+mn-ea"/>
                  <a:cs typeface="+mn-cs"/>
                </a:rPr>
                <a:t>market communiqués, unable to separate genuine solvency signals from noise.</a:t>
              </a:r>
            </a:p>
          </p:txBody>
        </p:sp>
        <p:sp>
          <p:nvSpPr>
            <p:cNvPr id="32" name="Rectangle 32"/>
            <p:cNvSpPr/>
            <p:nvPr/>
          </p:nvSpPr>
          <p:spPr>
            <a:xfrm>
              <a:off x="6238875" y="2933700"/>
              <a:ext cx="5381625" cy="1028700"/>
            </a:xfrm>
            <a:prstGeom prst="roundRect">
              <a:avLst>
                <a:gd name="adj" fmla="val 7407"/>
              </a:avLst>
            </a:prstGeom>
            <a:solidFill>
              <a:srgbClr val="FFFFFF"/>
            </a:solidFill>
            <a:ln w="9525">
              <a:solidFill>
                <a:schemeClr val="accent6"/>
              </a:solidFill>
            </a:ln>
          </p:spPr>
        </p:sp>
        <p:sp>
          <p:nvSpPr>
            <p:cNvPr id="33" name="Rectangle 33"/>
            <p:cNvSpPr/>
            <p:nvPr/>
          </p:nvSpPr>
          <p:spPr>
            <a:xfrm>
              <a:off x="6391275" y="3048000"/>
              <a:ext cx="266700" cy="228600"/>
            </a:xfrm>
            <a:prstGeom prst="roundRect">
              <a:avLst>
                <a:gd name="adj" fmla="val 16667"/>
              </a:avLst>
            </a:prstGeom>
            <a:solidFill>
              <a:srgbClr val="D1FAE5"/>
            </a:solidFill>
            <a:ln>
              <a:noFill/>
            </a:ln>
          </p:spPr>
        </p:sp>
        <p:sp>
          <p:nvSpPr>
            <p:cNvPr id="34" name="TextBox 34"/>
            <p:cNvSpPr txBox="1"/>
            <p:nvPr/>
          </p:nvSpPr>
          <p:spPr>
            <a:xfrm>
              <a:off x="6432314" y="3086100"/>
              <a:ext cx="184623" cy="176212"/>
            </a:xfrm>
            <a:prstGeom prst="rect">
              <a:avLst/>
            </a:prstGeom>
            <a:noFill/>
            <a:ln>
              <a:noFill/>
            </a:ln>
          </p:spPr>
          <p:txBody>
            <a:bodyPr wrap="none" lIns="0" tIns="0" rIns="0" bIns="0" anchor="t" anchorCtr="0">
              <a:spAutoFit/>
            </a:bodyPr>
            <a:lstStyle/>
            <a:p>
              <a:pPr algn="ctr"/>
              <a:r>
                <a:rPr lang="en-US" sz="900" b="1" dirty="0">
                  <a:solidFill>
                    <a:schemeClr val="accent2"/>
                  </a:solidFill>
                  <a:latin typeface="+mn-lt"/>
                  <a:ea typeface="+mn-ea"/>
                  <a:cs typeface="+mn-cs"/>
                </a:rPr>
                <a:t>[+]</a:t>
              </a:r>
            </a:p>
          </p:txBody>
        </p:sp>
        <p:sp>
          <p:nvSpPr>
            <p:cNvPr id="35" name="TextBox 35"/>
            <p:cNvSpPr txBox="1"/>
            <p:nvPr/>
          </p:nvSpPr>
          <p:spPr>
            <a:xfrm>
              <a:off x="6748272" y="3073400"/>
              <a:ext cx="2880137" cy="191643"/>
            </a:xfrm>
            <a:prstGeom prst="rect">
              <a:avLst/>
            </a:prstGeom>
            <a:noFill/>
            <a:ln>
              <a:noFill/>
            </a:ln>
          </p:spPr>
          <p:txBody>
            <a:bodyPr wrap="none" lIns="0" tIns="0" rIns="0" bIns="0" anchor="t" anchorCtr="0">
              <a:spAutoFit/>
            </a:bodyPr>
            <a:lstStyle/>
            <a:p>
              <a:pPr algn="l"/>
              <a:r>
                <a:rPr lang="en-US" sz="980" b="1" dirty="0">
                  <a:solidFill>
                    <a:srgbClr val="065F46"/>
                  </a:solidFill>
                  <a:latin typeface="+mn-lt"/>
                  <a:ea typeface="+mn-ea"/>
                  <a:cs typeface="+mn-cs"/>
                </a:rPr>
                <a:t>Explainable Multi-Factor Impact Scorer (1–10)</a:t>
              </a:r>
            </a:p>
          </p:txBody>
        </p:sp>
        <p:sp>
          <p:nvSpPr>
            <p:cNvPr id="36" name="TextBox 36"/>
            <p:cNvSpPr txBox="1"/>
            <p:nvPr/>
          </p:nvSpPr>
          <p:spPr>
            <a:xfrm>
              <a:off x="6386512" y="3327400"/>
              <a:ext cx="3578348" cy="347662"/>
            </a:xfrm>
            <a:prstGeom prst="rect">
              <a:avLst/>
            </a:prstGeom>
            <a:noFill/>
            <a:ln>
              <a:noFill/>
            </a:ln>
          </p:spPr>
          <p:txBody>
            <a:bodyPr wrap="none" lIns="0" tIns="0" rIns="0" bIns="0" anchor="t" anchorCtr="0">
              <a:spAutoFit/>
            </a:bodyPr>
            <a:lstStyle/>
            <a:p>
              <a:pPr algn="l">
                <a:lnSpc>
                  <a:spcPts val="1350"/>
                </a:lnSpc>
              </a:pPr>
              <a:r>
                <a:rPr lang="en-US" sz="900" dirty="0">
                  <a:solidFill>
                    <a:srgbClr val="334155"/>
                  </a:solidFill>
                  <a:latin typeface="+mn-lt"/>
                  <a:ea typeface="+mn-ea"/>
                  <a:cs typeface="+mn-cs"/>
                </a:rPr>
                <a:t>Mathematically grounded fusion weighting 35% Sentiment Magnitude,</a:t>
              </a:r>
              <a:br>
                <a:rPr lang="en-US" sz="900" dirty="0">
                  <a:solidFill>
                    <a:srgbClr val="334155"/>
                  </a:solidFill>
                  <a:latin typeface="+mn-lt"/>
                  <a:ea typeface="+mn-ea"/>
                  <a:cs typeface="+mn-cs"/>
                </a:rPr>
              </a:br>
              <a:r>
                <a:rPr lang="en-US" sz="900" dirty="0">
                  <a:solidFill>
                    <a:srgbClr val="334155"/>
                  </a:solidFill>
                  <a:latin typeface="+mn-lt"/>
                  <a:ea typeface="+mn-ea"/>
                  <a:cs typeface="+mn-cs"/>
                </a:rPr>
                <a:t>35% Event Severity, and 30% Source Credibility for noise immunity.</a:t>
              </a:r>
            </a:p>
          </p:txBody>
        </p:sp>
      </p:grpSp>
      <p:grpSp>
        <p:nvGrpSpPr>
          <p:cNvPr id="48" name="row-disconnect"/>
          <p:cNvGrpSpPr/>
          <p:nvPr/>
        </p:nvGrpSpPr>
        <p:grpSpPr>
          <a:xfrm>
            <a:off x="571500" y="4057650"/>
            <a:ext cx="11049000" cy="1028700"/>
            <a:chOff x="571500" y="4057650"/>
            <a:chExt cx="11049000" cy="1028700"/>
          </a:xfrm>
        </p:grpSpPr>
        <p:sp>
          <p:nvSpPr>
            <p:cNvPr id="38" name="Rectangle 38"/>
            <p:cNvSpPr/>
            <p:nvPr/>
          </p:nvSpPr>
          <p:spPr>
            <a:xfrm>
              <a:off x="571500" y="4057650"/>
              <a:ext cx="5381625" cy="1028700"/>
            </a:xfrm>
            <a:prstGeom prst="roundRect">
              <a:avLst>
                <a:gd name="adj" fmla="val 7407"/>
              </a:avLst>
            </a:prstGeom>
            <a:solidFill>
              <a:srgbClr val="FFFFFF"/>
            </a:solidFill>
            <a:ln w="9525">
              <a:solidFill>
                <a:schemeClr val="accent6"/>
              </a:solidFill>
            </a:ln>
          </p:spPr>
        </p:sp>
        <p:sp>
          <p:nvSpPr>
            <p:cNvPr id="39" name="Rectangle 39"/>
            <p:cNvSpPr/>
            <p:nvPr/>
          </p:nvSpPr>
          <p:spPr>
            <a:xfrm>
              <a:off x="723900" y="4171950"/>
              <a:ext cx="266700" cy="228600"/>
            </a:xfrm>
            <a:prstGeom prst="roundRect">
              <a:avLst>
                <a:gd name="adj" fmla="val 16667"/>
              </a:avLst>
            </a:prstGeom>
            <a:solidFill>
              <a:srgbClr val="FEE2E2"/>
            </a:solidFill>
            <a:ln>
              <a:noFill/>
            </a:ln>
          </p:spPr>
        </p:sp>
        <p:sp>
          <p:nvSpPr>
            <p:cNvPr id="40" name="TextBox 40"/>
            <p:cNvSpPr txBox="1"/>
            <p:nvPr/>
          </p:nvSpPr>
          <p:spPr>
            <a:xfrm>
              <a:off x="763292" y="4210050"/>
              <a:ext cx="187915" cy="176212"/>
            </a:xfrm>
            <a:prstGeom prst="rect">
              <a:avLst/>
            </a:prstGeom>
            <a:noFill/>
            <a:ln>
              <a:noFill/>
            </a:ln>
          </p:spPr>
          <p:txBody>
            <a:bodyPr wrap="none" lIns="0" tIns="0" rIns="0" bIns="0" anchor="t" anchorCtr="0">
              <a:spAutoFit/>
            </a:bodyPr>
            <a:lstStyle/>
            <a:p>
              <a:pPr algn="ctr"/>
              <a:r>
                <a:rPr lang="en-US" sz="900" b="1" dirty="0">
                  <a:solidFill>
                    <a:schemeClr val="accent3"/>
                  </a:solidFill>
                  <a:latin typeface="+mn-lt"/>
                  <a:ea typeface="+mn-ea"/>
                  <a:cs typeface="+mn-cs"/>
                </a:rPr>
                <a:t>[X]</a:t>
              </a:r>
            </a:p>
          </p:txBody>
        </p:sp>
        <p:sp>
          <p:nvSpPr>
            <p:cNvPr id="41" name="TextBox 41"/>
            <p:cNvSpPr txBox="1"/>
            <p:nvPr/>
          </p:nvSpPr>
          <p:spPr>
            <a:xfrm>
              <a:off x="1080897" y="4197350"/>
              <a:ext cx="3217273" cy="191643"/>
            </a:xfrm>
            <a:prstGeom prst="rect">
              <a:avLst/>
            </a:prstGeom>
            <a:noFill/>
            <a:ln>
              <a:noFill/>
            </a:ln>
          </p:spPr>
          <p:txBody>
            <a:bodyPr wrap="none" lIns="0" tIns="0" rIns="0" bIns="0" anchor="t" anchorCtr="0">
              <a:spAutoFit/>
            </a:bodyPr>
            <a:lstStyle/>
            <a:p>
              <a:pPr algn="l"/>
              <a:r>
                <a:rPr lang="en-US" sz="980" b="1" dirty="0">
                  <a:solidFill>
                    <a:srgbClr val="991B1B"/>
                  </a:solidFill>
                  <a:latin typeface="+mn-lt"/>
                  <a:ea typeface="+mn-ea"/>
                  <a:cs typeface="+mn-cs"/>
                </a:rPr>
                <a:t>Disconnect from Portfolio Capital &amp; Balance Sheets</a:t>
              </a:r>
            </a:p>
          </p:txBody>
        </p:sp>
        <p:sp>
          <p:nvSpPr>
            <p:cNvPr id="42" name="TextBox 42"/>
            <p:cNvSpPr txBox="1"/>
            <p:nvPr/>
          </p:nvSpPr>
          <p:spPr>
            <a:xfrm>
              <a:off x="719138" y="4451350"/>
              <a:ext cx="3896399" cy="347662"/>
            </a:xfrm>
            <a:prstGeom prst="rect">
              <a:avLst/>
            </a:prstGeom>
            <a:noFill/>
            <a:ln>
              <a:noFill/>
            </a:ln>
          </p:spPr>
          <p:txBody>
            <a:bodyPr wrap="none" lIns="0" tIns="0" rIns="0" bIns="0" anchor="t" anchorCtr="0">
              <a:spAutoFit/>
            </a:bodyPr>
            <a:lstStyle/>
            <a:p>
              <a:pPr algn="l">
                <a:lnSpc>
                  <a:spcPts val="1350"/>
                </a:lnSpc>
              </a:pPr>
              <a:r>
                <a:rPr lang="en-US" sz="900" dirty="0">
                  <a:solidFill>
                    <a:srgbClr val="334155"/>
                  </a:solidFill>
                  <a:latin typeface="+mn-lt"/>
                  <a:ea typeface="+mn-ea"/>
                  <a:cs typeface="+mn-cs"/>
                </a:rPr>
                <a:t>NLP sentiment tools classify sentiment in pure isolation without translating</a:t>
              </a:r>
              <a:br>
                <a:rPr lang="en-US" sz="900" dirty="0">
                  <a:solidFill>
                    <a:srgbClr val="334155"/>
                  </a:solidFill>
                  <a:latin typeface="+mn-lt"/>
                  <a:ea typeface="+mn-ea"/>
                  <a:cs typeface="+mn-cs"/>
                </a:rPr>
              </a:br>
              <a:r>
                <a:rPr lang="en-US" sz="900" dirty="0">
                  <a:solidFill>
                    <a:srgbClr val="334155"/>
                  </a:solidFill>
                  <a:latin typeface="+mn-lt"/>
                  <a:ea typeface="+mn-ea"/>
                  <a:cs typeface="+mn-cs"/>
                </a:rPr>
                <a:t>headlines into quantitative portfolio drawdowns or capital buffer impairment.</a:t>
              </a:r>
            </a:p>
          </p:txBody>
        </p:sp>
        <p:sp>
          <p:nvSpPr>
            <p:cNvPr id="43" name="Rectangle 43"/>
            <p:cNvSpPr/>
            <p:nvPr/>
          </p:nvSpPr>
          <p:spPr>
            <a:xfrm>
              <a:off x="6238875" y="4057650"/>
              <a:ext cx="5381625" cy="1028700"/>
            </a:xfrm>
            <a:prstGeom prst="roundRect">
              <a:avLst>
                <a:gd name="adj" fmla="val 7407"/>
              </a:avLst>
            </a:prstGeom>
            <a:solidFill>
              <a:srgbClr val="FFFFFF"/>
            </a:solidFill>
            <a:ln w="9525">
              <a:solidFill>
                <a:schemeClr val="accent6"/>
              </a:solidFill>
            </a:ln>
          </p:spPr>
        </p:sp>
        <p:sp>
          <p:nvSpPr>
            <p:cNvPr id="44" name="Rectangle 44"/>
            <p:cNvSpPr/>
            <p:nvPr/>
          </p:nvSpPr>
          <p:spPr>
            <a:xfrm>
              <a:off x="6391275" y="4171950"/>
              <a:ext cx="266700" cy="228600"/>
            </a:xfrm>
            <a:prstGeom prst="roundRect">
              <a:avLst>
                <a:gd name="adj" fmla="val 16667"/>
              </a:avLst>
            </a:prstGeom>
            <a:solidFill>
              <a:srgbClr val="D1FAE5"/>
            </a:solidFill>
            <a:ln>
              <a:noFill/>
            </a:ln>
          </p:spPr>
        </p:sp>
        <p:sp>
          <p:nvSpPr>
            <p:cNvPr id="45" name="TextBox 45"/>
            <p:cNvSpPr txBox="1"/>
            <p:nvPr/>
          </p:nvSpPr>
          <p:spPr>
            <a:xfrm>
              <a:off x="6432314" y="4210050"/>
              <a:ext cx="184623" cy="176212"/>
            </a:xfrm>
            <a:prstGeom prst="rect">
              <a:avLst/>
            </a:prstGeom>
            <a:noFill/>
            <a:ln>
              <a:noFill/>
            </a:ln>
          </p:spPr>
          <p:txBody>
            <a:bodyPr wrap="none" lIns="0" tIns="0" rIns="0" bIns="0" anchor="t" anchorCtr="0">
              <a:spAutoFit/>
            </a:bodyPr>
            <a:lstStyle/>
            <a:p>
              <a:pPr algn="ctr"/>
              <a:r>
                <a:rPr lang="en-US" sz="900" b="1" dirty="0">
                  <a:solidFill>
                    <a:schemeClr val="accent2"/>
                  </a:solidFill>
                  <a:latin typeface="+mn-lt"/>
                  <a:ea typeface="+mn-ea"/>
                  <a:cs typeface="+mn-cs"/>
                </a:rPr>
                <a:t>[+]</a:t>
              </a:r>
            </a:p>
          </p:txBody>
        </p:sp>
        <p:sp>
          <p:nvSpPr>
            <p:cNvPr id="46" name="TextBox 46"/>
            <p:cNvSpPr txBox="1"/>
            <p:nvPr/>
          </p:nvSpPr>
          <p:spPr>
            <a:xfrm>
              <a:off x="6748272" y="4197350"/>
              <a:ext cx="3295704" cy="191643"/>
            </a:xfrm>
            <a:prstGeom prst="rect">
              <a:avLst/>
            </a:prstGeom>
            <a:noFill/>
            <a:ln>
              <a:noFill/>
            </a:ln>
          </p:spPr>
          <p:txBody>
            <a:bodyPr wrap="none" lIns="0" tIns="0" rIns="0" bIns="0" anchor="t" anchorCtr="0">
              <a:spAutoFit/>
            </a:bodyPr>
            <a:lstStyle/>
            <a:p>
              <a:pPr algn="l"/>
              <a:r>
                <a:rPr lang="en-US" sz="980" b="1" dirty="0">
                  <a:solidFill>
                    <a:srgbClr val="065F46"/>
                  </a:solidFill>
                  <a:latin typeface="+mn-lt"/>
                  <a:ea typeface="+mn-ea"/>
                  <a:cs typeface="+mn-cs"/>
                </a:rPr>
                <a:t>Automated Portfolio Stress Testing Engine (Rule A1)</a:t>
              </a:r>
            </a:p>
          </p:txBody>
        </p:sp>
        <p:sp>
          <p:nvSpPr>
            <p:cNvPr id="47" name="TextBox 47"/>
            <p:cNvSpPr txBox="1"/>
            <p:nvPr/>
          </p:nvSpPr>
          <p:spPr>
            <a:xfrm>
              <a:off x="6386512" y="4451350"/>
              <a:ext cx="3879974" cy="347662"/>
            </a:xfrm>
            <a:prstGeom prst="rect">
              <a:avLst/>
            </a:prstGeom>
            <a:noFill/>
            <a:ln>
              <a:noFill/>
            </a:ln>
          </p:spPr>
          <p:txBody>
            <a:bodyPr wrap="none" lIns="0" tIns="0" rIns="0" bIns="0" anchor="t" anchorCtr="0">
              <a:spAutoFit/>
            </a:bodyPr>
            <a:lstStyle/>
            <a:p>
              <a:pPr algn="l">
                <a:lnSpc>
                  <a:spcPts val="1350"/>
                </a:lnSpc>
              </a:pPr>
              <a:r>
                <a:rPr lang="en-US" sz="900" dirty="0">
                  <a:solidFill>
                    <a:srgbClr val="334155"/>
                  </a:solidFill>
                  <a:latin typeface="+mn-lt"/>
                  <a:ea typeface="+mn-ea"/>
                  <a:cs typeface="+mn-cs"/>
                </a:rPr>
                <a:t>IF Impact Score &gt;= 7, the engine immediately shocks the $585M institutional</a:t>
              </a:r>
              <a:br>
                <a:rPr lang="en-US" sz="900" dirty="0">
                  <a:solidFill>
                    <a:srgbClr val="334155"/>
                  </a:solidFill>
                  <a:latin typeface="+mn-lt"/>
                  <a:ea typeface="+mn-ea"/>
                  <a:cs typeface="+mn-cs"/>
                </a:rPr>
              </a:br>
              <a:r>
                <a:rPr lang="en-US" sz="900" dirty="0">
                  <a:solidFill>
                    <a:srgbClr val="334155"/>
                  </a:solidFill>
                  <a:latin typeface="+mn-lt"/>
                  <a:ea typeface="+mn-ea"/>
                  <a:cs typeface="+mn-cs"/>
                </a:rPr>
                <a:t>portfolio across bonds, equities, commercial loans, and derivative overlays.</a:t>
              </a:r>
            </a:p>
          </p:txBody>
        </p:sp>
      </p:grpSp>
      <p:grpSp>
        <p:nvGrpSpPr>
          <p:cNvPr id="59" name="row-opacity"/>
          <p:cNvGrpSpPr/>
          <p:nvPr/>
        </p:nvGrpSpPr>
        <p:grpSpPr>
          <a:xfrm>
            <a:off x="571500" y="5181600"/>
            <a:ext cx="11049000" cy="1028700"/>
            <a:chOff x="571500" y="5181600"/>
            <a:chExt cx="11049000" cy="1028700"/>
          </a:xfrm>
        </p:grpSpPr>
        <p:sp>
          <p:nvSpPr>
            <p:cNvPr id="49" name="Rectangle 49"/>
            <p:cNvSpPr/>
            <p:nvPr/>
          </p:nvSpPr>
          <p:spPr>
            <a:xfrm>
              <a:off x="571500" y="5181600"/>
              <a:ext cx="5381625" cy="1028700"/>
            </a:xfrm>
            <a:prstGeom prst="roundRect">
              <a:avLst>
                <a:gd name="adj" fmla="val 7407"/>
              </a:avLst>
            </a:prstGeom>
            <a:solidFill>
              <a:srgbClr val="FFFFFF"/>
            </a:solidFill>
            <a:ln w="9525">
              <a:solidFill>
                <a:schemeClr val="accent6"/>
              </a:solidFill>
            </a:ln>
          </p:spPr>
        </p:sp>
        <p:sp>
          <p:nvSpPr>
            <p:cNvPr id="50" name="Rectangle 50"/>
            <p:cNvSpPr/>
            <p:nvPr/>
          </p:nvSpPr>
          <p:spPr>
            <a:xfrm>
              <a:off x="723900" y="5295900"/>
              <a:ext cx="266700" cy="228600"/>
            </a:xfrm>
            <a:prstGeom prst="roundRect">
              <a:avLst>
                <a:gd name="adj" fmla="val 16667"/>
              </a:avLst>
            </a:prstGeom>
            <a:solidFill>
              <a:srgbClr val="FEE2E2"/>
            </a:solidFill>
            <a:ln>
              <a:noFill/>
            </a:ln>
          </p:spPr>
        </p:sp>
        <p:sp>
          <p:nvSpPr>
            <p:cNvPr id="51" name="TextBox 51"/>
            <p:cNvSpPr txBox="1"/>
            <p:nvPr/>
          </p:nvSpPr>
          <p:spPr>
            <a:xfrm>
              <a:off x="763292" y="5334000"/>
              <a:ext cx="187915" cy="176212"/>
            </a:xfrm>
            <a:prstGeom prst="rect">
              <a:avLst/>
            </a:prstGeom>
            <a:noFill/>
            <a:ln>
              <a:noFill/>
            </a:ln>
          </p:spPr>
          <p:txBody>
            <a:bodyPr wrap="none" lIns="0" tIns="0" rIns="0" bIns="0" anchor="t" anchorCtr="0">
              <a:spAutoFit/>
            </a:bodyPr>
            <a:lstStyle/>
            <a:p>
              <a:pPr algn="ctr"/>
              <a:r>
                <a:rPr lang="en-US" sz="900" b="1" dirty="0">
                  <a:solidFill>
                    <a:schemeClr val="accent3"/>
                  </a:solidFill>
                  <a:latin typeface="+mn-lt"/>
                  <a:ea typeface="+mn-ea"/>
                  <a:cs typeface="+mn-cs"/>
                </a:rPr>
                <a:t>[X]</a:t>
              </a:r>
            </a:p>
          </p:txBody>
        </p:sp>
        <p:sp>
          <p:nvSpPr>
            <p:cNvPr id="52" name="TextBox 52"/>
            <p:cNvSpPr txBox="1"/>
            <p:nvPr/>
          </p:nvSpPr>
          <p:spPr>
            <a:xfrm>
              <a:off x="1080897" y="5321300"/>
              <a:ext cx="2542385" cy="191643"/>
            </a:xfrm>
            <a:prstGeom prst="rect">
              <a:avLst/>
            </a:prstGeom>
            <a:noFill/>
            <a:ln>
              <a:noFill/>
            </a:ln>
          </p:spPr>
          <p:txBody>
            <a:bodyPr wrap="none" lIns="0" tIns="0" rIns="0" bIns="0" anchor="t" anchorCtr="0">
              <a:spAutoFit/>
            </a:bodyPr>
            <a:lstStyle/>
            <a:p>
              <a:pPr algn="l"/>
              <a:r>
                <a:rPr lang="en-US" sz="980" b="1" dirty="0">
                  <a:solidFill>
                    <a:srgbClr val="991B1B"/>
                  </a:solidFill>
                  <a:latin typeface="+mn-lt"/>
                  <a:ea typeface="+mn-ea"/>
                  <a:cs typeface="+mn-cs"/>
                </a:rPr>
                <a:t>Black-Box LLM Hallucinations &amp; Latency</a:t>
              </a:r>
            </a:p>
          </p:txBody>
        </p:sp>
        <p:sp>
          <p:nvSpPr>
            <p:cNvPr id="53" name="TextBox 53"/>
            <p:cNvSpPr txBox="1"/>
            <p:nvPr/>
          </p:nvSpPr>
          <p:spPr>
            <a:xfrm>
              <a:off x="719138" y="5575300"/>
              <a:ext cx="3762417" cy="347662"/>
            </a:xfrm>
            <a:prstGeom prst="rect">
              <a:avLst/>
            </a:prstGeom>
            <a:noFill/>
            <a:ln>
              <a:noFill/>
            </a:ln>
          </p:spPr>
          <p:txBody>
            <a:bodyPr wrap="none" lIns="0" tIns="0" rIns="0" bIns="0" anchor="t" anchorCtr="0">
              <a:spAutoFit/>
            </a:bodyPr>
            <a:lstStyle/>
            <a:p>
              <a:pPr algn="l">
                <a:lnSpc>
                  <a:spcPts val="1350"/>
                </a:lnSpc>
              </a:pPr>
              <a:r>
                <a:rPr lang="en-US" sz="900" dirty="0">
                  <a:solidFill>
                    <a:srgbClr val="334155"/>
                  </a:solidFill>
                  <a:latin typeface="+mn-lt"/>
                  <a:ea typeface="+mn-ea"/>
                  <a:cs typeface="+mn-cs"/>
                </a:rPr>
                <a:t>Trading desks reject opaque generative AI summaries lacking reproducible</a:t>
              </a:r>
              <a:br>
                <a:rPr lang="en-US" sz="900" dirty="0">
                  <a:solidFill>
                    <a:srgbClr val="334155"/>
                  </a:solidFill>
                  <a:latin typeface="+mn-lt"/>
                  <a:ea typeface="+mn-ea"/>
                  <a:cs typeface="+mn-cs"/>
                </a:rPr>
              </a:br>
              <a:r>
                <a:rPr lang="en-US" sz="900" dirty="0">
                  <a:solidFill>
                    <a:srgbClr val="334155"/>
                  </a:solidFill>
                  <a:latin typeface="+mn-lt"/>
                  <a:ea typeface="+mn-ea"/>
                  <a:cs typeface="+mn-cs"/>
                </a:rPr>
                <a:t>financial mathematics and verifiable regulatory audit trails.</a:t>
              </a:r>
            </a:p>
          </p:txBody>
        </p:sp>
        <p:sp>
          <p:nvSpPr>
            <p:cNvPr id="54" name="Rectangle 54"/>
            <p:cNvSpPr/>
            <p:nvPr/>
          </p:nvSpPr>
          <p:spPr>
            <a:xfrm>
              <a:off x="6238875" y="5181600"/>
              <a:ext cx="5381625" cy="1028700"/>
            </a:xfrm>
            <a:prstGeom prst="roundRect">
              <a:avLst>
                <a:gd name="adj" fmla="val 7407"/>
              </a:avLst>
            </a:prstGeom>
            <a:solidFill>
              <a:srgbClr val="FFFFFF"/>
            </a:solidFill>
            <a:ln w="9525">
              <a:solidFill>
                <a:schemeClr val="accent6"/>
              </a:solidFill>
            </a:ln>
          </p:spPr>
        </p:sp>
        <p:sp>
          <p:nvSpPr>
            <p:cNvPr id="55" name="Rectangle 55"/>
            <p:cNvSpPr/>
            <p:nvPr/>
          </p:nvSpPr>
          <p:spPr>
            <a:xfrm>
              <a:off x="6391275" y="5295900"/>
              <a:ext cx="266700" cy="228600"/>
            </a:xfrm>
            <a:prstGeom prst="roundRect">
              <a:avLst>
                <a:gd name="adj" fmla="val 16667"/>
              </a:avLst>
            </a:prstGeom>
            <a:solidFill>
              <a:srgbClr val="D1FAE5"/>
            </a:solidFill>
            <a:ln>
              <a:noFill/>
            </a:ln>
          </p:spPr>
        </p:sp>
        <p:sp>
          <p:nvSpPr>
            <p:cNvPr id="56" name="TextBox 56"/>
            <p:cNvSpPr txBox="1"/>
            <p:nvPr/>
          </p:nvSpPr>
          <p:spPr>
            <a:xfrm>
              <a:off x="6432314" y="5334000"/>
              <a:ext cx="184623" cy="176212"/>
            </a:xfrm>
            <a:prstGeom prst="rect">
              <a:avLst/>
            </a:prstGeom>
            <a:noFill/>
            <a:ln>
              <a:noFill/>
            </a:ln>
          </p:spPr>
          <p:txBody>
            <a:bodyPr wrap="none" lIns="0" tIns="0" rIns="0" bIns="0" anchor="t" anchorCtr="0">
              <a:spAutoFit/>
            </a:bodyPr>
            <a:lstStyle/>
            <a:p>
              <a:pPr algn="ctr"/>
              <a:r>
                <a:rPr lang="en-US" sz="900" b="1" dirty="0">
                  <a:solidFill>
                    <a:schemeClr val="accent2"/>
                  </a:solidFill>
                  <a:latin typeface="+mn-lt"/>
                  <a:ea typeface="+mn-ea"/>
                  <a:cs typeface="+mn-cs"/>
                </a:rPr>
                <a:t>[+]</a:t>
              </a:r>
            </a:p>
          </p:txBody>
        </p:sp>
        <p:sp>
          <p:nvSpPr>
            <p:cNvPr id="57" name="TextBox 57"/>
            <p:cNvSpPr txBox="1"/>
            <p:nvPr/>
          </p:nvSpPr>
          <p:spPr>
            <a:xfrm>
              <a:off x="6748272" y="5321300"/>
              <a:ext cx="2794781" cy="191643"/>
            </a:xfrm>
            <a:prstGeom prst="rect">
              <a:avLst/>
            </a:prstGeom>
            <a:noFill/>
            <a:ln>
              <a:noFill/>
            </a:ln>
          </p:spPr>
          <p:txBody>
            <a:bodyPr wrap="none" lIns="0" tIns="0" rIns="0" bIns="0" anchor="t" anchorCtr="0">
              <a:spAutoFit/>
            </a:bodyPr>
            <a:lstStyle/>
            <a:p>
              <a:pPr algn="l"/>
              <a:r>
                <a:rPr lang="en-US" sz="980" b="1" dirty="0">
                  <a:solidFill>
                    <a:srgbClr val="065F46"/>
                  </a:solidFill>
                  <a:latin typeface="+mn-lt"/>
                  <a:ea typeface="+mn-ea"/>
                  <a:cs typeface="+mn-cs"/>
                </a:rPr>
                <a:t>Full Capital Traceability &amp; Interactive Visuals</a:t>
              </a:r>
            </a:p>
          </p:txBody>
        </p:sp>
        <p:sp>
          <p:nvSpPr>
            <p:cNvPr id="58" name="TextBox 58"/>
            <p:cNvSpPr txBox="1"/>
            <p:nvPr/>
          </p:nvSpPr>
          <p:spPr>
            <a:xfrm>
              <a:off x="6386512" y="5575300"/>
              <a:ext cx="3779573" cy="347662"/>
            </a:xfrm>
            <a:prstGeom prst="rect">
              <a:avLst/>
            </a:prstGeom>
            <a:noFill/>
            <a:ln>
              <a:noFill/>
            </a:ln>
          </p:spPr>
          <p:txBody>
            <a:bodyPr wrap="none" lIns="0" tIns="0" rIns="0" bIns="0" anchor="t" anchorCtr="0">
              <a:spAutoFit/>
            </a:bodyPr>
            <a:lstStyle/>
            <a:p>
              <a:pPr algn="l">
                <a:lnSpc>
                  <a:spcPts val="1350"/>
                </a:lnSpc>
              </a:pPr>
              <a:r>
                <a:rPr lang="en-US" sz="900" dirty="0">
                  <a:solidFill>
                    <a:srgbClr val="334155"/>
                  </a:solidFill>
                  <a:latin typeface="+mn-lt"/>
                  <a:ea typeface="+mn-ea"/>
                  <a:cs typeface="+mn-cs"/>
                </a:rPr>
                <a:t>Institutional terminal rendering waterfall drawdowns, asset delta charts,</a:t>
              </a:r>
              <a:br>
                <a:rPr lang="en-US" sz="900" dirty="0">
                  <a:solidFill>
                    <a:srgbClr val="334155"/>
                  </a:solidFill>
                  <a:latin typeface="+mn-lt"/>
                  <a:ea typeface="+mn-ea"/>
                  <a:cs typeface="+mn-cs"/>
                </a:rPr>
              </a:br>
              <a:r>
                <a:rPr lang="en-US" sz="900" dirty="0">
                  <a:solidFill>
                    <a:srgbClr val="334155"/>
                  </a:solidFill>
                  <a:latin typeface="+mn-lt"/>
                  <a:ea typeface="+mn-ea"/>
                  <a:cs typeface="+mn-cs"/>
                </a:rPr>
                <a:t>and immutable PostgreSQL audit logs with full mathematical explainability.</a:t>
              </a:r>
            </a:p>
          </p:txBody>
        </p:sp>
      </p:grpSp>
      <p:grpSp>
        <p:nvGrpSpPr>
          <p:cNvPr id="63" name="footer"/>
          <p:cNvGrpSpPr/>
          <p:nvPr/>
        </p:nvGrpSpPr>
        <p:grpSpPr>
          <a:xfrm>
            <a:off x="566738" y="6381750"/>
            <a:ext cx="11058525" cy="288925"/>
            <a:chOff x="566738" y="6381750"/>
            <a:chExt cx="11058525" cy="288925"/>
          </a:xfrm>
        </p:grpSpPr>
        <p:sp>
          <p:nvSpPr>
            <p:cNvPr id="60" name="Line 60"/>
            <p:cNvSpPr/>
            <p:nvPr/>
          </p:nvSpPr>
          <p:spPr>
            <a:xfrm>
              <a:off x="571500" y="6381750"/>
              <a:ext cx="11049000" cy="9525"/>
            </a:xfrm>
            <a:custGeom>
              <a:avLst/>
              <a:gdLst/>
              <a:ahLst/>
              <a:cxnLst/>
              <a:rect l="l" t="t" r="r" b="b"/>
              <a:pathLst>
                <a:path w="11049000" h="9525">
                  <a:moveTo>
                    <a:pt x="0" y="0"/>
                  </a:moveTo>
                  <a:lnTo>
                    <a:pt x="11049000" y="0"/>
                  </a:lnTo>
                </a:path>
              </a:pathLst>
            </a:custGeom>
            <a:noFill/>
            <a:ln w="9525">
              <a:solidFill>
                <a:srgbClr val="E2E8F0"/>
              </a:solidFill>
            </a:ln>
          </p:spPr>
        </p:sp>
        <p:sp>
          <p:nvSpPr>
            <p:cNvPr id="61" name="TextBox 61"/>
            <p:cNvSpPr txBox="1"/>
            <p:nvPr/>
          </p:nvSpPr>
          <p:spPr>
            <a:xfrm>
              <a:off x="566738" y="6508750"/>
              <a:ext cx="3866403" cy="161925"/>
            </a:xfrm>
            <a:prstGeom prst="rect">
              <a:avLst/>
            </a:prstGeom>
            <a:noFill/>
            <a:ln>
              <a:noFill/>
            </a:ln>
          </p:spPr>
          <p:txBody>
            <a:bodyPr wrap="none" lIns="0" tIns="0" rIns="0" bIns="0" anchor="t" anchorCtr="0">
              <a:spAutoFit/>
            </a:bodyPr>
            <a:lstStyle/>
            <a:p>
              <a:pPr algn="l"/>
              <a:r>
                <a:rPr lang="en-US" sz="820" dirty="0">
                  <a:solidFill>
                    <a:srgbClr val="64748B"/>
                  </a:solidFill>
                  <a:latin typeface="+mn-lt"/>
                  <a:ea typeface="+mn-ea"/>
                  <a:cs typeface="+mn-cs"/>
                </a:rPr>
                <a:t>S&amp;P Global &amp; CRISIL Campus Hackathon 2026 | Candidate: Mritunjay Senapati</a:t>
              </a:r>
            </a:p>
          </p:txBody>
        </p:sp>
        <p:sp>
          <p:nvSpPr>
            <p:cNvPr id="62" name="TextBox 62"/>
            <p:cNvSpPr txBox="1"/>
            <p:nvPr/>
          </p:nvSpPr>
          <p:spPr>
            <a:xfrm>
              <a:off x="9075529" y="6508750"/>
              <a:ext cx="2549734" cy="161925"/>
            </a:xfrm>
            <a:prstGeom prst="rect">
              <a:avLst/>
            </a:prstGeom>
            <a:noFill/>
            <a:ln>
              <a:noFill/>
            </a:ln>
          </p:spPr>
          <p:txBody>
            <a:bodyPr wrap="none" lIns="0" tIns="0" rIns="0" bIns="0" anchor="t" anchorCtr="0">
              <a:spAutoFit/>
            </a:bodyPr>
            <a:lstStyle/>
            <a:p>
              <a:pPr algn="r"/>
              <a:r>
                <a:rPr lang="en-US" sz="820" dirty="0">
                  <a:solidFill>
                    <a:srgbClr val="64748B"/>
                  </a:solidFill>
                  <a:latin typeface="+mn-lt"/>
                  <a:ea typeface="+mn-ea"/>
                  <a:cs typeface="+mn-cs"/>
                </a:rPr>
                <a:t>Module B: Strategic Risk Engine &amp; Problem Analysis</a:t>
              </a:r>
            </a:p>
          </p:txBody>
        </p:sp>
      </p:gr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header"/>
          <p:cNvGrpSpPr/>
          <p:nvPr/>
        </p:nvGrpSpPr>
        <p:grpSpPr>
          <a:xfrm>
            <a:off x="566738" y="355600"/>
            <a:ext cx="11058524" cy="206375"/>
            <a:chOff x="566738" y="355600"/>
            <a:chExt cx="11058524" cy="206375"/>
          </a:xfrm>
        </p:grpSpPr>
        <p:sp>
          <p:nvSpPr>
            <p:cNvPr id="2" name="TextBox 2"/>
            <p:cNvSpPr txBox="1"/>
            <p:nvPr/>
          </p:nvSpPr>
          <p:spPr>
            <a:xfrm>
              <a:off x="566738" y="355600"/>
              <a:ext cx="5192747" cy="161925"/>
            </a:xfrm>
            <a:prstGeom prst="rect">
              <a:avLst/>
            </a:prstGeom>
            <a:noFill/>
            <a:ln>
              <a:noFill/>
            </a:ln>
          </p:spPr>
          <p:txBody>
            <a:bodyPr wrap="none" lIns="0" tIns="0" rIns="0" bIns="0" anchor="t" anchorCtr="0">
              <a:spAutoFit/>
            </a:bodyPr>
            <a:lstStyle/>
            <a:p>
              <a:pPr algn="l"/>
              <a:r>
                <a:rPr lang="en-US" sz="820" b="1" spc="112" dirty="0">
                  <a:solidFill>
                    <a:schemeClr val="accent1"/>
                  </a:solidFill>
                  <a:latin typeface="+mn-lt"/>
                  <a:ea typeface="+mn-ea"/>
                  <a:cs typeface="+mn-cs"/>
                </a:rPr>
                <a:t>S&amp;P GLOBAL &amp; CRISIL CAMPUS HACKATHON | MODULE B: STRESS TESTING</a:t>
              </a:r>
            </a:p>
          </p:txBody>
        </p:sp>
        <p:sp>
          <p:nvSpPr>
            <p:cNvPr id="3" name="TextBox 3"/>
            <p:cNvSpPr txBox="1"/>
            <p:nvPr/>
          </p:nvSpPr>
          <p:spPr>
            <a:xfrm>
              <a:off x="10889090" y="355600"/>
              <a:ext cx="736172" cy="161925"/>
            </a:xfrm>
            <a:prstGeom prst="rect">
              <a:avLst/>
            </a:prstGeom>
            <a:noFill/>
            <a:ln>
              <a:noFill/>
            </a:ln>
          </p:spPr>
          <p:txBody>
            <a:bodyPr wrap="none" lIns="0" tIns="0" rIns="0" bIns="0" anchor="t" anchorCtr="0">
              <a:spAutoFit/>
            </a:bodyPr>
            <a:lstStyle/>
            <a:p>
              <a:pPr algn="r"/>
              <a:r>
                <a:rPr lang="en-US" sz="820" b="1" dirty="0">
                  <a:solidFill>
                    <a:srgbClr val="64748B"/>
                  </a:solidFill>
                  <a:latin typeface="+mn-lt"/>
                  <a:ea typeface="+mn-ea"/>
                  <a:cs typeface="+mn-cs"/>
                </a:rPr>
                <a:t>SLIDE 03 / 07</a:t>
              </a:r>
            </a:p>
          </p:txBody>
        </p:sp>
        <p:sp>
          <p:nvSpPr>
            <p:cNvPr id="4" name="Line 4"/>
            <p:cNvSpPr/>
            <p:nvPr/>
          </p:nvSpPr>
          <p:spPr>
            <a:xfrm>
              <a:off x="571500" y="552450"/>
              <a:ext cx="11049000" cy="9525"/>
            </a:xfrm>
            <a:custGeom>
              <a:avLst/>
              <a:gdLst/>
              <a:ahLst/>
              <a:cxnLst/>
              <a:rect l="l" t="t" r="r" b="b"/>
              <a:pathLst>
                <a:path w="11049000" h="9525">
                  <a:moveTo>
                    <a:pt x="0" y="0"/>
                  </a:moveTo>
                  <a:lnTo>
                    <a:pt x="11049000" y="0"/>
                  </a:lnTo>
                </a:path>
              </a:pathLst>
            </a:custGeom>
            <a:noFill/>
            <a:ln w="9525">
              <a:solidFill>
                <a:srgbClr val="E2E8F0"/>
              </a:solidFill>
            </a:ln>
          </p:spPr>
        </p:sp>
      </p:grpSp>
      <p:grpSp>
        <p:nvGrpSpPr>
          <p:cNvPr id="8" name="title-block"/>
          <p:cNvGrpSpPr/>
          <p:nvPr/>
        </p:nvGrpSpPr>
        <p:grpSpPr>
          <a:xfrm>
            <a:off x="559308" y="641350"/>
            <a:ext cx="6177115" cy="599059"/>
            <a:chOff x="559308" y="641350"/>
            <a:chExt cx="6177115" cy="599059"/>
          </a:xfrm>
        </p:grpSpPr>
        <p:sp>
          <p:nvSpPr>
            <p:cNvPr id="6" name="TextBox 6"/>
            <p:cNvSpPr txBox="1"/>
            <p:nvPr/>
          </p:nvSpPr>
          <p:spPr>
            <a:xfrm>
              <a:off x="559308" y="641350"/>
              <a:ext cx="3987374" cy="369332"/>
            </a:xfrm>
            <a:prstGeom prst="rect">
              <a:avLst/>
            </a:prstGeom>
            <a:noFill/>
            <a:ln>
              <a:noFill/>
            </a:ln>
          </p:spPr>
          <p:txBody>
            <a:bodyPr wrap="none" lIns="0" tIns="0" rIns="0" bIns="0" anchor="t" anchorCtr="0">
              <a:spAutoFit/>
            </a:bodyPr>
            <a:lstStyle/>
            <a:p>
              <a:pPr algn="l"/>
              <a:r>
                <a:rPr lang="en-US" sz="2400" b="1" dirty="0">
                  <a:solidFill>
                    <a:schemeClr val="dk1"/>
                  </a:solidFill>
                  <a:latin typeface="+mn-lt"/>
                  <a:ea typeface="+mn-ea"/>
                  <a:cs typeface="+mn-cs"/>
                </a:rPr>
                <a:t>System Design</a:t>
              </a:r>
              <a:r>
                <a:rPr lang="en-US" sz="2400" b="1" dirty="0">
                  <a:solidFill>
                    <a:schemeClr val="dk1"/>
                  </a:solidFill>
                </a:rPr>
                <a:t> </a:t>
              </a:r>
              <a:r>
                <a:rPr lang="en-US" sz="2400" b="1" dirty="0">
                  <a:solidFill>
                    <a:schemeClr val="dk1"/>
                  </a:solidFill>
                  <a:latin typeface="+mn-lt"/>
                  <a:ea typeface="+mn-ea"/>
                  <a:cs typeface="+mn-cs"/>
                </a:rPr>
                <a:t>&amp; Data Flow</a:t>
              </a:r>
            </a:p>
          </p:txBody>
        </p:sp>
        <p:sp>
          <p:nvSpPr>
            <p:cNvPr id="7" name="TextBox 7"/>
            <p:cNvSpPr txBox="1"/>
            <p:nvPr/>
          </p:nvSpPr>
          <p:spPr>
            <a:xfrm>
              <a:off x="566166" y="1035050"/>
              <a:ext cx="6170257" cy="205359"/>
            </a:xfrm>
            <a:prstGeom prst="rect">
              <a:avLst/>
            </a:prstGeom>
            <a:noFill/>
            <a:ln>
              <a:noFill/>
            </a:ln>
          </p:spPr>
          <p:txBody>
            <a:bodyPr wrap="none" lIns="0" tIns="0" rIns="0" bIns="0" anchor="t" anchorCtr="0">
              <a:spAutoFit/>
            </a:bodyPr>
            <a:lstStyle/>
            <a:p>
              <a:pPr algn="l"/>
              <a:r>
                <a:rPr lang="en-US" sz="1050" dirty="0">
                  <a:solidFill>
                    <a:schemeClr val="accent5"/>
                  </a:solidFill>
                  <a:latin typeface="+mn-lt"/>
                  <a:ea typeface="+mn-ea"/>
                  <a:cs typeface="+mn-cs"/>
                </a:rPr>
                <a:t>Containerized 4-Service Architecture Orchestrated via Docker Compose &amp; Reactive Event Pipelines</a:t>
              </a:r>
            </a:p>
          </p:txBody>
        </p:sp>
      </p:grpSp>
      <p:grpSp>
        <p:nvGrpSpPr>
          <p:cNvPr id="16" name="diagram-container"/>
          <p:cNvGrpSpPr/>
          <p:nvPr/>
        </p:nvGrpSpPr>
        <p:grpSpPr>
          <a:xfrm>
            <a:off x="571500" y="1285875"/>
            <a:ext cx="7524750" cy="4953000"/>
            <a:chOff x="571500" y="1285875"/>
            <a:chExt cx="7524750" cy="4953000"/>
          </a:xfrm>
        </p:grpSpPr>
        <p:sp>
          <p:nvSpPr>
            <p:cNvPr id="9" name="Rectangle 9"/>
            <p:cNvSpPr/>
            <p:nvPr/>
          </p:nvSpPr>
          <p:spPr>
            <a:xfrm>
              <a:off x="571500" y="1285875"/>
              <a:ext cx="7524750" cy="4953000"/>
            </a:xfrm>
            <a:prstGeom prst="roundRect">
              <a:avLst>
                <a:gd name="adj" fmla="val 1538"/>
              </a:avLst>
            </a:prstGeom>
            <a:solidFill>
              <a:srgbClr val="FFFFFF"/>
            </a:solidFill>
            <a:ln w="9525">
              <a:solidFill>
                <a:schemeClr val="accent6"/>
              </a:solidFill>
            </a:ln>
          </p:spPr>
        </p:sp>
        <p:sp>
          <p:nvSpPr>
            <p:cNvPr id="10" name="Freeform 10"/>
            <p:cNvSpPr/>
            <p:nvPr/>
          </p:nvSpPr>
          <p:spPr>
            <a:xfrm>
              <a:off x="571500" y="1285875"/>
              <a:ext cx="7524750" cy="304800"/>
            </a:xfrm>
            <a:custGeom>
              <a:avLst/>
              <a:gdLst/>
              <a:ahLst/>
              <a:cxnLst/>
              <a:rect l="l" t="t" r="r" b="b"/>
              <a:pathLst>
                <a:path w="7524750" h="304800">
                  <a:moveTo>
                    <a:pt x="0" y="76200"/>
                  </a:moveTo>
                  <a:cubicBezTo>
                    <a:pt x="0" y="25400"/>
                    <a:pt x="25400" y="0"/>
                    <a:pt x="76200" y="0"/>
                  </a:cubicBezTo>
                  <a:lnTo>
                    <a:pt x="7448550" y="0"/>
                  </a:lnTo>
                  <a:cubicBezTo>
                    <a:pt x="7499350" y="0"/>
                    <a:pt x="7524750" y="25400"/>
                    <a:pt x="7524750" y="76200"/>
                  </a:cubicBezTo>
                  <a:lnTo>
                    <a:pt x="7524750" y="304800"/>
                  </a:lnTo>
                  <a:lnTo>
                    <a:pt x="0" y="304800"/>
                  </a:lnTo>
                  <a:close/>
                </a:path>
              </a:pathLst>
            </a:custGeom>
            <a:solidFill>
              <a:srgbClr val="1E293B"/>
            </a:solidFill>
            <a:ln>
              <a:noFill/>
            </a:ln>
          </p:spPr>
        </p:sp>
        <p:sp>
          <p:nvSpPr>
            <p:cNvPr id="11" name="Ellipse 11"/>
            <p:cNvSpPr/>
            <p:nvPr/>
          </p:nvSpPr>
          <p:spPr>
            <a:xfrm>
              <a:off x="700088" y="1395412"/>
              <a:ext cx="85725" cy="85725"/>
            </a:xfrm>
            <a:prstGeom prst="ellipse">
              <a:avLst/>
            </a:prstGeom>
            <a:solidFill>
              <a:srgbClr val="EF4444"/>
            </a:solidFill>
            <a:ln>
              <a:noFill/>
            </a:ln>
          </p:spPr>
        </p:sp>
        <p:sp>
          <p:nvSpPr>
            <p:cNvPr id="12" name="Ellipse 12"/>
            <p:cNvSpPr/>
            <p:nvPr/>
          </p:nvSpPr>
          <p:spPr>
            <a:xfrm>
              <a:off x="842962" y="1395412"/>
              <a:ext cx="85725" cy="85725"/>
            </a:xfrm>
            <a:prstGeom prst="ellipse">
              <a:avLst/>
            </a:prstGeom>
            <a:solidFill>
              <a:srgbClr val="F59E0B"/>
            </a:solidFill>
            <a:ln>
              <a:noFill/>
            </a:ln>
          </p:spPr>
        </p:sp>
        <p:sp>
          <p:nvSpPr>
            <p:cNvPr id="13" name="Ellipse 13"/>
            <p:cNvSpPr/>
            <p:nvPr/>
          </p:nvSpPr>
          <p:spPr>
            <a:xfrm>
              <a:off x="985838" y="1395412"/>
              <a:ext cx="85725" cy="85725"/>
            </a:xfrm>
            <a:prstGeom prst="ellipse">
              <a:avLst/>
            </a:prstGeom>
            <a:solidFill>
              <a:srgbClr val="10B981"/>
            </a:solidFill>
            <a:ln>
              <a:noFill/>
            </a:ln>
          </p:spPr>
        </p:sp>
        <p:sp>
          <p:nvSpPr>
            <p:cNvPr id="14" name="TextBox 14"/>
            <p:cNvSpPr txBox="1"/>
            <p:nvPr/>
          </p:nvSpPr>
          <p:spPr>
            <a:xfrm>
              <a:off x="1176338" y="1374775"/>
              <a:ext cx="3290860" cy="161925"/>
            </a:xfrm>
            <a:prstGeom prst="rect">
              <a:avLst/>
            </a:prstGeom>
            <a:noFill/>
            <a:ln>
              <a:noFill/>
            </a:ln>
          </p:spPr>
          <p:txBody>
            <a:bodyPr wrap="none" lIns="0" tIns="0" rIns="0" bIns="0" anchor="t" anchorCtr="0">
              <a:spAutoFit/>
            </a:bodyPr>
            <a:lstStyle/>
            <a:p>
              <a:pPr algn="l"/>
              <a:r>
                <a:rPr lang="en-US" sz="820" b="1" spc="75" dirty="0">
                  <a:solidFill>
                    <a:srgbClr val="93C5FD"/>
                  </a:solidFill>
                  <a:latin typeface="Consolas"/>
                  <a:ea typeface="Consolas"/>
                  <a:cs typeface="Consolas"/>
                </a:rPr>
                <a:t>SYSTEM ARCHITECTURE &amp; DATA PIPELINE TOPOLOGY</a:t>
              </a:r>
            </a:p>
          </p:txBody>
        </p:sp>
        <p:pic>
          <p:nvPicPr>
            <p:cNvPr id="15" name="Image 15"/>
            <p:cNvPicPr>
              <a:picLocks noChangeAspect="1"/>
            </p:cNvPicPr>
            <p:nvPr/>
          </p:nvPicPr>
          <p:blipFill>
            <a:blip r:embed="rId3"/>
            <a:stretch>
              <a:fillRect/>
            </a:stretch>
          </p:blipFill>
          <p:spPr>
            <a:xfrm>
              <a:off x="824057" y="1638300"/>
              <a:ext cx="7019636" cy="4524375"/>
            </a:xfrm>
            <a:prstGeom prst="rect">
              <a:avLst/>
            </a:prstGeom>
          </p:spPr>
        </p:pic>
      </p:grpSp>
      <p:grpSp>
        <p:nvGrpSpPr>
          <p:cNvPr id="24" name="card-nlp"/>
          <p:cNvGrpSpPr/>
          <p:nvPr/>
        </p:nvGrpSpPr>
        <p:grpSpPr>
          <a:xfrm>
            <a:off x="8334375" y="1285875"/>
            <a:ext cx="3286125" cy="1123950"/>
            <a:chOff x="8334375" y="1285875"/>
            <a:chExt cx="3286125" cy="1123950"/>
          </a:xfrm>
        </p:grpSpPr>
        <p:sp>
          <p:nvSpPr>
            <p:cNvPr id="17" name="Rectangle 17"/>
            <p:cNvSpPr/>
            <p:nvPr/>
          </p:nvSpPr>
          <p:spPr>
            <a:xfrm>
              <a:off x="8334375" y="1285875"/>
              <a:ext cx="3286125" cy="1123950"/>
            </a:xfrm>
            <a:prstGeom prst="roundRect">
              <a:avLst>
                <a:gd name="adj" fmla="val 6780"/>
              </a:avLst>
            </a:prstGeom>
            <a:solidFill>
              <a:srgbClr val="FFFFFF"/>
            </a:solidFill>
            <a:ln w="9525">
              <a:solidFill>
                <a:schemeClr val="accent6"/>
              </a:solidFill>
            </a:ln>
          </p:spPr>
        </p:sp>
        <p:sp>
          <p:nvSpPr>
            <p:cNvPr id="18" name="Freeform 18"/>
            <p:cNvSpPr/>
            <p:nvPr/>
          </p:nvSpPr>
          <p:spPr>
            <a:xfrm>
              <a:off x="8334375" y="1285875"/>
              <a:ext cx="3286125" cy="266700"/>
            </a:xfrm>
            <a:custGeom>
              <a:avLst/>
              <a:gdLst/>
              <a:ahLst/>
              <a:cxnLst/>
              <a:rect l="l" t="t" r="r" b="b"/>
              <a:pathLst>
                <a:path w="3286125" h="266700">
                  <a:moveTo>
                    <a:pt x="0" y="76200"/>
                  </a:moveTo>
                  <a:cubicBezTo>
                    <a:pt x="0" y="25400"/>
                    <a:pt x="25400" y="0"/>
                    <a:pt x="76200" y="0"/>
                  </a:cubicBezTo>
                  <a:lnTo>
                    <a:pt x="3209925" y="0"/>
                  </a:lnTo>
                  <a:cubicBezTo>
                    <a:pt x="3260725" y="0"/>
                    <a:pt x="3286125" y="25400"/>
                    <a:pt x="3286125" y="76200"/>
                  </a:cubicBezTo>
                  <a:lnTo>
                    <a:pt x="3286125" y="266700"/>
                  </a:lnTo>
                  <a:lnTo>
                    <a:pt x="0" y="266700"/>
                  </a:lnTo>
                  <a:close/>
                </a:path>
              </a:pathLst>
            </a:custGeom>
            <a:solidFill>
              <a:srgbClr val="EFF6FF"/>
            </a:solidFill>
            <a:ln>
              <a:noFill/>
            </a:ln>
          </p:spPr>
        </p:sp>
        <p:sp>
          <p:nvSpPr>
            <p:cNvPr id="19" name="TextBox 19"/>
            <p:cNvSpPr txBox="1"/>
            <p:nvPr/>
          </p:nvSpPr>
          <p:spPr>
            <a:xfrm>
              <a:off x="8472488" y="1346200"/>
              <a:ext cx="1762226" cy="161925"/>
            </a:xfrm>
            <a:prstGeom prst="rect">
              <a:avLst/>
            </a:prstGeom>
            <a:noFill/>
            <a:ln>
              <a:noFill/>
            </a:ln>
          </p:spPr>
          <p:txBody>
            <a:bodyPr wrap="none" lIns="0" tIns="0" rIns="0" bIns="0" anchor="t" anchorCtr="0">
              <a:spAutoFit/>
            </a:bodyPr>
            <a:lstStyle/>
            <a:p>
              <a:pPr algn="l"/>
              <a:r>
                <a:rPr lang="en-US" sz="820" b="1" spc="75" dirty="0">
                  <a:solidFill>
                    <a:schemeClr val="accent1"/>
                  </a:solidFill>
                  <a:latin typeface="+mn-lt"/>
                  <a:ea typeface="+mn-ea"/>
                  <a:cs typeface="+mn-cs"/>
                </a:rPr>
                <a:t>CONTAINER 1: NLP ENGINE</a:t>
              </a:r>
            </a:p>
          </p:txBody>
        </p:sp>
        <p:sp>
          <p:nvSpPr>
            <p:cNvPr id="20" name="TextBox 20"/>
            <p:cNvSpPr txBox="1"/>
            <p:nvPr/>
          </p:nvSpPr>
          <p:spPr>
            <a:xfrm>
              <a:off x="8472488" y="1593850"/>
              <a:ext cx="1984066" cy="176212"/>
            </a:xfrm>
            <a:prstGeom prst="rect">
              <a:avLst/>
            </a:prstGeom>
            <a:noFill/>
            <a:ln>
              <a:noFill/>
            </a:ln>
          </p:spPr>
          <p:txBody>
            <a:bodyPr wrap="none" lIns="0" tIns="0" rIns="0" bIns="0" anchor="t" anchorCtr="0">
              <a:spAutoFit/>
            </a:bodyPr>
            <a:lstStyle/>
            <a:p>
              <a:pPr algn="l"/>
              <a:r>
                <a:rPr lang="en-US" sz="900" b="1" dirty="0">
                  <a:solidFill>
                    <a:srgbClr val="1D4ED8"/>
                  </a:solidFill>
                  <a:latin typeface="Consolas"/>
                  <a:ea typeface="Consolas"/>
                  <a:cs typeface="Consolas"/>
                </a:rPr>
                <a:t>Python 3.11 / FastAPI (:8000)</a:t>
              </a:r>
            </a:p>
          </p:txBody>
        </p:sp>
        <p:sp>
          <p:nvSpPr>
            <p:cNvPr id="21" name="TextBox 21"/>
            <p:cNvSpPr txBox="1"/>
            <p:nvPr/>
          </p:nvSpPr>
          <p:spPr>
            <a:xfrm>
              <a:off x="8472488" y="1784350"/>
              <a:ext cx="2059993" cy="161925"/>
            </a:xfrm>
            <a:prstGeom prst="rect">
              <a:avLst/>
            </a:prstGeom>
            <a:noFill/>
            <a:ln>
              <a:noFill/>
            </a:ln>
          </p:spPr>
          <p:txBody>
            <a:bodyPr wrap="none" lIns="0" tIns="0" rIns="0" bIns="0" anchor="t" anchorCtr="0">
              <a:spAutoFit/>
            </a:bodyPr>
            <a:lstStyle/>
            <a:p>
              <a:pPr marL="76200" indent="-76200" algn="l">
                <a:buClr>
                  <a:srgbClr val="334155"/>
                </a:buClr>
                <a:buSzTx/>
                <a:buFontTx/>
                <a:buChar char="•"/>
              </a:pPr>
              <a:r>
                <a:rPr lang="en-US" sz="820" dirty="0">
                  <a:solidFill>
                    <a:srgbClr val="334155"/>
                  </a:solidFill>
                  <a:latin typeface="+mn-lt"/>
                  <a:ea typeface="+mn-ea"/>
                  <a:cs typeface="+mn-cs"/>
                </a:rPr>
                <a:t>ProsusAI/FinBERT Sentiment [-1.0, +1.0]</a:t>
              </a:r>
            </a:p>
          </p:txBody>
        </p:sp>
        <p:sp>
          <p:nvSpPr>
            <p:cNvPr id="22" name="TextBox 22"/>
            <p:cNvSpPr txBox="1"/>
            <p:nvPr/>
          </p:nvSpPr>
          <p:spPr>
            <a:xfrm>
              <a:off x="8472488" y="1955800"/>
              <a:ext cx="1668115" cy="161925"/>
            </a:xfrm>
            <a:prstGeom prst="rect">
              <a:avLst/>
            </a:prstGeom>
            <a:noFill/>
            <a:ln>
              <a:noFill/>
            </a:ln>
          </p:spPr>
          <p:txBody>
            <a:bodyPr wrap="none" lIns="0" tIns="0" rIns="0" bIns="0" anchor="t" anchorCtr="0">
              <a:spAutoFit/>
            </a:bodyPr>
            <a:lstStyle/>
            <a:p>
              <a:pPr marL="76200" indent="-76200" algn="l">
                <a:buClr>
                  <a:srgbClr val="334155"/>
                </a:buClr>
                <a:buSzTx/>
                <a:buFontTx/>
                <a:buChar char="•"/>
              </a:pPr>
              <a:r>
                <a:rPr lang="en-US" sz="820" dirty="0">
                  <a:solidFill>
                    <a:srgbClr val="334155"/>
                  </a:solidFill>
                  <a:latin typeface="+mn-lt"/>
                  <a:ea typeface="+mn-ea"/>
                  <a:cs typeface="+mn-cs"/>
                </a:rPr>
                <a:t>7-Tier Financial Event Taxonomy</a:t>
              </a:r>
            </a:p>
          </p:txBody>
        </p:sp>
        <p:sp>
          <p:nvSpPr>
            <p:cNvPr id="23" name="TextBox 23"/>
            <p:cNvSpPr txBox="1"/>
            <p:nvPr/>
          </p:nvSpPr>
          <p:spPr>
            <a:xfrm>
              <a:off x="8472488" y="2127250"/>
              <a:ext cx="1957783" cy="161925"/>
            </a:xfrm>
            <a:prstGeom prst="rect">
              <a:avLst/>
            </a:prstGeom>
            <a:noFill/>
            <a:ln>
              <a:noFill/>
            </a:ln>
          </p:spPr>
          <p:txBody>
            <a:bodyPr wrap="none" lIns="0" tIns="0" rIns="0" bIns="0" anchor="t" anchorCtr="0">
              <a:spAutoFit/>
            </a:bodyPr>
            <a:lstStyle/>
            <a:p>
              <a:pPr marL="76200" indent="-76200" algn="l">
                <a:buClr>
                  <a:srgbClr val="64748B"/>
                </a:buClr>
                <a:buSzTx/>
                <a:buFontTx/>
                <a:buChar char="•"/>
              </a:pPr>
              <a:r>
                <a:rPr lang="en-US" sz="820" dirty="0">
                  <a:solidFill>
                    <a:srgbClr val="64748B"/>
                  </a:solidFill>
                  <a:latin typeface="+mn-lt"/>
                  <a:ea typeface="+mn-ea"/>
                  <a:cs typeface="+mn-cs"/>
                </a:rPr>
                <a:t>Sub-75ms Ingestion &amp; Token Clipping</a:t>
              </a:r>
            </a:p>
          </p:txBody>
        </p:sp>
      </p:grpSp>
      <p:grpSp>
        <p:nvGrpSpPr>
          <p:cNvPr id="32" name="card-backend"/>
          <p:cNvGrpSpPr/>
          <p:nvPr/>
        </p:nvGrpSpPr>
        <p:grpSpPr>
          <a:xfrm>
            <a:off x="8334375" y="2562225"/>
            <a:ext cx="3286125" cy="1123950"/>
            <a:chOff x="8334375" y="2562225"/>
            <a:chExt cx="3286125" cy="1123950"/>
          </a:xfrm>
        </p:grpSpPr>
        <p:sp>
          <p:nvSpPr>
            <p:cNvPr id="25" name="Rectangle 25"/>
            <p:cNvSpPr/>
            <p:nvPr/>
          </p:nvSpPr>
          <p:spPr>
            <a:xfrm>
              <a:off x="8334375" y="2562225"/>
              <a:ext cx="3286125" cy="1123950"/>
            </a:xfrm>
            <a:prstGeom prst="roundRect">
              <a:avLst>
                <a:gd name="adj" fmla="val 6780"/>
              </a:avLst>
            </a:prstGeom>
            <a:solidFill>
              <a:srgbClr val="FFFFFF"/>
            </a:solidFill>
            <a:ln w="9525">
              <a:solidFill>
                <a:schemeClr val="accent6"/>
              </a:solidFill>
            </a:ln>
          </p:spPr>
        </p:sp>
        <p:sp>
          <p:nvSpPr>
            <p:cNvPr id="26" name="Freeform 26"/>
            <p:cNvSpPr/>
            <p:nvPr/>
          </p:nvSpPr>
          <p:spPr>
            <a:xfrm>
              <a:off x="8334375" y="2562225"/>
              <a:ext cx="3286125" cy="266700"/>
            </a:xfrm>
            <a:custGeom>
              <a:avLst/>
              <a:gdLst/>
              <a:ahLst/>
              <a:cxnLst/>
              <a:rect l="l" t="t" r="r" b="b"/>
              <a:pathLst>
                <a:path w="3286125" h="266700">
                  <a:moveTo>
                    <a:pt x="0" y="76200"/>
                  </a:moveTo>
                  <a:cubicBezTo>
                    <a:pt x="0" y="25400"/>
                    <a:pt x="25400" y="0"/>
                    <a:pt x="76200" y="0"/>
                  </a:cubicBezTo>
                  <a:lnTo>
                    <a:pt x="3209925" y="0"/>
                  </a:lnTo>
                  <a:cubicBezTo>
                    <a:pt x="3260725" y="0"/>
                    <a:pt x="3286125" y="25400"/>
                    <a:pt x="3286125" y="76200"/>
                  </a:cubicBezTo>
                  <a:lnTo>
                    <a:pt x="3286125" y="266700"/>
                  </a:lnTo>
                  <a:lnTo>
                    <a:pt x="0" y="266700"/>
                  </a:lnTo>
                  <a:close/>
                </a:path>
              </a:pathLst>
            </a:custGeom>
            <a:solidFill>
              <a:srgbClr val="ECFDF5"/>
            </a:solidFill>
            <a:ln>
              <a:noFill/>
            </a:ln>
          </p:spPr>
        </p:sp>
        <p:sp>
          <p:nvSpPr>
            <p:cNvPr id="27" name="TextBox 27"/>
            <p:cNvSpPr txBox="1"/>
            <p:nvPr/>
          </p:nvSpPr>
          <p:spPr>
            <a:xfrm>
              <a:off x="8472488" y="2622550"/>
              <a:ext cx="1976735" cy="161925"/>
            </a:xfrm>
            <a:prstGeom prst="rect">
              <a:avLst/>
            </a:prstGeom>
            <a:noFill/>
            <a:ln>
              <a:noFill/>
            </a:ln>
          </p:spPr>
          <p:txBody>
            <a:bodyPr wrap="none" lIns="0" tIns="0" rIns="0" bIns="0" anchor="t" anchorCtr="0">
              <a:spAutoFit/>
            </a:bodyPr>
            <a:lstStyle/>
            <a:p>
              <a:pPr algn="l"/>
              <a:r>
                <a:rPr lang="en-US" sz="820" b="1" spc="75" dirty="0">
                  <a:solidFill>
                    <a:srgbClr val="065F46"/>
                  </a:solidFill>
                  <a:latin typeface="+mn-lt"/>
                  <a:ea typeface="+mn-ea"/>
                  <a:cs typeface="+mn-cs"/>
                </a:rPr>
                <a:t>CONTAINER 2: BACKEND CORE</a:t>
              </a:r>
            </a:p>
          </p:txBody>
        </p:sp>
        <p:sp>
          <p:nvSpPr>
            <p:cNvPr id="28" name="TextBox 28"/>
            <p:cNvSpPr txBox="1"/>
            <p:nvPr/>
          </p:nvSpPr>
          <p:spPr>
            <a:xfrm>
              <a:off x="8472488" y="2870200"/>
              <a:ext cx="2370106" cy="176212"/>
            </a:xfrm>
            <a:prstGeom prst="rect">
              <a:avLst/>
            </a:prstGeom>
            <a:noFill/>
            <a:ln>
              <a:noFill/>
            </a:ln>
          </p:spPr>
          <p:txBody>
            <a:bodyPr wrap="none" lIns="0" tIns="0" rIns="0" bIns="0" anchor="t" anchorCtr="0">
              <a:spAutoFit/>
            </a:bodyPr>
            <a:lstStyle/>
            <a:p>
              <a:pPr algn="l"/>
              <a:r>
                <a:rPr lang="en-US" sz="900" b="1" dirty="0">
                  <a:solidFill>
                    <a:srgbClr val="047857"/>
                  </a:solidFill>
                  <a:latin typeface="Consolas"/>
                  <a:ea typeface="Consolas"/>
                  <a:cs typeface="Consolas"/>
                </a:rPr>
                <a:t>Java 21 / Spring Boot 3.3.4 (:8080)</a:t>
              </a:r>
            </a:p>
          </p:txBody>
        </p:sp>
        <p:sp>
          <p:nvSpPr>
            <p:cNvPr id="29" name="TextBox 29"/>
            <p:cNvSpPr txBox="1"/>
            <p:nvPr/>
          </p:nvSpPr>
          <p:spPr>
            <a:xfrm>
              <a:off x="8472488" y="3060700"/>
              <a:ext cx="2091895" cy="161925"/>
            </a:xfrm>
            <a:prstGeom prst="rect">
              <a:avLst/>
            </a:prstGeom>
            <a:noFill/>
            <a:ln>
              <a:noFill/>
            </a:ln>
          </p:spPr>
          <p:txBody>
            <a:bodyPr wrap="none" lIns="0" tIns="0" rIns="0" bIns="0" anchor="t" anchorCtr="0">
              <a:spAutoFit/>
            </a:bodyPr>
            <a:lstStyle/>
            <a:p>
              <a:pPr marL="76200" indent="-76200" algn="l">
                <a:buClr>
                  <a:srgbClr val="334155"/>
                </a:buClr>
                <a:buSzTx/>
                <a:buFontTx/>
                <a:buChar char="•"/>
              </a:pPr>
              <a:r>
                <a:rPr lang="en-US" sz="820" dirty="0">
                  <a:solidFill>
                    <a:srgbClr val="334155"/>
                  </a:solidFill>
                  <a:latin typeface="+mn-lt"/>
                  <a:ea typeface="+mn-ea"/>
                  <a:cs typeface="+mn-cs"/>
                </a:rPr>
                <a:t>Non-Blocking WebClient Reactive Bridge</a:t>
              </a:r>
            </a:p>
          </p:txBody>
        </p:sp>
        <p:sp>
          <p:nvSpPr>
            <p:cNvPr id="30" name="TextBox 30"/>
            <p:cNvSpPr txBox="1"/>
            <p:nvPr/>
          </p:nvSpPr>
          <p:spPr>
            <a:xfrm>
              <a:off x="8472488" y="3232150"/>
              <a:ext cx="2046851" cy="161925"/>
            </a:xfrm>
            <a:prstGeom prst="rect">
              <a:avLst/>
            </a:prstGeom>
            <a:noFill/>
            <a:ln>
              <a:noFill/>
            </a:ln>
          </p:spPr>
          <p:txBody>
            <a:bodyPr wrap="none" lIns="0" tIns="0" rIns="0" bIns="0" anchor="t" anchorCtr="0">
              <a:spAutoFit/>
            </a:bodyPr>
            <a:lstStyle/>
            <a:p>
              <a:pPr marL="76200" indent="-76200" algn="l">
                <a:buClr>
                  <a:srgbClr val="334155"/>
                </a:buClr>
                <a:buSzTx/>
                <a:buFontTx/>
                <a:buChar char="•"/>
              </a:pPr>
              <a:r>
                <a:rPr lang="en-US" sz="820" dirty="0">
                  <a:solidFill>
                    <a:srgbClr val="334155"/>
                  </a:solidFill>
                  <a:latin typeface="+mn-lt"/>
                  <a:ea typeface="+mn-ea"/>
                  <a:cs typeface="+mn-cs"/>
                </a:rPr>
                <a:t>Rule A1 Dispatcher (Score &gt;= 7 Trigger)</a:t>
              </a:r>
            </a:p>
          </p:txBody>
        </p:sp>
        <p:sp>
          <p:nvSpPr>
            <p:cNvPr id="31" name="TextBox 31"/>
            <p:cNvSpPr txBox="1"/>
            <p:nvPr/>
          </p:nvSpPr>
          <p:spPr>
            <a:xfrm>
              <a:off x="8472488" y="3403600"/>
              <a:ext cx="1793095" cy="161925"/>
            </a:xfrm>
            <a:prstGeom prst="rect">
              <a:avLst/>
            </a:prstGeom>
            <a:noFill/>
            <a:ln>
              <a:noFill/>
            </a:ln>
          </p:spPr>
          <p:txBody>
            <a:bodyPr wrap="none" lIns="0" tIns="0" rIns="0" bIns="0" anchor="t" anchorCtr="0">
              <a:spAutoFit/>
            </a:bodyPr>
            <a:lstStyle/>
            <a:p>
              <a:pPr marL="76200" indent="-76200" algn="l">
                <a:buClr>
                  <a:srgbClr val="64748B"/>
                </a:buClr>
                <a:buSzTx/>
                <a:buFontTx/>
                <a:buChar char="•"/>
              </a:pPr>
              <a:r>
                <a:rPr lang="en-US" sz="820" dirty="0">
                  <a:solidFill>
                    <a:srgbClr val="64748B"/>
                  </a:solidFill>
                  <a:latin typeface="+mn-lt"/>
                  <a:ea typeface="+mn-ea"/>
                  <a:cs typeface="+mn-cs"/>
                </a:rPr>
                <a:t>Strategic Multi-Asset Stress Engine</a:t>
              </a:r>
            </a:p>
          </p:txBody>
        </p:sp>
      </p:grpSp>
      <p:grpSp>
        <p:nvGrpSpPr>
          <p:cNvPr id="40" name="card-db"/>
          <p:cNvGrpSpPr/>
          <p:nvPr/>
        </p:nvGrpSpPr>
        <p:grpSpPr>
          <a:xfrm>
            <a:off x="8334375" y="3838575"/>
            <a:ext cx="3286125" cy="1123950"/>
            <a:chOff x="8334375" y="3838575"/>
            <a:chExt cx="3286125" cy="1123950"/>
          </a:xfrm>
        </p:grpSpPr>
        <p:sp>
          <p:nvSpPr>
            <p:cNvPr id="33" name="Rectangle 33"/>
            <p:cNvSpPr/>
            <p:nvPr/>
          </p:nvSpPr>
          <p:spPr>
            <a:xfrm>
              <a:off x="8334375" y="3838575"/>
              <a:ext cx="3286125" cy="1123950"/>
            </a:xfrm>
            <a:prstGeom prst="roundRect">
              <a:avLst>
                <a:gd name="adj" fmla="val 6780"/>
              </a:avLst>
            </a:prstGeom>
            <a:solidFill>
              <a:srgbClr val="FFFFFF"/>
            </a:solidFill>
            <a:ln w="9525">
              <a:solidFill>
                <a:schemeClr val="accent6"/>
              </a:solidFill>
            </a:ln>
          </p:spPr>
        </p:sp>
        <p:sp>
          <p:nvSpPr>
            <p:cNvPr id="34" name="Freeform 34"/>
            <p:cNvSpPr/>
            <p:nvPr/>
          </p:nvSpPr>
          <p:spPr>
            <a:xfrm>
              <a:off x="8334375" y="3838575"/>
              <a:ext cx="3286125" cy="266700"/>
            </a:xfrm>
            <a:custGeom>
              <a:avLst/>
              <a:gdLst/>
              <a:ahLst/>
              <a:cxnLst/>
              <a:rect l="l" t="t" r="r" b="b"/>
              <a:pathLst>
                <a:path w="3286125" h="266700">
                  <a:moveTo>
                    <a:pt x="0" y="76200"/>
                  </a:moveTo>
                  <a:cubicBezTo>
                    <a:pt x="0" y="25400"/>
                    <a:pt x="25400" y="0"/>
                    <a:pt x="76200" y="0"/>
                  </a:cubicBezTo>
                  <a:lnTo>
                    <a:pt x="3209925" y="0"/>
                  </a:lnTo>
                  <a:cubicBezTo>
                    <a:pt x="3260725" y="0"/>
                    <a:pt x="3286125" y="25400"/>
                    <a:pt x="3286125" y="76200"/>
                  </a:cubicBezTo>
                  <a:lnTo>
                    <a:pt x="3286125" y="266700"/>
                  </a:lnTo>
                  <a:lnTo>
                    <a:pt x="0" y="266700"/>
                  </a:lnTo>
                  <a:close/>
                </a:path>
              </a:pathLst>
            </a:custGeom>
            <a:solidFill>
              <a:srgbClr val="FFFBEB"/>
            </a:solidFill>
            <a:ln>
              <a:noFill/>
            </a:ln>
          </p:spPr>
        </p:sp>
        <p:sp>
          <p:nvSpPr>
            <p:cNvPr id="35" name="TextBox 35"/>
            <p:cNvSpPr txBox="1"/>
            <p:nvPr/>
          </p:nvSpPr>
          <p:spPr>
            <a:xfrm>
              <a:off x="8472488" y="3898900"/>
              <a:ext cx="1823969" cy="161925"/>
            </a:xfrm>
            <a:prstGeom prst="rect">
              <a:avLst/>
            </a:prstGeom>
            <a:noFill/>
            <a:ln>
              <a:noFill/>
            </a:ln>
          </p:spPr>
          <p:txBody>
            <a:bodyPr wrap="none" lIns="0" tIns="0" rIns="0" bIns="0" anchor="t" anchorCtr="0">
              <a:spAutoFit/>
            </a:bodyPr>
            <a:lstStyle/>
            <a:p>
              <a:pPr algn="l"/>
              <a:r>
                <a:rPr lang="en-US" sz="820" b="1" spc="75" dirty="0">
                  <a:solidFill>
                    <a:srgbClr val="92400E"/>
                  </a:solidFill>
                  <a:latin typeface="+mn-lt"/>
                  <a:ea typeface="+mn-ea"/>
                  <a:cs typeface="+mn-cs"/>
                </a:rPr>
                <a:t>CONTAINER 3: PERSISTENCE</a:t>
              </a:r>
            </a:p>
          </p:txBody>
        </p:sp>
        <p:sp>
          <p:nvSpPr>
            <p:cNvPr id="36" name="TextBox 36"/>
            <p:cNvSpPr txBox="1"/>
            <p:nvPr/>
          </p:nvSpPr>
          <p:spPr>
            <a:xfrm>
              <a:off x="8472488" y="4146550"/>
              <a:ext cx="1908362" cy="176212"/>
            </a:xfrm>
            <a:prstGeom prst="rect">
              <a:avLst/>
            </a:prstGeom>
            <a:noFill/>
            <a:ln>
              <a:noFill/>
            </a:ln>
          </p:spPr>
          <p:txBody>
            <a:bodyPr wrap="none" lIns="0" tIns="0" rIns="0" bIns="0" anchor="t" anchorCtr="0">
              <a:spAutoFit/>
            </a:bodyPr>
            <a:lstStyle/>
            <a:p>
              <a:pPr algn="l"/>
              <a:r>
                <a:rPr lang="en-US" sz="900" b="1" dirty="0">
                  <a:solidFill>
                    <a:srgbClr val="B45309"/>
                  </a:solidFill>
                  <a:latin typeface="Consolas"/>
                  <a:ea typeface="Consolas"/>
                  <a:cs typeface="Consolas"/>
                </a:rPr>
                <a:t>PostgreSQL 16 Alpine (:5432)</a:t>
              </a:r>
            </a:p>
          </p:txBody>
        </p:sp>
        <p:sp>
          <p:nvSpPr>
            <p:cNvPr id="37" name="TextBox 37"/>
            <p:cNvSpPr txBox="1"/>
            <p:nvPr/>
          </p:nvSpPr>
          <p:spPr>
            <a:xfrm>
              <a:off x="8472488" y="4337050"/>
              <a:ext cx="1439158" cy="161925"/>
            </a:xfrm>
            <a:prstGeom prst="rect">
              <a:avLst/>
            </a:prstGeom>
            <a:noFill/>
            <a:ln>
              <a:noFill/>
            </a:ln>
          </p:spPr>
          <p:txBody>
            <a:bodyPr wrap="none" lIns="0" tIns="0" rIns="0" bIns="0" anchor="t" anchorCtr="0">
              <a:spAutoFit/>
            </a:bodyPr>
            <a:lstStyle/>
            <a:p>
              <a:pPr marL="76200" indent="-76200" algn="l">
                <a:buClr>
                  <a:srgbClr val="334155"/>
                </a:buClr>
                <a:buSzTx/>
                <a:buFontTx/>
                <a:buChar char="•"/>
              </a:pPr>
              <a:r>
                <a:rPr lang="en-US" sz="820" dirty="0">
                  <a:solidFill>
                    <a:srgbClr val="334155"/>
                  </a:solidFill>
                  <a:latin typeface="+mn-lt"/>
                  <a:ea typeface="+mn-ea"/>
                  <a:cs typeface="+mn-cs"/>
                </a:rPr>
                <a:t>RiskSignal Relational Tables</a:t>
              </a:r>
            </a:p>
          </p:txBody>
        </p:sp>
        <p:sp>
          <p:nvSpPr>
            <p:cNvPr id="38" name="TextBox 38"/>
            <p:cNvSpPr txBox="1"/>
            <p:nvPr/>
          </p:nvSpPr>
          <p:spPr>
            <a:xfrm>
              <a:off x="8472488" y="4508500"/>
              <a:ext cx="2100658" cy="161925"/>
            </a:xfrm>
            <a:prstGeom prst="rect">
              <a:avLst/>
            </a:prstGeom>
            <a:noFill/>
            <a:ln>
              <a:noFill/>
            </a:ln>
          </p:spPr>
          <p:txBody>
            <a:bodyPr wrap="none" lIns="0" tIns="0" rIns="0" bIns="0" anchor="t" anchorCtr="0">
              <a:spAutoFit/>
            </a:bodyPr>
            <a:lstStyle/>
            <a:p>
              <a:pPr marL="76200" indent="-76200" algn="l">
                <a:buClr>
                  <a:srgbClr val="334155"/>
                </a:buClr>
                <a:buSzTx/>
                <a:buFontTx/>
                <a:buChar char="•"/>
              </a:pPr>
              <a:r>
                <a:rPr lang="en-US" sz="820" dirty="0">
                  <a:solidFill>
                    <a:srgbClr val="334155"/>
                  </a:solidFill>
                  <a:latin typeface="+mn-lt"/>
                  <a:ea typeface="+mn-ea"/>
                  <a:cs typeface="+mn-cs"/>
                </a:rPr>
                <a:t>$585M Multi-Asset Institutional Holdings</a:t>
              </a:r>
            </a:p>
          </p:txBody>
        </p:sp>
        <p:sp>
          <p:nvSpPr>
            <p:cNvPr id="39" name="TextBox 39"/>
            <p:cNvSpPr txBox="1"/>
            <p:nvPr/>
          </p:nvSpPr>
          <p:spPr>
            <a:xfrm>
              <a:off x="8472488" y="4679950"/>
              <a:ext cx="1881764" cy="161925"/>
            </a:xfrm>
            <a:prstGeom prst="rect">
              <a:avLst/>
            </a:prstGeom>
            <a:noFill/>
            <a:ln>
              <a:noFill/>
            </a:ln>
          </p:spPr>
          <p:txBody>
            <a:bodyPr wrap="none" lIns="0" tIns="0" rIns="0" bIns="0" anchor="t" anchorCtr="0">
              <a:spAutoFit/>
            </a:bodyPr>
            <a:lstStyle/>
            <a:p>
              <a:pPr marL="76200" indent="-76200" algn="l">
                <a:buClr>
                  <a:srgbClr val="64748B"/>
                </a:buClr>
                <a:buSzTx/>
                <a:buFontTx/>
                <a:buChar char="•"/>
              </a:pPr>
              <a:r>
                <a:rPr lang="en-US" sz="820" dirty="0">
                  <a:solidFill>
                    <a:srgbClr val="64748B"/>
                  </a:solidFill>
                  <a:latin typeface="+mn-lt"/>
                  <a:ea typeface="+mn-ea"/>
                  <a:cs typeface="+mn-cs"/>
                </a:rPr>
                <a:t>Immutable Audit Logs &amp; PnL Diffeos</a:t>
              </a:r>
            </a:p>
          </p:txBody>
        </p:sp>
      </p:grpSp>
      <p:grpSp>
        <p:nvGrpSpPr>
          <p:cNvPr id="48" name="card-frontend"/>
          <p:cNvGrpSpPr/>
          <p:nvPr/>
        </p:nvGrpSpPr>
        <p:grpSpPr>
          <a:xfrm>
            <a:off x="8334375" y="5114925"/>
            <a:ext cx="3286125" cy="1123950"/>
            <a:chOff x="8334375" y="5114925"/>
            <a:chExt cx="3286125" cy="1123950"/>
          </a:xfrm>
        </p:grpSpPr>
        <p:sp>
          <p:nvSpPr>
            <p:cNvPr id="41" name="Rectangle 41"/>
            <p:cNvSpPr/>
            <p:nvPr/>
          </p:nvSpPr>
          <p:spPr>
            <a:xfrm>
              <a:off x="8334375" y="5114925"/>
              <a:ext cx="3286125" cy="1123950"/>
            </a:xfrm>
            <a:prstGeom prst="roundRect">
              <a:avLst>
                <a:gd name="adj" fmla="val 6780"/>
              </a:avLst>
            </a:prstGeom>
            <a:solidFill>
              <a:srgbClr val="FFFFFF"/>
            </a:solidFill>
            <a:ln w="9525">
              <a:solidFill>
                <a:schemeClr val="accent6"/>
              </a:solidFill>
            </a:ln>
          </p:spPr>
        </p:sp>
        <p:sp>
          <p:nvSpPr>
            <p:cNvPr id="42" name="Freeform 42"/>
            <p:cNvSpPr/>
            <p:nvPr/>
          </p:nvSpPr>
          <p:spPr>
            <a:xfrm>
              <a:off x="8334375" y="5114925"/>
              <a:ext cx="3286125" cy="266700"/>
            </a:xfrm>
            <a:custGeom>
              <a:avLst/>
              <a:gdLst/>
              <a:ahLst/>
              <a:cxnLst/>
              <a:rect l="l" t="t" r="r" b="b"/>
              <a:pathLst>
                <a:path w="3286125" h="266700">
                  <a:moveTo>
                    <a:pt x="0" y="76200"/>
                  </a:moveTo>
                  <a:cubicBezTo>
                    <a:pt x="0" y="25400"/>
                    <a:pt x="25400" y="0"/>
                    <a:pt x="76200" y="0"/>
                  </a:cubicBezTo>
                  <a:lnTo>
                    <a:pt x="3209925" y="0"/>
                  </a:lnTo>
                  <a:cubicBezTo>
                    <a:pt x="3260725" y="0"/>
                    <a:pt x="3286125" y="25400"/>
                    <a:pt x="3286125" y="76200"/>
                  </a:cubicBezTo>
                  <a:lnTo>
                    <a:pt x="3286125" y="266700"/>
                  </a:lnTo>
                  <a:lnTo>
                    <a:pt x="0" y="266700"/>
                  </a:lnTo>
                  <a:close/>
                </a:path>
              </a:pathLst>
            </a:custGeom>
            <a:solidFill>
              <a:srgbClr val="FDF2F8"/>
            </a:solidFill>
            <a:ln>
              <a:noFill/>
            </a:ln>
          </p:spPr>
        </p:sp>
        <p:sp>
          <p:nvSpPr>
            <p:cNvPr id="43" name="TextBox 43"/>
            <p:cNvSpPr txBox="1"/>
            <p:nvPr/>
          </p:nvSpPr>
          <p:spPr>
            <a:xfrm>
              <a:off x="8472488" y="5175250"/>
              <a:ext cx="2091630" cy="161925"/>
            </a:xfrm>
            <a:prstGeom prst="rect">
              <a:avLst/>
            </a:prstGeom>
            <a:noFill/>
            <a:ln>
              <a:noFill/>
            </a:ln>
          </p:spPr>
          <p:txBody>
            <a:bodyPr wrap="none" lIns="0" tIns="0" rIns="0" bIns="0" anchor="t" anchorCtr="0">
              <a:spAutoFit/>
            </a:bodyPr>
            <a:lstStyle/>
            <a:p>
              <a:pPr algn="l"/>
              <a:r>
                <a:rPr lang="en-US" sz="820" b="1" spc="75" dirty="0">
                  <a:solidFill>
                    <a:srgbClr val="9D174D"/>
                  </a:solidFill>
                  <a:latin typeface="+mn-lt"/>
                  <a:ea typeface="+mn-ea"/>
                  <a:cs typeface="+mn-cs"/>
                </a:rPr>
                <a:t>CONTAINER 4: DASHBOARD SPA</a:t>
              </a:r>
            </a:p>
          </p:txBody>
        </p:sp>
        <p:sp>
          <p:nvSpPr>
            <p:cNvPr id="44" name="TextBox 44"/>
            <p:cNvSpPr txBox="1"/>
            <p:nvPr/>
          </p:nvSpPr>
          <p:spPr>
            <a:xfrm>
              <a:off x="8472488" y="5422900"/>
              <a:ext cx="1859483" cy="138499"/>
            </a:xfrm>
            <a:prstGeom prst="rect">
              <a:avLst/>
            </a:prstGeom>
            <a:noFill/>
            <a:ln>
              <a:noFill/>
            </a:ln>
          </p:spPr>
          <p:txBody>
            <a:bodyPr wrap="none" lIns="0" tIns="0" rIns="0" bIns="0" anchor="t" anchorCtr="0">
              <a:spAutoFit/>
            </a:bodyPr>
            <a:lstStyle/>
            <a:p>
              <a:pPr algn="l"/>
              <a:r>
                <a:rPr lang="en-US" sz="900" b="1" dirty="0">
                  <a:solidFill>
                    <a:srgbClr val="BE185D"/>
                  </a:solidFill>
                  <a:latin typeface="Consolas"/>
                  <a:ea typeface="Consolas"/>
                  <a:cs typeface="Consolas"/>
                </a:rPr>
                <a:t>React 19 + Vite 9 SPA (:5173)</a:t>
              </a:r>
            </a:p>
          </p:txBody>
        </p:sp>
        <p:sp>
          <p:nvSpPr>
            <p:cNvPr id="46" name="TextBox 46"/>
            <p:cNvSpPr txBox="1"/>
            <p:nvPr/>
          </p:nvSpPr>
          <p:spPr>
            <a:xfrm>
              <a:off x="8472488" y="5632836"/>
              <a:ext cx="2034492" cy="161925"/>
            </a:xfrm>
            <a:prstGeom prst="rect">
              <a:avLst/>
            </a:prstGeom>
            <a:noFill/>
            <a:ln>
              <a:noFill/>
            </a:ln>
          </p:spPr>
          <p:txBody>
            <a:bodyPr wrap="none" lIns="0" tIns="0" rIns="0" bIns="0" anchor="t" anchorCtr="0">
              <a:spAutoFit/>
            </a:bodyPr>
            <a:lstStyle/>
            <a:p>
              <a:pPr marL="76200" indent="-76200" algn="l">
                <a:buClr>
                  <a:srgbClr val="334155"/>
                </a:buClr>
                <a:buSzTx/>
                <a:buFontTx/>
                <a:buChar char="•"/>
              </a:pPr>
              <a:r>
                <a:rPr lang="en-US" sz="820" dirty="0">
                  <a:solidFill>
                    <a:srgbClr val="334155"/>
                  </a:solidFill>
                  <a:latin typeface="+mn-lt"/>
                  <a:ea typeface="+mn-ea"/>
                  <a:cs typeface="+mn-cs"/>
                </a:rPr>
                <a:t>Recharts Waterfall Drawdowns &amp; Deltas</a:t>
              </a:r>
            </a:p>
          </p:txBody>
        </p:sp>
        <p:sp>
          <p:nvSpPr>
            <p:cNvPr id="47" name="TextBox 47"/>
            <p:cNvSpPr txBox="1"/>
            <p:nvPr/>
          </p:nvSpPr>
          <p:spPr>
            <a:xfrm>
              <a:off x="8472488" y="5813804"/>
              <a:ext cx="2001569" cy="161925"/>
            </a:xfrm>
            <a:prstGeom prst="rect">
              <a:avLst/>
            </a:prstGeom>
            <a:noFill/>
            <a:ln>
              <a:noFill/>
            </a:ln>
          </p:spPr>
          <p:txBody>
            <a:bodyPr wrap="none" lIns="0" tIns="0" rIns="0" bIns="0" anchor="t" anchorCtr="0">
              <a:spAutoFit/>
            </a:bodyPr>
            <a:lstStyle/>
            <a:p>
              <a:pPr marL="76200" indent="-76200" algn="l">
                <a:buClr>
                  <a:srgbClr val="64748B"/>
                </a:buClr>
                <a:buSzTx/>
                <a:buFontTx/>
                <a:buChar char="•"/>
              </a:pPr>
              <a:r>
                <a:rPr lang="en-US" sz="820" dirty="0">
                  <a:solidFill>
                    <a:srgbClr val="64748B"/>
                  </a:solidFill>
                  <a:latin typeface="+mn-lt"/>
                  <a:ea typeface="+mn-ea"/>
                  <a:cs typeface="+mn-cs"/>
                </a:rPr>
                <a:t>Real-Time Scenario Shocker Simulation</a:t>
              </a:r>
            </a:p>
          </p:txBody>
        </p:sp>
      </p:grpSp>
      <p:grpSp>
        <p:nvGrpSpPr>
          <p:cNvPr id="52" name="footer"/>
          <p:cNvGrpSpPr/>
          <p:nvPr/>
        </p:nvGrpSpPr>
        <p:grpSpPr>
          <a:xfrm>
            <a:off x="566738" y="6381750"/>
            <a:ext cx="11058525" cy="288925"/>
            <a:chOff x="566738" y="6381750"/>
            <a:chExt cx="11058525" cy="288925"/>
          </a:xfrm>
        </p:grpSpPr>
        <p:sp>
          <p:nvSpPr>
            <p:cNvPr id="49" name="Line 49"/>
            <p:cNvSpPr/>
            <p:nvPr/>
          </p:nvSpPr>
          <p:spPr>
            <a:xfrm>
              <a:off x="571500" y="6381750"/>
              <a:ext cx="11049000" cy="9525"/>
            </a:xfrm>
            <a:custGeom>
              <a:avLst/>
              <a:gdLst/>
              <a:ahLst/>
              <a:cxnLst/>
              <a:rect l="l" t="t" r="r" b="b"/>
              <a:pathLst>
                <a:path w="11049000" h="9525">
                  <a:moveTo>
                    <a:pt x="0" y="0"/>
                  </a:moveTo>
                  <a:lnTo>
                    <a:pt x="11049000" y="0"/>
                  </a:lnTo>
                </a:path>
              </a:pathLst>
            </a:custGeom>
            <a:noFill/>
            <a:ln w="9525">
              <a:solidFill>
                <a:srgbClr val="E2E8F0"/>
              </a:solidFill>
            </a:ln>
          </p:spPr>
        </p:sp>
        <p:sp>
          <p:nvSpPr>
            <p:cNvPr id="50" name="TextBox 50"/>
            <p:cNvSpPr txBox="1"/>
            <p:nvPr/>
          </p:nvSpPr>
          <p:spPr>
            <a:xfrm>
              <a:off x="566738" y="6508750"/>
              <a:ext cx="3866403" cy="161925"/>
            </a:xfrm>
            <a:prstGeom prst="rect">
              <a:avLst/>
            </a:prstGeom>
            <a:noFill/>
            <a:ln>
              <a:noFill/>
            </a:ln>
          </p:spPr>
          <p:txBody>
            <a:bodyPr wrap="none" lIns="0" tIns="0" rIns="0" bIns="0" anchor="t" anchorCtr="0">
              <a:spAutoFit/>
            </a:bodyPr>
            <a:lstStyle/>
            <a:p>
              <a:pPr algn="l"/>
              <a:r>
                <a:rPr lang="en-US" sz="820" dirty="0">
                  <a:solidFill>
                    <a:srgbClr val="64748B"/>
                  </a:solidFill>
                  <a:latin typeface="+mn-lt"/>
                  <a:ea typeface="+mn-ea"/>
                  <a:cs typeface="+mn-cs"/>
                </a:rPr>
                <a:t>S&amp;P Global &amp; CRISIL Campus Hackathon 2026 | Candidate: Mritunjay Senapati</a:t>
              </a:r>
            </a:p>
          </p:txBody>
        </p:sp>
        <p:sp>
          <p:nvSpPr>
            <p:cNvPr id="51" name="TextBox 51"/>
            <p:cNvSpPr txBox="1"/>
            <p:nvPr/>
          </p:nvSpPr>
          <p:spPr>
            <a:xfrm>
              <a:off x="8985168" y="6508750"/>
              <a:ext cx="2640095" cy="161925"/>
            </a:xfrm>
            <a:prstGeom prst="rect">
              <a:avLst/>
            </a:prstGeom>
            <a:noFill/>
            <a:ln>
              <a:noFill/>
            </a:ln>
          </p:spPr>
          <p:txBody>
            <a:bodyPr wrap="none" lIns="0" tIns="0" rIns="0" bIns="0" anchor="t" anchorCtr="0">
              <a:spAutoFit/>
            </a:bodyPr>
            <a:lstStyle/>
            <a:p>
              <a:pPr algn="r"/>
              <a:r>
                <a:rPr lang="en-US" sz="820" dirty="0">
                  <a:solidFill>
                    <a:srgbClr val="64748B"/>
                  </a:solidFill>
                  <a:latin typeface="+mn-lt"/>
                  <a:ea typeface="+mn-ea"/>
                  <a:cs typeface="+mn-cs"/>
                </a:rPr>
                <a:t>Module B: Containerized Architecture &amp; Data Pipeline</a:t>
              </a:r>
            </a:p>
          </p:txBody>
        </p:sp>
      </p:gr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header"/>
          <p:cNvGrpSpPr/>
          <p:nvPr/>
        </p:nvGrpSpPr>
        <p:grpSpPr>
          <a:xfrm>
            <a:off x="566738" y="355600"/>
            <a:ext cx="11058524" cy="206375"/>
            <a:chOff x="566738" y="355600"/>
            <a:chExt cx="11058524" cy="206375"/>
          </a:xfrm>
        </p:grpSpPr>
        <p:sp>
          <p:nvSpPr>
            <p:cNvPr id="2" name="TextBox 2"/>
            <p:cNvSpPr txBox="1"/>
            <p:nvPr/>
          </p:nvSpPr>
          <p:spPr>
            <a:xfrm>
              <a:off x="566738" y="355600"/>
              <a:ext cx="5192747" cy="161925"/>
            </a:xfrm>
            <a:prstGeom prst="rect">
              <a:avLst/>
            </a:prstGeom>
            <a:noFill/>
            <a:ln>
              <a:noFill/>
            </a:ln>
          </p:spPr>
          <p:txBody>
            <a:bodyPr wrap="none" lIns="0" tIns="0" rIns="0" bIns="0" anchor="t" anchorCtr="0">
              <a:spAutoFit/>
            </a:bodyPr>
            <a:lstStyle/>
            <a:p>
              <a:pPr algn="l"/>
              <a:r>
                <a:rPr lang="en-US" sz="820" b="1" spc="112" dirty="0">
                  <a:solidFill>
                    <a:schemeClr val="accent1"/>
                  </a:solidFill>
                  <a:latin typeface="+mn-lt"/>
                  <a:ea typeface="+mn-ea"/>
                  <a:cs typeface="+mn-cs"/>
                </a:rPr>
                <a:t>S&amp;P GLOBAL &amp; CRISIL CAMPUS HACKATHON | MODULE B: STRESS TESTING</a:t>
              </a:r>
            </a:p>
          </p:txBody>
        </p:sp>
        <p:sp>
          <p:nvSpPr>
            <p:cNvPr id="3" name="TextBox 3"/>
            <p:cNvSpPr txBox="1"/>
            <p:nvPr/>
          </p:nvSpPr>
          <p:spPr>
            <a:xfrm>
              <a:off x="10889090" y="355600"/>
              <a:ext cx="736172" cy="161925"/>
            </a:xfrm>
            <a:prstGeom prst="rect">
              <a:avLst/>
            </a:prstGeom>
            <a:noFill/>
            <a:ln>
              <a:noFill/>
            </a:ln>
          </p:spPr>
          <p:txBody>
            <a:bodyPr wrap="none" lIns="0" tIns="0" rIns="0" bIns="0" anchor="t" anchorCtr="0">
              <a:spAutoFit/>
            </a:bodyPr>
            <a:lstStyle/>
            <a:p>
              <a:pPr algn="r"/>
              <a:r>
                <a:rPr lang="en-US" sz="820" b="1" dirty="0">
                  <a:solidFill>
                    <a:srgbClr val="64748B"/>
                  </a:solidFill>
                  <a:latin typeface="+mn-lt"/>
                  <a:ea typeface="+mn-ea"/>
                  <a:cs typeface="+mn-cs"/>
                </a:rPr>
                <a:t>SLIDE 04 / 07</a:t>
              </a:r>
            </a:p>
          </p:txBody>
        </p:sp>
        <p:sp>
          <p:nvSpPr>
            <p:cNvPr id="4" name="Line 4"/>
            <p:cNvSpPr/>
            <p:nvPr/>
          </p:nvSpPr>
          <p:spPr>
            <a:xfrm>
              <a:off x="571500" y="552450"/>
              <a:ext cx="11049000" cy="9525"/>
            </a:xfrm>
            <a:custGeom>
              <a:avLst/>
              <a:gdLst/>
              <a:ahLst/>
              <a:cxnLst/>
              <a:rect l="l" t="t" r="r" b="b"/>
              <a:pathLst>
                <a:path w="11049000" h="9525">
                  <a:moveTo>
                    <a:pt x="0" y="0"/>
                  </a:moveTo>
                  <a:lnTo>
                    <a:pt x="11049000" y="0"/>
                  </a:lnTo>
                </a:path>
              </a:pathLst>
            </a:custGeom>
            <a:noFill/>
            <a:ln w="9525">
              <a:solidFill>
                <a:srgbClr val="E2E8F0"/>
              </a:solidFill>
            </a:ln>
          </p:spPr>
        </p:sp>
      </p:grpSp>
      <p:grpSp>
        <p:nvGrpSpPr>
          <p:cNvPr id="8" name="title-block"/>
          <p:cNvGrpSpPr/>
          <p:nvPr/>
        </p:nvGrpSpPr>
        <p:grpSpPr>
          <a:xfrm>
            <a:off x="559308" y="641350"/>
            <a:ext cx="6968678" cy="599059"/>
            <a:chOff x="559308" y="641350"/>
            <a:chExt cx="6968678" cy="599059"/>
          </a:xfrm>
        </p:grpSpPr>
        <p:sp>
          <p:nvSpPr>
            <p:cNvPr id="6" name="TextBox 6"/>
            <p:cNvSpPr txBox="1"/>
            <p:nvPr/>
          </p:nvSpPr>
          <p:spPr>
            <a:xfrm>
              <a:off x="559308" y="641350"/>
              <a:ext cx="6968678" cy="469392"/>
            </a:xfrm>
            <a:prstGeom prst="rect">
              <a:avLst/>
            </a:prstGeom>
            <a:noFill/>
            <a:ln>
              <a:noFill/>
            </a:ln>
          </p:spPr>
          <p:txBody>
            <a:bodyPr wrap="none" lIns="0" tIns="0" rIns="0" bIns="0" anchor="t" anchorCtr="0">
              <a:spAutoFit/>
            </a:bodyPr>
            <a:lstStyle/>
            <a:p>
              <a:pPr algn="l"/>
              <a:r>
                <a:rPr lang="en-US" sz="2400" b="1" dirty="0">
                  <a:solidFill>
                    <a:schemeClr val="dk1"/>
                  </a:solidFill>
                  <a:latin typeface="+mn-lt"/>
                  <a:ea typeface="+mn-ea"/>
                  <a:cs typeface="+mn-cs"/>
                </a:rPr>
                <a:t>Implementation Highlights &amp; Technical Rigor</a:t>
              </a:r>
            </a:p>
          </p:txBody>
        </p:sp>
        <p:sp>
          <p:nvSpPr>
            <p:cNvPr id="7" name="TextBox 7"/>
            <p:cNvSpPr txBox="1"/>
            <p:nvPr/>
          </p:nvSpPr>
          <p:spPr>
            <a:xfrm>
              <a:off x="566166" y="1035050"/>
              <a:ext cx="5591355" cy="205359"/>
            </a:xfrm>
            <a:prstGeom prst="rect">
              <a:avLst/>
            </a:prstGeom>
            <a:noFill/>
            <a:ln>
              <a:noFill/>
            </a:ln>
          </p:spPr>
          <p:txBody>
            <a:bodyPr wrap="none" lIns="0" tIns="0" rIns="0" bIns="0" anchor="t" anchorCtr="0">
              <a:spAutoFit/>
            </a:bodyPr>
            <a:lstStyle/>
            <a:p>
              <a:pPr algn="l"/>
              <a:r>
                <a:rPr lang="en-US" sz="1050" dirty="0">
                  <a:solidFill>
                    <a:schemeClr val="accent5"/>
                  </a:solidFill>
                  <a:latin typeface="+mn-lt"/>
                  <a:ea typeface="+mn-ea"/>
                  <a:cs typeface="+mn-cs"/>
                </a:rPr>
                <a:t>Explainable Multi-Factor Scoring, FinBERT NLP &amp; Quantitative Cross-Asset Loss Formulas</a:t>
              </a:r>
            </a:p>
          </p:txBody>
        </p:sp>
      </p:grpSp>
      <p:grpSp>
        <p:nvGrpSpPr>
          <p:cNvPr id="51" name="pillar-nlp"/>
          <p:cNvGrpSpPr/>
          <p:nvPr/>
        </p:nvGrpSpPr>
        <p:grpSpPr>
          <a:xfrm>
            <a:off x="1403147" y="1263362"/>
            <a:ext cx="3486150" cy="4933950"/>
            <a:chOff x="571500" y="1333500"/>
            <a:chExt cx="3486150" cy="4933950"/>
          </a:xfrm>
        </p:grpSpPr>
        <p:sp>
          <p:nvSpPr>
            <p:cNvPr id="9" name="Rectangle 9"/>
            <p:cNvSpPr/>
            <p:nvPr/>
          </p:nvSpPr>
          <p:spPr>
            <a:xfrm>
              <a:off x="571500" y="1333500"/>
              <a:ext cx="3486150" cy="4933950"/>
            </a:xfrm>
            <a:prstGeom prst="roundRect">
              <a:avLst>
                <a:gd name="adj" fmla="val 2186"/>
              </a:avLst>
            </a:prstGeom>
            <a:solidFill>
              <a:srgbClr val="FFFFFF"/>
            </a:solidFill>
            <a:ln w="9525">
              <a:solidFill>
                <a:schemeClr val="accent6"/>
              </a:solidFill>
            </a:ln>
          </p:spPr>
        </p:sp>
        <p:sp>
          <p:nvSpPr>
            <p:cNvPr id="10" name="Freeform 10"/>
            <p:cNvSpPr/>
            <p:nvPr/>
          </p:nvSpPr>
          <p:spPr>
            <a:xfrm>
              <a:off x="571500" y="1333500"/>
              <a:ext cx="3486150" cy="342900"/>
            </a:xfrm>
            <a:custGeom>
              <a:avLst/>
              <a:gdLst/>
              <a:ahLst/>
              <a:cxnLst/>
              <a:rect l="l" t="t" r="r" b="b"/>
              <a:pathLst>
                <a:path w="3486150" h="342900">
                  <a:moveTo>
                    <a:pt x="0" y="76200"/>
                  </a:moveTo>
                  <a:cubicBezTo>
                    <a:pt x="0" y="25400"/>
                    <a:pt x="25400" y="0"/>
                    <a:pt x="76200" y="0"/>
                  </a:cubicBezTo>
                  <a:lnTo>
                    <a:pt x="3409950" y="0"/>
                  </a:lnTo>
                  <a:cubicBezTo>
                    <a:pt x="3460750" y="0"/>
                    <a:pt x="3486150" y="25400"/>
                    <a:pt x="3486150" y="76200"/>
                  </a:cubicBezTo>
                  <a:lnTo>
                    <a:pt x="3486150" y="342900"/>
                  </a:lnTo>
                  <a:lnTo>
                    <a:pt x="0" y="342900"/>
                  </a:lnTo>
                  <a:close/>
                </a:path>
              </a:pathLst>
            </a:custGeom>
            <a:solidFill>
              <a:srgbClr val="EFF6FF"/>
            </a:solidFill>
            <a:ln>
              <a:noFill/>
            </a:ln>
          </p:spPr>
        </p:sp>
        <p:sp>
          <p:nvSpPr>
            <p:cNvPr id="11" name="TextBox 11"/>
            <p:cNvSpPr txBox="1"/>
            <p:nvPr/>
          </p:nvSpPr>
          <p:spPr>
            <a:xfrm>
              <a:off x="738188" y="1438275"/>
              <a:ext cx="2299821" cy="176212"/>
            </a:xfrm>
            <a:prstGeom prst="rect">
              <a:avLst/>
            </a:prstGeom>
            <a:noFill/>
            <a:ln>
              <a:noFill/>
            </a:ln>
          </p:spPr>
          <p:txBody>
            <a:bodyPr wrap="none" lIns="0" tIns="0" rIns="0" bIns="0" anchor="t" anchorCtr="0">
              <a:spAutoFit/>
            </a:bodyPr>
            <a:lstStyle/>
            <a:p>
              <a:pPr algn="l"/>
              <a:r>
                <a:rPr lang="en-US" sz="900" b="1" spc="75" dirty="0">
                  <a:solidFill>
                    <a:schemeClr val="accent1"/>
                  </a:solidFill>
                  <a:latin typeface="+mn-lt"/>
                  <a:ea typeface="+mn-ea"/>
                  <a:cs typeface="+mn-cs"/>
                </a:rPr>
                <a:t>1. NLP &amp; FINANCIAL SENTIMENT</a:t>
              </a:r>
            </a:p>
          </p:txBody>
        </p:sp>
        <p:sp>
          <p:nvSpPr>
            <p:cNvPr id="12" name="TextBox 12"/>
            <p:cNvSpPr txBox="1"/>
            <p:nvPr/>
          </p:nvSpPr>
          <p:spPr>
            <a:xfrm>
              <a:off x="737997" y="1778000"/>
              <a:ext cx="2013785" cy="191643"/>
            </a:xfrm>
            <a:prstGeom prst="rect">
              <a:avLst/>
            </a:prstGeom>
            <a:noFill/>
            <a:ln>
              <a:noFill/>
            </a:ln>
          </p:spPr>
          <p:txBody>
            <a:bodyPr wrap="none" lIns="0" tIns="0" rIns="0" bIns="0" anchor="t" anchorCtr="0">
              <a:spAutoFit/>
            </a:bodyPr>
            <a:lstStyle/>
            <a:p>
              <a:pPr algn="l"/>
              <a:r>
                <a:rPr lang="en-US" sz="980" b="1" dirty="0">
                  <a:solidFill>
                    <a:schemeClr val="dk1"/>
                  </a:solidFill>
                  <a:latin typeface="+mn-lt"/>
                  <a:ea typeface="+mn-ea"/>
                  <a:cs typeface="+mn-cs"/>
                </a:rPr>
                <a:t>HuggingFace ProsusAI/FinBERT</a:t>
              </a:r>
            </a:p>
          </p:txBody>
        </p:sp>
        <p:sp>
          <p:nvSpPr>
            <p:cNvPr id="13" name="TextBox 13"/>
            <p:cNvSpPr txBox="1"/>
            <p:nvPr/>
          </p:nvSpPr>
          <p:spPr>
            <a:xfrm>
              <a:off x="738188" y="1974850"/>
              <a:ext cx="2156984" cy="161925"/>
            </a:xfrm>
            <a:prstGeom prst="rect">
              <a:avLst/>
            </a:prstGeom>
            <a:noFill/>
            <a:ln>
              <a:noFill/>
            </a:ln>
          </p:spPr>
          <p:txBody>
            <a:bodyPr wrap="none" lIns="0" tIns="0" rIns="0" bIns="0" anchor="t" anchorCtr="0">
              <a:spAutoFit/>
            </a:bodyPr>
            <a:lstStyle/>
            <a:p>
              <a:pPr algn="l"/>
              <a:r>
                <a:rPr lang="en-US" sz="820" dirty="0">
                  <a:solidFill>
                    <a:srgbClr val="64748B"/>
                  </a:solidFill>
                  <a:latin typeface="+mn-lt"/>
                  <a:ea typeface="+mn-ea"/>
                  <a:cs typeface="+mn-cs"/>
                </a:rPr>
                <a:t>Fine-tuned on TRC2-financial &amp; PhraseBank</a:t>
              </a:r>
            </a:p>
          </p:txBody>
        </p:sp>
        <p:sp>
          <p:nvSpPr>
            <p:cNvPr id="14" name="TextBox 14"/>
            <p:cNvSpPr txBox="1"/>
            <p:nvPr/>
          </p:nvSpPr>
          <p:spPr>
            <a:xfrm>
              <a:off x="738188" y="2165350"/>
              <a:ext cx="2482779" cy="176212"/>
            </a:xfrm>
            <a:prstGeom prst="rect">
              <a:avLst/>
            </a:prstGeom>
            <a:noFill/>
            <a:ln>
              <a:noFill/>
            </a:ln>
          </p:spPr>
          <p:txBody>
            <a:bodyPr wrap="none" lIns="0" tIns="0" rIns="0" bIns="0" anchor="t" anchorCtr="0">
              <a:spAutoFit/>
            </a:bodyPr>
            <a:lstStyle/>
            <a:p>
              <a:pPr marL="125730" indent="-125730" algn="l">
                <a:buClr>
                  <a:srgbClr val="1D4ED8"/>
                </a:buClr>
                <a:buSzTx/>
                <a:buFontTx/>
                <a:buChar char="•"/>
              </a:pPr>
              <a:r>
                <a:rPr lang="en-US" sz="900" dirty="0">
                  <a:solidFill>
                    <a:srgbClr val="1D4ED8"/>
                  </a:solidFill>
                  <a:latin typeface="Consolas"/>
                  <a:ea typeface="Consolas"/>
                  <a:cs typeface="Consolas"/>
                </a:rPr>
                <a:t>Polarity: P(positive) - P(negative)</a:t>
              </a:r>
            </a:p>
          </p:txBody>
        </p:sp>
        <p:sp>
          <p:nvSpPr>
            <p:cNvPr id="15" name="TextBox 15"/>
            <p:cNvSpPr txBox="1"/>
            <p:nvPr/>
          </p:nvSpPr>
          <p:spPr>
            <a:xfrm>
              <a:off x="738188" y="2336800"/>
              <a:ext cx="2408034" cy="176212"/>
            </a:xfrm>
            <a:prstGeom prst="rect">
              <a:avLst/>
            </a:prstGeom>
            <a:noFill/>
            <a:ln>
              <a:noFill/>
            </a:ln>
          </p:spPr>
          <p:txBody>
            <a:bodyPr wrap="none" lIns="0" tIns="0" rIns="0" bIns="0" anchor="t" anchorCtr="0">
              <a:spAutoFit/>
            </a:bodyPr>
            <a:lstStyle/>
            <a:p>
              <a:pPr marL="125730" indent="-125730" algn="l">
                <a:buClr>
                  <a:srgbClr val="1D4ED8"/>
                </a:buClr>
                <a:buSzTx/>
                <a:buFontTx/>
                <a:buChar char="•"/>
              </a:pPr>
              <a:r>
                <a:rPr lang="en-US" sz="900" dirty="0">
                  <a:solidFill>
                    <a:srgbClr val="1D4ED8"/>
                  </a:solidFill>
                  <a:latin typeface="Consolas"/>
                  <a:ea typeface="Consolas"/>
                  <a:cs typeface="Consolas"/>
                </a:rPr>
                <a:t>Bounded output: [-1.0, +1.0] float</a:t>
              </a:r>
            </a:p>
          </p:txBody>
        </p:sp>
        <p:sp>
          <p:nvSpPr>
            <p:cNvPr id="16" name="TextBox 16"/>
            <p:cNvSpPr txBox="1"/>
            <p:nvPr/>
          </p:nvSpPr>
          <p:spPr>
            <a:xfrm>
              <a:off x="738188" y="2508250"/>
              <a:ext cx="1993016" cy="161925"/>
            </a:xfrm>
            <a:prstGeom prst="rect">
              <a:avLst/>
            </a:prstGeom>
            <a:noFill/>
            <a:ln>
              <a:noFill/>
            </a:ln>
          </p:spPr>
          <p:txBody>
            <a:bodyPr wrap="none" lIns="0" tIns="0" rIns="0" bIns="0" anchor="t" anchorCtr="0">
              <a:spAutoFit/>
            </a:bodyPr>
            <a:lstStyle/>
            <a:p>
              <a:pPr marL="76200" indent="-76200" algn="l">
                <a:buClr>
                  <a:srgbClr val="64748B"/>
                </a:buClr>
                <a:buSzTx/>
                <a:buFontTx/>
                <a:buChar char="•"/>
              </a:pPr>
              <a:r>
                <a:rPr lang="en-US" sz="820" dirty="0">
                  <a:solidFill>
                    <a:srgbClr val="64748B"/>
                  </a:solidFill>
                  <a:latin typeface="+mn-lt"/>
                  <a:ea typeface="+mn-ea"/>
                  <a:cs typeface="+mn-cs"/>
                </a:rPr>
                <a:t>512 token clipping for high throughput</a:t>
              </a:r>
            </a:p>
          </p:txBody>
        </p:sp>
        <p:sp>
          <p:nvSpPr>
            <p:cNvPr id="17" name="Line 17"/>
            <p:cNvSpPr/>
            <p:nvPr/>
          </p:nvSpPr>
          <p:spPr>
            <a:xfrm>
              <a:off x="742950" y="2762250"/>
              <a:ext cx="3143250" cy="9525"/>
            </a:xfrm>
            <a:custGeom>
              <a:avLst/>
              <a:gdLst/>
              <a:ahLst/>
              <a:cxnLst/>
              <a:rect l="l" t="t" r="r" b="b"/>
              <a:pathLst>
                <a:path w="3143250" h="9525">
                  <a:moveTo>
                    <a:pt x="0" y="0"/>
                  </a:moveTo>
                  <a:lnTo>
                    <a:pt x="3143250" y="0"/>
                  </a:lnTo>
                </a:path>
              </a:pathLst>
            </a:custGeom>
            <a:noFill/>
            <a:ln w="9525">
              <a:solidFill>
                <a:srgbClr val="E2E8F0"/>
              </a:solidFill>
            </a:ln>
          </p:spPr>
        </p:sp>
        <p:sp>
          <p:nvSpPr>
            <p:cNvPr id="18" name="TextBox 18"/>
            <p:cNvSpPr txBox="1"/>
            <p:nvPr/>
          </p:nvSpPr>
          <p:spPr>
            <a:xfrm>
              <a:off x="737997" y="2844800"/>
              <a:ext cx="2048970" cy="191643"/>
            </a:xfrm>
            <a:prstGeom prst="rect">
              <a:avLst/>
            </a:prstGeom>
            <a:noFill/>
            <a:ln>
              <a:noFill/>
            </a:ln>
          </p:spPr>
          <p:txBody>
            <a:bodyPr wrap="none" lIns="0" tIns="0" rIns="0" bIns="0" anchor="t" anchorCtr="0">
              <a:spAutoFit/>
            </a:bodyPr>
            <a:lstStyle/>
            <a:p>
              <a:pPr algn="l"/>
              <a:r>
                <a:rPr lang="en-US" sz="980" b="1" dirty="0">
                  <a:solidFill>
                    <a:schemeClr val="dk1"/>
                  </a:solidFill>
                  <a:latin typeface="+mn-lt"/>
                  <a:ea typeface="+mn-ea"/>
                  <a:cs typeface="+mn-cs"/>
                </a:rPr>
                <a:t>7-Tier Financial Event Taxonomy</a:t>
              </a:r>
            </a:p>
          </p:txBody>
        </p:sp>
        <p:sp>
          <p:nvSpPr>
            <p:cNvPr id="19" name="TextBox 19"/>
            <p:cNvSpPr txBox="1"/>
            <p:nvPr/>
          </p:nvSpPr>
          <p:spPr>
            <a:xfrm>
              <a:off x="738188" y="3041650"/>
              <a:ext cx="2653151" cy="161925"/>
            </a:xfrm>
            <a:prstGeom prst="rect">
              <a:avLst/>
            </a:prstGeom>
            <a:noFill/>
            <a:ln>
              <a:noFill/>
            </a:ln>
          </p:spPr>
          <p:txBody>
            <a:bodyPr wrap="none" lIns="0" tIns="0" rIns="0" bIns="0" anchor="t" anchorCtr="0">
              <a:spAutoFit/>
            </a:bodyPr>
            <a:lstStyle/>
            <a:p>
              <a:pPr algn="l"/>
              <a:r>
                <a:rPr lang="en-US" sz="820" dirty="0">
                  <a:solidFill>
                    <a:srgbClr val="64748B"/>
                  </a:solidFill>
                  <a:latin typeface="+mn-lt"/>
                  <a:ea typeface="+mn-ea"/>
                  <a:cs typeface="+mn-cs"/>
                </a:rPr>
                <a:t>Deterministic keyword matching with severity weights:</a:t>
              </a:r>
            </a:p>
          </p:txBody>
        </p:sp>
        <p:sp>
          <p:nvSpPr>
            <p:cNvPr id="20" name="Rectangle 20"/>
            <p:cNvSpPr/>
            <p:nvPr/>
          </p:nvSpPr>
          <p:spPr>
            <a:xfrm>
              <a:off x="742950" y="3276600"/>
              <a:ext cx="2095500" cy="228600"/>
            </a:xfrm>
            <a:prstGeom prst="roundRect">
              <a:avLst>
                <a:gd name="adj" fmla="val 16667"/>
              </a:avLst>
            </a:prstGeom>
            <a:solidFill>
              <a:schemeClr val="lt1"/>
            </a:solidFill>
            <a:ln w="9525">
              <a:solidFill>
                <a:srgbClr val="E2E8F0"/>
              </a:solidFill>
            </a:ln>
          </p:spPr>
        </p:sp>
        <p:sp>
          <p:nvSpPr>
            <p:cNvPr id="21" name="TextBox 21"/>
            <p:cNvSpPr txBox="1"/>
            <p:nvPr/>
          </p:nvSpPr>
          <p:spPr>
            <a:xfrm>
              <a:off x="833438" y="3327400"/>
              <a:ext cx="819358" cy="161925"/>
            </a:xfrm>
            <a:prstGeom prst="rect">
              <a:avLst/>
            </a:prstGeom>
            <a:noFill/>
            <a:ln>
              <a:noFill/>
            </a:ln>
          </p:spPr>
          <p:txBody>
            <a:bodyPr wrap="none" lIns="0" tIns="0" rIns="0" bIns="0" anchor="t" anchorCtr="0">
              <a:spAutoFit/>
            </a:bodyPr>
            <a:lstStyle/>
            <a:p>
              <a:pPr algn="l"/>
              <a:r>
                <a:rPr lang="en-US" sz="820" b="1" dirty="0">
                  <a:solidFill>
                    <a:srgbClr val="334155"/>
                  </a:solidFill>
                  <a:latin typeface="+mn-lt"/>
                  <a:ea typeface="+mn-ea"/>
                  <a:cs typeface="+mn-cs"/>
                </a:rPr>
                <a:t>GEOPOLITICAL</a:t>
              </a:r>
            </a:p>
          </p:txBody>
        </p:sp>
        <p:sp>
          <p:nvSpPr>
            <p:cNvPr id="22" name="Rectangle 22"/>
            <p:cNvSpPr/>
            <p:nvPr/>
          </p:nvSpPr>
          <p:spPr>
            <a:xfrm>
              <a:off x="2914650" y="3276600"/>
              <a:ext cx="952500" cy="228600"/>
            </a:xfrm>
            <a:prstGeom prst="roundRect">
              <a:avLst>
                <a:gd name="adj" fmla="val 16667"/>
              </a:avLst>
            </a:prstGeom>
            <a:solidFill>
              <a:srgbClr val="FEF2F2"/>
            </a:solidFill>
            <a:ln w="9525">
              <a:solidFill>
                <a:srgbClr val="FECACA"/>
              </a:solidFill>
            </a:ln>
          </p:spPr>
        </p:sp>
        <p:sp>
          <p:nvSpPr>
            <p:cNvPr id="23" name="TextBox 23"/>
            <p:cNvSpPr txBox="1"/>
            <p:nvPr/>
          </p:nvSpPr>
          <p:spPr>
            <a:xfrm>
              <a:off x="3018419" y="3327400"/>
              <a:ext cx="744962" cy="161925"/>
            </a:xfrm>
            <a:prstGeom prst="rect">
              <a:avLst/>
            </a:prstGeom>
            <a:noFill/>
            <a:ln>
              <a:noFill/>
            </a:ln>
          </p:spPr>
          <p:txBody>
            <a:bodyPr wrap="none" lIns="0" tIns="0" rIns="0" bIns="0" anchor="t" anchorCtr="0">
              <a:spAutoFit/>
            </a:bodyPr>
            <a:lstStyle/>
            <a:p>
              <a:pPr algn="ctr"/>
              <a:r>
                <a:rPr lang="en-US" sz="820" b="1" dirty="0">
                  <a:solidFill>
                    <a:schemeClr val="accent3"/>
                  </a:solidFill>
                  <a:latin typeface="Consolas"/>
                  <a:ea typeface="Consolas"/>
                  <a:cs typeface="Consolas"/>
                </a:rPr>
                <a:t>Weight: 0.90</a:t>
              </a:r>
            </a:p>
          </p:txBody>
        </p:sp>
        <p:sp>
          <p:nvSpPr>
            <p:cNvPr id="24" name="Rectangle 24"/>
            <p:cNvSpPr/>
            <p:nvPr/>
          </p:nvSpPr>
          <p:spPr>
            <a:xfrm>
              <a:off x="742950" y="3543300"/>
              <a:ext cx="2095500" cy="228600"/>
            </a:xfrm>
            <a:prstGeom prst="roundRect">
              <a:avLst>
                <a:gd name="adj" fmla="val 16667"/>
              </a:avLst>
            </a:prstGeom>
            <a:solidFill>
              <a:schemeClr val="lt1"/>
            </a:solidFill>
            <a:ln w="9525">
              <a:solidFill>
                <a:srgbClr val="E2E8F0"/>
              </a:solidFill>
            </a:ln>
          </p:spPr>
        </p:sp>
        <p:sp>
          <p:nvSpPr>
            <p:cNvPr id="25" name="TextBox 25"/>
            <p:cNvSpPr txBox="1"/>
            <p:nvPr/>
          </p:nvSpPr>
          <p:spPr>
            <a:xfrm>
              <a:off x="833438" y="3594100"/>
              <a:ext cx="822647" cy="161925"/>
            </a:xfrm>
            <a:prstGeom prst="rect">
              <a:avLst/>
            </a:prstGeom>
            <a:noFill/>
            <a:ln>
              <a:noFill/>
            </a:ln>
          </p:spPr>
          <p:txBody>
            <a:bodyPr wrap="none" lIns="0" tIns="0" rIns="0" bIns="0" anchor="t" anchorCtr="0">
              <a:spAutoFit/>
            </a:bodyPr>
            <a:lstStyle/>
            <a:p>
              <a:pPr algn="l"/>
              <a:r>
                <a:rPr lang="en-US" sz="820" b="1" dirty="0">
                  <a:solidFill>
                    <a:srgbClr val="334155"/>
                  </a:solidFill>
                  <a:latin typeface="+mn-lt"/>
                  <a:ea typeface="+mn-ea"/>
                  <a:cs typeface="+mn-cs"/>
                </a:rPr>
                <a:t>CREDIT_EVENT</a:t>
              </a:r>
            </a:p>
          </p:txBody>
        </p:sp>
        <p:sp>
          <p:nvSpPr>
            <p:cNvPr id="26" name="Rectangle 26"/>
            <p:cNvSpPr/>
            <p:nvPr/>
          </p:nvSpPr>
          <p:spPr>
            <a:xfrm>
              <a:off x="2914650" y="3543300"/>
              <a:ext cx="952500" cy="228600"/>
            </a:xfrm>
            <a:prstGeom prst="roundRect">
              <a:avLst>
                <a:gd name="adj" fmla="val 16667"/>
              </a:avLst>
            </a:prstGeom>
            <a:solidFill>
              <a:srgbClr val="FEF2F2"/>
            </a:solidFill>
            <a:ln w="9525">
              <a:solidFill>
                <a:srgbClr val="FECACA"/>
              </a:solidFill>
            </a:ln>
          </p:spPr>
        </p:sp>
        <p:sp>
          <p:nvSpPr>
            <p:cNvPr id="27" name="TextBox 27"/>
            <p:cNvSpPr txBox="1"/>
            <p:nvPr/>
          </p:nvSpPr>
          <p:spPr>
            <a:xfrm>
              <a:off x="3018419" y="3594100"/>
              <a:ext cx="744962" cy="161925"/>
            </a:xfrm>
            <a:prstGeom prst="rect">
              <a:avLst/>
            </a:prstGeom>
            <a:noFill/>
            <a:ln>
              <a:noFill/>
            </a:ln>
          </p:spPr>
          <p:txBody>
            <a:bodyPr wrap="none" lIns="0" tIns="0" rIns="0" bIns="0" anchor="t" anchorCtr="0">
              <a:spAutoFit/>
            </a:bodyPr>
            <a:lstStyle/>
            <a:p>
              <a:pPr algn="ctr"/>
              <a:r>
                <a:rPr lang="en-US" sz="820" b="1" dirty="0">
                  <a:solidFill>
                    <a:schemeClr val="accent3"/>
                  </a:solidFill>
                  <a:latin typeface="Consolas"/>
                  <a:ea typeface="Consolas"/>
                  <a:cs typeface="Consolas"/>
                </a:rPr>
                <a:t>Weight: 0.85</a:t>
              </a:r>
            </a:p>
          </p:txBody>
        </p:sp>
        <p:sp>
          <p:nvSpPr>
            <p:cNvPr id="28" name="Rectangle 28"/>
            <p:cNvSpPr/>
            <p:nvPr/>
          </p:nvSpPr>
          <p:spPr>
            <a:xfrm>
              <a:off x="742950" y="3810000"/>
              <a:ext cx="2095500" cy="228600"/>
            </a:xfrm>
            <a:prstGeom prst="roundRect">
              <a:avLst>
                <a:gd name="adj" fmla="val 16667"/>
              </a:avLst>
            </a:prstGeom>
            <a:solidFill>
              <a:schemeClr val="lt1"/>
            </a:solidFill>
            <a:ln w="9525">
              <a:solidFill>
                <a:srgbClr val="E2E8F0"/>
              </a:solidFill>
            </a:ln>
          </p:spPr>
        </p:sp>
        <p:sp>
          <p:nvSpPr>
            <p:cNvPr id="29" name="TextBox 29"/>
            <p:cNvSpPr txBox="1"/>
            <p:nvPr/>
          </p:nvSpPr>
          <p:spPr>
            <a:xfrm>
              <a:off x="833438" y="3860800"/>
              <a:ext cx="1065776" cy="161925"/>
            </a:xfrm>
            <a:prstGeom prst="rect">
              <a:avLst/>
            </a:prstGeom>
            <a:noFill/>
            <a:ln>
              <a:noFill/>
            </a:ln>
          </p:spPr>
          <p:txBody>
            <a:bodyPr wrap="none" lIns="0" tIns="0" rIns="0" bIns="0" anchor="t" anchorCtr="0">
              <a:spAutoFit/>
            </a:bodyPr>
            <a:lstStyle/>
            <a:p>
              <a:pPr algn="l"/>
              <a:r>
                <a:rPr lang="en-US" sz="820" b="1" dirty="0">
                  <a:solidFill>
                    <a:srgbClr val="334155"/>
                  </a:solidFill>
                  <a:latin typeface="+mn-lt"/>
                  <a:ea typeface="+mn-ea"/>
                  <a:cs typeface="+mn-cs"/>
                </a:rPr>
                <a:t>MACROECONOMIC</a:t>
              </a:r>
            </a:p>
          </p:txBody>
        </p:sp>
        <p:sp>
          <p:nvSpPr>
            <p:cNvPr id="30" name="Rectangle 30"/>
            <p:cNvSpPr/>
            <p:nvPr/>
          </p:nvSpPr>
          <p:spPr>
            <a:xfrm>
              <a:off x="2914650" y="3810000"/>
              <a:ext cx="952500" cy="228600"/>
            </a:xfrm>
            <a:prstGeom prst="roundRect">
              <a:avLst>
                <a:gd name="adj" fmla="val 16667"/>
              </a:avLst>
            </a:prstGeom>
            <a:solidFill>
              <a:srgbClr val="FFF7ED"/>
            </a:solidFill>
            <a:ln w="9525">
              <a:solidFill>
                <a:srgbClr val="FFEDD5"/>
              </a:solidFill>
            </a:ln>
          </p:spPr>
        </p:sp>
        <p:sp>
          <p:nvSpPr>
            <p:cNvPr id="31" name="TextBox 31"/>
            <p:cNvSpPr txBox="1"/>
            <p:nvPr/>
          </p:nvSpPr>
          <p:spPr>
            <a:xfrm>
              <a:off x="3018419" y="3860800"/>
              <a:ext cx="744962" cy="161925"/>
            </a:xfrm>
            <a:prstGeom prst="rect">
              <a:avLst/>
            </a:prstGeom>
            <a:noFill/>
            <a:ln>
              <a:noFill/>
            </a:ln>
          </p:spPr>
          <p:txBody>
            <a:bodyPr wrap="none" lIns="0" tIns="0" rIns="0" bIns="0" anchor="t" anchorCtr="0">
              <a:spAutoFit/>
            </a:bodyPr>
            <a:lstStyle/>
            <a:p>
              <a:pPr algn="ctr"/>
              <a:r>
                <a:rPr lang="en-US" sz="820" b="1" dirty="0">
                  <a:solidFill>
                    <a:srgbClr val="C2410C"/>
                  </a:solidFill>
                  <a:latin typeface="Consolas"/>
                  <a:ea typeface="Consolas"/>
                  <a:cs typeface="Consolas"/>
                </a:rPr>
                <a:t>Weight: 0.80</a:t>
              </a:r>
            </a:p>
          </p:txBody>
        </p:sp>
        <p:sp>
          <p:nvSpPr>
            <p:cNvPr id="32" name="Rectangle 32"/>
            <p:cNvSpPr/>
            <p:nvPr/>
          </p:nvSpPr>
          <p:spPr>
            <a:xfrm>
              <a:off x="742950" y="4076700"/>
              <a:ext cx="2095500" cy="228600"/>
            </a:xfrm>
            <a:prstGeom prst="roundRect">
              <a:avLst>
                <a:gd name="adj" fmla="val 16667"/>
              </a:avLst>
            </a:prstGeom>
            <a:solidFill>
              <a:schemeClr val="lt1"/>
            </a:solidFill>
            <a:ln w="9525">
              <a:solidFill>
                <a:srgbClr val="E2E8F0"/>
              </a:solidFill>
            </a:ln>
          </p:spPr>
        </p:sp>
        <p:sp>
          <p:nvSpPr>
            <p:cNvPr id="33" name="TextBox 33"/>
            <p:cNvSpPr txBox="1"/>
            <p:nvPr/>
          </p:nvSpPr>
          <p:spPr>
            <a:xfrm>
              <a:off x="833438" y="4127500"/>
              <a:ext cx="760339" cy="161925"/>
            </a:xfrm>
            <a:prstGeom prst="rect">
              <a:avLst/>
            </a:prstGeom>
            <a:noFill/>
            <a:ln>
              <a:noFill/>
            </a:ln>
          </p:spPr>
          <p:txBody>
            <a:bodyPr wrap="none" lIns="0" tIns="0" rIns="0" bIns="0" anchor="t" anchorCtr="0">
              <a:spAutoFit/>
            </a:bodyPr>
            <a:lstStyle/>
            <a:p>
              <a:pPr algn="l"/>
              <a:r>
                <a:rPr lang="en-US" sz="820" b="1" dirty="0">
                  <a:solidFill>
                    <a:srgbClr val="334155"/>
                  </a:solidFill>
                  <a:latin typeface="+mn-lt"/>
                  <a:ea typeface="+mn-ea"/>
                  <a:cs typeface="+mn-cs"/>
                </a:rPr>
                <a:t>REGULATORY</a:t>
              </a:r>
            </a:p>
          </p:txBody>
        </p:sp>
        <p:sp>
          <p:nvSpPr>
            <p:cNvPr id="34" name="Rectangle 34"/>
            <p:cNvSpPr/>
            <p:nvPr/>
          </p:nvSpPr>
          <p:spPr>
            <a:xfrm>
              <a:off x="2914650" y="4076700"/>
              <a:ext cx="952500" cy="228600"/>
            </a:xfrm>
            <a:prstGeom prst="roundRect">
              <a:avLst>
                <a:gd name="adj" fmla="val 16667"/>
              </a:avLst>
            </a:prstGeom>
            <a:solidFill>
              <a:srgbClr val="FEFCE8"/>
            </a:solidFill>
            <a:ln w="9525">
              <a:solidFill>
                <a:srgbClr val="FEF08A"/>
              </a:solidFill>
            </a:ln>
          </p:spPr>
        </p:sp>
        <p:sp>
          <p:nvSpPr>
            <p:cNvPr id="35" name="TextBox 35"/>
            <p:cNvSpPr txBox="1"/>
            <p:nvPr/>
          </p:nvSpPr>
          <p:spPr>
            <a:xfrm>
              <a:off x="3018419" y="4127500"/>
              <a:ext cx="744962" cy="161925"/>
            </a:xfrm>
            <a:prstGeom prst="rect">
              <a:avLst/>
            </a:prstGeom>
            <a:noFill/>
            <a:ln>
              <a:noFill/>
            </a:ln>
          </p:spPr>
          <p:txBody>
            <a:bodyPr wrap="none" lIns="0" tIns="0" rIns="0" bIns="0" anchor="t" anchorCtr="0">
              <a:spAutoFit/>
            </a:bodyPr>
            <a:lstStyle/>
            <a:p>
              <a:pPr algn="ctr"/>
              <a:r>
                <a:rPr lang="en-US" sz="820" b="1" dirty="0">
                  <a:solidFill>
                    <a:srgbClr val="854D0E"/>
                  </a:solidFill>
                  <a:latin typeface="Consolas"/>
                  <a:ea typeface="Consolas"/>
                  <a:cs typeface="Consolas"/>
                </a:rPr>
                <a:t>Weight: 0.60</a:t>
              </a:r>
            </a:p>
          </p:txBody>
        </p:sp>
        <p:sp>
          <p:nvSpPr>
            <p:cNvPr id="36" name="Rectangle 36"/>
            <p:cNvSpPr/>
            <p:nvPr/>
          </p:nvSpPr>
          <p:spPr>
            <a:xfrm>
              <a:off x="742950" y="4343400"/>
              <a:ext cx="2095500" cy="228600"/>
            </a:xfrm>
            <a:prstGeom prst="roundRect">
              <a:avLst>
                <a:gd name="adj" fmla="val 16667"/>
              </a:avLst>
            </a:prstGeom>
            <a:solidFill>
              <a:schemeClr val="lt1"/>
            </a:solidFill>
            <a:ln w="9525">
              <a:solidFill>
                <a:srgbClr val="E2E8F0"/>
              </a:solidFill>
            </a:ln>
          </p:spPr>
        </p:sp>
        <p:sp>
          <p:nvSpPr>
            <p:cNvPr id="37" name="TextBox 37"/>
            <p:cNvSpPr txBox="1"/>
            <p:nvPr/>
          </p:nvSpPr>
          <p:spPr>
            <a:xfrm>
              <a:off x="833438" y="4394200"/>
              <a:ext cx="1281659" cy="161925"/>
            </a:xfrm>
            <a:prstGeom prst="rect">
              <a:avLst/>
            </a:prstGeom>
            <a:noFill/>
            <a:ln>
              <a:noFill/>
            </a:ln>
          </p:spPr>
          <p:txBody>
            <a:bodyPr wrap="none" lIns="0" tIns="0" rIns="0" bIns="0" anchor="t" anchorCtr="0">
              <a:spAutoFit/>
            </a:bodyPr>
            <a:lstStyle/>
            <a:p>
              <a:pPr algn="l"/>
              <a:r>
                <a:rPr lang="en-US" sz="820" b="1" dirty="0">
                  <a:solidFill>
                    <a:srgbClr val="334155"/>
                  </a:solidFill>
                  <a:latin typeface="+mn-lt"/>
                  <a:ea typeface="+mn-ea"/>
                  <a:cs typeface="+mn-cs"/>
                </a:rPr>
                <a:t>MERGER_ACQUISITION</a:t>
              </a:r>
            </a:p>
          </p:txBody>
        </p:sp>
        <p:sp>
          <p:nvSpPr>
            <p:cNvPr id="38" name="Rectangle 38"/>
            <p:cNvSpPr/>
            <p:nvPr/>
          </p:nvSpPr>
          <p:spPr>
            <a:xfrm>
              <a:off x="2914650" y="4343400"/>
              <a:ext cx="952500" cy="228600"/>
            </a:xfrm>
            <a:prstGeom prst="roundRect">
              <a:avLst>
                <a:gd name="adj" fmla="val 16667"/>
              </a:avLst>
            </a:prstGeom>
            <a:solidFill>
              <a:srgbClr val="EFF6FF"/>
            </a:solidFill>
            <a:ln w="9525">
              <a:solidFill>
                <a:srgbClr val="BFDBFE"/>
              </a:solidFill>
            </a:ln>
          </p:spPr>
        </p:sp>
        <p:sp>
          <p:nvSpPr>
            <p:cNvPr id="39" name="TextBox 39"/>
            <p:cNvSpPr txBox="1"/>
            <p:nvPr/>
          </p:nvSpPr>
          <p:spPr>
            <a:xfrm>
              <a:off x="3018419" y="4394200"/>
              <a:ext cx="744962" cy="161925"/>
            </a:xfrm>
            <a:prstGeom prst="rect">
              <a:avLst/>
            </a:prstGeom>
            <a:noFill/>
            <a:ln>
              <a:noFill/>
            </a:ln>
          </p:spPr>
          <p:txBody>
            <a:bodyPr wrap="none" lIns="0" tIns="0" rIns="0" bIns="0" anchor="t" anchorCtr="0">
              <a:spAutoFit/>
            </a:bodyPr>
            <a:lstStyle/>
            <a:p>
              <a:pPr algn="ctr"/>
              <a:r>
                <a:rPr lang="en-US" sz="820" b="1" dirty="0">
                  <a:solidFill>
                    <a:srgbClr val="1D4ED8"/>
                  </a:solidFill>
                  <a:latin typeface="Consolas"/>
                  <a:ea typeface="Consolas"/>
                  <a:cs typeface="Consolas"/>
                </a:rPr>
                <a:t>Weight: 0.50</a:t>
              </a:r>
            </a:p>
          </p:txBody>
        </p:sp>
        <p:sp>
          <p:nvSpPr>
            <p:cNvPr id="40" name="Rectangle 40"/>
            <p:cNvSpPr/>
            <p:nvPr/>
          </p:nvSpPr>
          <p:spPr>
            <a:xfrm>
              <a:off x="742950" y="4610100"/>
              <a:ext cx="2095500" cy="228600"/>
            </a:xfrm>
            <a:prstGeom prst="roundRect">
              <a:avLst>
                <a:gd name="adj" fmla="val 16667"/>
              </a:avLst>
            </a:prstGeom>
            <a:solidFill>
              <a:schemeClr val="lt1"/>
            </a:solidFill>
            <a:ln w="9525">
              <a:solidFill>
                <a:srgbClr val="E2E8F0"/>
              </a:solidFill>
            </a:ln>
          </p:spPr>
        </p:sp>
        <p:sp>
          <p:nvSpPr>
            <p:cNvPr id="41" name="TextBox 41"/>
            <p:cNvSpPr txBox="1"/>
            <p:nvPr/>
          </p:nvSpPr>
          <p:spPr>
            <a:xfrm>
              <a:off x="833438" y="4660900"/>
              <a:ext cx="599287" cy="161925"/>
            </a:xfrm>
            <a:prstGeom prst="rect">
              <a:avLst/>
            </a:prstGeom>
            <a:noFill/>
            <a:ln>
              <a:noFill/>
            </a:ln>
          </p:spPr>
          <p:txBody>
            <a:bodyPr wrap="none" lIns="0" tIns="0" rIns="0" bIns="0" anchor="t" anchorCtr="0">
              <a:spAutoFit/>
            </a:bodyPr>
            <a:lstStyle/>
            <a:p>
              <a:pPr algn="l"/>
              <a:r>
                <a:rPr lang="en-US" sz="820" b="1" dirty="0">
                  <a:solidFill>
                    <a:srgbClr val="334155"/>
                  </a:solidFill>
                  <a:latin typeface="+mn-lt"/>
                  <a:ea typeface="+mn-ea"/>
                  <a:cs typeface="+mn-cs"/>
                </a:rPr>
                <a:t>EARNINGS</a:t>
              </a:r>
            </a:p>
          </p:txBody>
        </p:sp>
        <p:sp>
          <p:nvSpPr>
            <p:cNvPr id="42" name="Rectangle 42"/>
            <p:cNvSpPr/>
            <p:nvPr/>
          </p:nvSpPr>
          <p:spPr>
            <a:xfrm>
              <a:off x="2914650" y="4610100"/>
              <a:ext cx="952500" cy="228600"/>
            </a:xfrm>
            <a:prstGeom prst="roundRect">
              <a:avLst>
                <a:gd name="adj" fmla="val 16667"/>
              </a:avLst>
            </a:prstGeom>
            <a:solidFill>
              <a:srgbClr val="EFF6FF"/>
            </a:solidFill>
            <a:ln w="9525">
              <a:solidFill>
                <a:srgbClr val="BFDBFE"/>
              </a:solidFill>
            </a:ln>
          </p:spPr>
        </p:sp>
        <p:sp>
          <p:nvSpPr>
            <p:cNvPr id="43" name="TextBox 43"/>
            <p:cNvSpPr txBox="1"/>
            <p:nvPr/>
          </p:nvSpPr>
          <p:spPr>
            <a:xfrm>
              <a:off x="3018419" y="4660900"/>
              <a:ext cx="744962" cy="161925"/>
            </a:xfrm>
            <a:prstGeom prst="rect">
              <a:avLst/>
            </a:prstGeom>
            <a:noFill/>
            <a:ln>
              <a:noFill/>
            </a:ln>
          </p:spPr>
          <p:txBody>
            <a:bodyPr wrap="none" lIns="0" tIns="0" rIns="0" bIns="0" anchor="t" anchorCtr="0">
              <a:spAutoFit/>
            </a:bodyPr>
            <a:lstStyle/>
            <a:p>
              <a:pPr algn="ctr"/>
              <a:r>
                <a:rPr lang="en-US" sz="820" b="1" dirty="0">
                  <a:solidFill>
                    <a:srgbClr val="1D4ED8"/>
                  </a:solidFill>
                  <a:latin typeface="Consolas"/>
                  <a:ea typeface="Consolas"/>
                  <a:cs typeface="Consolas"/>
                </a:rPr>
                <a:t>Weight: 0.40</a:t>
              </a:r>
            </a:p>
          </p:txBody>
        </p:sp>
        <p:sp>
          <p:nvSpPr>
            <p:cNvPr id="44" name="Rectangle 44"/>
            <p:cNvSpPr/>
            <p:nvPr/>
          </p:nvSpPr>
          <p:spPr>
            <a:xfrm>
              <a:off x="742950" y="4876800"/>
              <a:ext cx="2095500" cy="228600"/>
            </a:xfrm>
            <a:prstGeom prst="roundRect">
              <a:avLst>
                <a:gd name="adj" fmla="val 16667"/>
              </a:avLst>
            </a:prstGeom>
            <a:solidFill>
              <a:schemeClr val="lt1"/>
            </a:solidFill>
            <a:ln w="9525">
              <a:solidFill>
                <a:srgbClr val="E2E8F0"/>
              </a:solidFill>
            </a:ln>
          </p:spPr>
        </p:sp>
        <p:sp>
          <p:nvSpPr>
            <p:cNvPr id="45" name="TextBox 45"/>
            <p:cNvSpPr txBox="1"/>
            <p:nvPr/>
          </p:nvSpPr>
          <p:spPr>
            <a:xfrm>
              <a:off x="833438" y="4927600"/>
              <a:ext cx="1085873" cy="161925"/>
            </a:xfrm>
            <a:prstGeom prst="rect">
              <a:avLst/>
            </a:prstGeom>
            <a:noFill/>
            <a:ln>
              <a:noFill/>
            </a:ln>
          </p:spPr>
          <p:txBody>
            <a:bodyPr wrap="none" lIns="0" tIns="0" rIns="0" bIns="0" anchor="t" anchorCtr="0">
              <a:spAutoFit/>
            </a:bodyPr>
            <a:lstStyle/>
            <a:p>
              <a:pPr algn="l"/>
              <a:r>
                <a:rPr lang="en-US" sz="820" b="1" dirty="0">
                  <a:solidFill>
                    <a:srgbClr val="334155"/>
                  </a:solidFill>
                  <a:latin typeface="+mn-lt"/>
                  <a:ea typeface="+mn-ea"/>
                  <a:cs typeface="+mn-cs"/>
                </a:rPr>
                <a:t>PRODUCT_LAUNCH</a:t>
              </a:r>
            </a:p>
          </p:txBody>
        </p:sp>
        <p:sp>
          <p:nvSpPr>
            <p:cNvPr id="46" name="Rectangle 46"/>
            <p:cNvSpPr/>
            <p:nvPr/>
          </p:nvSpPr>
          <p:spPr>
            <a:xfrm>
              <a:off x="2914650" y="4876800"/>
              <a:ext cx="952500" cy="228600"/>
            </a:xfrm>
            <a:prstGeom prst="roundRect">
              <a:avLst>
                <a:gd name="adj" fmla="val 16667"/>
              </a:avLst>
            </a:prstGeom>
            <a:solidFill>
              <a:srgbClr val="ECFDF5"/>
            </a:solidFill>
            <a:ln w="9525">
              <a:solidFill>
                <a:srgbClr val="A7F3D0"/>
              </a:solidFill>
            </a:ln>
          </p:spPr>
        </p:sp>
        <p:sp>
          <p:nvSpPr>
            <p:cNvPr id="47" name="TextBox 47"/>
            <p:cNvSpPr txBox="1"/>
            <p:nvPr/>
          </p:nvSpPr>
          <p:spPr>
            <a:xfrm>
              <a:off x="3018419" y="4927600"/>
              <a:ext cx="744962" cy="161925"/>
            </a:xfrm>
            <a:prstGeom prst="rect">
              <a:avLst/>
            </a:prstGeom>
            <a:noFill/>
            <a:ln>
              <a:noFill/>
            </a:ln>
          </p:spPr>
          <p:txBody>
            <a:bodyPr wrap="none" lIns="0" tIns="0" rIns="0" bIns="0" anchor="t" anchorCtr="0">
              <a:spAutoFit/>
            </a:bodyPr>
            <a:lstStyle/>
            <a:p>
              <a:pPr algn="ctr"/>
              <a:r>
                <a:rPr lang="en-US" sz="820" b="1" dirty="0">
                  <a:solidFill>
                    <a:srgbClr val="047857"/>
                  </a:solidFill>
                  <a:latin typeface="Consolas"/>
                  <a:ea typeface="Consolas"/>
                  <a:cs typeface="Consolas"/>
                </a:rPr>
                <a:t>Weight: 0.30</a:t>
              </a:r>
            </a:p>
          </p:txBody>
        </p:sp>
        <p:sp>
          <p:nvSpPr>
            <p:cNvPr id="48" name="Rectangle 48"/>
            <p:cNvSpPr/>
            <p:nvPr/>
          </p:nvSpPr>
          <p:spPr>
            <a:xfrm>
              <a:off x="742950" y="5295900"/>
              <a:ext cx="3143250" cy="800100"/>
            </a:xfrm>
            <a:prstGeom prst="roundRect">
              <a:avLst>
                <a:gd name="adj" fmla="val 7143"/>
              </a:avLst>
            </a:prstGeom>
            <a:solidFill>
              <a:srgbClr val="F1F5F9"/>
            </a:solidFill>
            <a:ln w="9525">
              <a:solidFill>
                <a:schemeClr val="accent6"/>
              </a:solidFill>
            </a:ln>
          </p:spPr>
        </p:sp>
        <p:sp>
          <p:nvSpPr>
            <p:cNvPr id="49" name="TextBox 49"/>
            <p:cNvSpPr txBox="1"/>
            <p:nvPr/>
          </p:nvSpPr>
          <p:spPr>
            <a:xfrm>
              <a:off x="833438" y="5403850"/>
              <a:ext cx="1340240" cy="161925"/>
            </a:xfrm>
            <a:prstGeom prst="rect">
              <a:avLst/>
            </a:prstGeom>
            <a:noFill/>
            <a:ln>
              <a:noFill/>
            </a:ln>
          </p:spPr>
          <p:txBody>
            <a:bodyPr wrap="none" lIns="0" tIns="0" rIns="0" bIns="0" anchor="t" anchorCtr="0">
              <a:spAutoFit/>
            </a:bodyPr>
            <a:lstStyle/>
            <a:p>
              <a:pPr algn="l"/>
              <a:r>
                <a:rPr lang="en-US" sz="820" b="1" dirty="0">
                  <a:solidFill>
                    <a:schemeClr val="accent1"/>
                  </a:solidFill>
                  <a:latin typeface="+mn-lt"/>
                  <a:ea typeface="+mn-ea"/>
                  <a:cs typeface="+mn-cs"/>
                </a:rPr>
                <a:t>Explainability Advantage:</a:t>
              </a:r>
            </a:p>
          </p:txBody>
        </p:sp>
        <p:sp>
          <p:nvSpPr>
            <p:cNvPr id="50" name="TextBox 50"/>
            <p:cNvSpPr txBox="1"/>
            <p:nvPr/>
          </p:nvSpPr>
          <p:spPr>
            <a:xfrm>
              <a:off x="833438" y="5556250"/>
              <a:ext cx="2338585" cy="333375"/>
            </a:xfrm>
            <a:prstGeom prst="rect">
              <a:avLst/>
            </a:prstGeom>
            <a:noFill/>
            <a:ln>
              <a:noFill/>
            </a:ln>
          </p:spPr>
          <p:txBody>
            <a:bodyPr wrap="none" lIns="0" tIns="0" rIns="0" bIns="0" anchor="t" anchorCtr="0">
              <a:spAutoFit/>
            </a:bodyPr>
            <a:lstStyle/>
            <a:p>
              <a:pPr algn="l">
                <a:lnSpc>
                  <a:spcPts val="1350"/>
                </a:lnSpc>
              </a:pPr>
              <a:r>
                <a:rPr lang="en-US" sz="820" dirty="0">
                  <a:solidFill>
                    <a:srgbClr val="334155"/>
                  </a:solidFill>
                  <a:latin typeface="+mn-lt"/>
                  <a:ea typeface="+mn-ea"/>
                  <a:cs typeface="+mn-cs"/>
                </a:rPr>
                <a:t>Eliminates black-box LLM hallucinations; desk</a:t>
              </a:r>
              <a:br>
                <a:rPr lang="en-US" sz="820" dirty="0">
                  <a:solidFill>
                    <a:srgbClr val="334155"/>
                  </a:solidFill>
                  <a:latin typeface="+mn-lt"/>
                  <a:ea typeface="+mn-ea"/>
                  <a:cs typeface="+mn-cs"/>
                </a:rPr>
              </a:br>
              <a:r>
                <a:rPr lang="en-US" sz="820" dirty="0">
                  <a:solidFill>
                    <a:srgbClr val="334155"/>
                  </a:solidFill>
                  <a:latin typeface="+mn-lt"/>
                  <a:ea typeface="+mn-ea"/>
                  <a:cs typeface="+mn-cs"/>
                </a:rPr>
                <a:t>auditors can trace exact keywords causing severity.</a:t>
              </a:r>
            </a:p>
          </p:txBody>
        </p:sp>
      </p:grpSp>
      <p:grpSp>
        <p:nvGrpSpPr>
          <p:cNvPr id="84" name="pillar-scorer"/>
          <p:cNvGrpSpPr/>
          <p:nvPr/>
        </p:nvGrpSpPr>
        <p:grpSpPr>
          <a:xfrm>
            <a:off x="6809234" y="1240409"/>
            <a:ext cx="3486150" cy="4933950"/>
            <a:chOff x="4248150" y="1333500"/>
            <a:chExt cx="3486150" cy="4933950"/>
          </a:xfrm>
        </p:grpSpPr>
        <p:sp>
          <p:nvSpPr>
            <p:cNvPr id="52" name="Rectangle 52"/>
            <p:cNvSpPr/>
            <p:nvPr/>
          </p:nvSpPr>
          <p:spPr>
            <a:xfrm>
              <a:off x="4248150" y="1333500"/>
              <a:ext cx="3486150" cy="4933950"/>
            </a:xfrm>
            <a:prstGeom prst="roundRect">
              <a:avLst>
                <a:gd name="adj" fmla="val 2186"/>
              </a:avLst>
            </a:prstGeom>
            <a:solidFill>
              <a:srgbClr val="FFFFFF"/>
            </a:solidFill>
            <a:ln w="9525">
              <a:solidFill>
                <a:schemeClr val="accent6"/>
              </a:solidFill>
            </a:ln>
          </p:spPr>
        </p:sp>
        <p:sp>
          <p:nvSpPr>
            <p:cNvPr id="53" name="Freeform 53"/>
            <p:cNvSpPr/>
            <p:nvPr/>
          </p:nvSpPr>
          <p:spPr>
            <a:xfrm>
              <a:off x="4248150" y="1333500"/>
              <a:ext cx="3486150" cy="342900"/>
            </a:xfrm>
            <a:custGeom>
              <a:avLst/>
              <a:gdLst/>
              <a:ahLst/>
              <a:cxnLst/>
              <a:rect l="l" t="t" r="r" b="b"/>
              <a:pathLst>
                <a:path w="3486150" h="342900">
                  <a:moveTo>
                    <a:pt x="0" y="76200"/>
                  </a:moveTo>
                  <a:cubicBezTo>
                    <a:pt x="0" y="25400"/>
                    <a:pt x="25400" y="0"/>
                    <a:pt x="76200" y="0"/>
                  </a:cubicBezTo>
                  <a:lnTo>
                    <a:pt x="3409950" y="0"/>
                  </a:lnTo>
                  <a:cubicBezTo>
                    <a:pt x="3460750" y="0"/>
                    <a:pt x="3486150" y="25400"/>
                    <a:pt x="3486150" y="76200"/>
                  </a:cubicBezTo>
                  <a:lnTo>
                    <a:pt x="3486150" y="342900"/>
                  </a:lnTo>
                  <a:lnTo>
                    <a:pt x="0" y="342900"/>
                  </a:lnTo>
                  <a:close/>
                </a:path>
              </a:pathLst>
            </a:custGeom>
            <a:solidFill>
              <a:srgbClr val="ECFDF5"/>
            </a:solidFill>
            <a:ln>
              <a:noFill/>
            </a:ln>
          </p:spPr>
        </p:sp>
        <p:sp>
          <p:nvSpPr>
            <p:cNvPr id="54" name="TextBox 54"/>
            <p:cNvSpPr txBox="1"/>
            <p:nvPr/>
          </p:nvSpPr>
          <p:spPr>
            <a:xfrm>
              <a:off x="4414838" y="1438275"/>
              <a:ext cx="2113856" cy="176212"/>
            </a:xfrm>
            <a:prstGeom prst="rect">
              <a:avLst/>
            </a:prstGeom>
            <a:noFill/>
            <a:ln>
              <a:noFill/>
            </a:ln>
          </p:spPr>
          <p:txBody>
            <a:bodyPr wrap="none" lIns="0" tIns="0" rIns="0" bIns="0" anchor="t" anchorCtr="0">
              <a:spAutoFit/>
            </a:bodyPr>
            <a:lstStyle/>
            <a:p>
              <a:pPr algn="l"/>
              <a:r>
                <a:rPr lang="en-US" sz="900" b="1" spc="75" dirty="0">
                  <a:solidFill>
                    <a:srgbClr val="065F46"/>
                  </a:solidFill>
                  <a:latin typeface="+mn-lt"/>
                  <a:ea typeface="+mn-ea"/>
                  <a:cs typeface="+mn-cs"/>
                </a:rPr>
                <a:t>2. IMPACT SCORER &amp; RULE A1</a:t>
              </a:r>
            </a:p>
          </p:txBody>
        </p:sp>
        <p:sp>
          <p:nvSpPr>
            <p:cNvPr id="55" name="Rectangle 55"/>
            <p:cNvSpPr/>
            <p:nvPr/>
          </p:nvSpPr>
          <p:spPr>
            <a:xfrm>
              <a:off x="4419600" y="1790700"/>
              <a:ext cx="3143250" cy="1314450"/>
            </a:xfrm>
            <a:prstGeom prst="roundRect">
              <a:avLst>
                <a:gd name="adj" fmla="val 4348"/>
              </a:avLst>
            </a:prstGeom>
            <a:solidFill>
              <a:schemeClr val="dk1"/>
            </a:solidFill>
            <a:ln w="9525">
              <a:solidFill>
                <a:schemeClr val="accent1"/>
              </a:solidFill>
            </a:ln>
          </p:spPr>
        </p:sp>
        <p:sp>
          <p:nvSpPr>
            <p:cNvPr id="56" name="TextBox 56"/>
            <p:cNvSpPr txBox="1"/>
            <p:nvPr/>
          </p:nvSpPr>
          <p:spPr>
            <a:xfrm>
              <a:off x="4529138" y="1898650"/>
              <a:ext cx="2520634" cy="161925"/>
            </a:xfrm>
            <a:prstGeom prst="rect">
              <a:avLst/>
            </a:prstGeom>
            <a:noFill/>
            <a:ln>
              <a:noFill/>
            </a:ln>
          </p:spPr>
          <p:txBody>
            <a:bodyPr wrap="none" lIns="0" tIns="0" rIns="0" bIns="0" anchor="t" anchorCtr="0">
              <a:spAutoFit/>
            </a:bodyPr>
            <a:lstStyle/>
            <a:p>
              <a:pPr algn="l"/>
              <a:r>
                <a:rPr lang="en-US" sz="820" b="1" dirty="0">
                  <a:solidFill>
                    <a:srgbClr val="93C5FD"/>
                  </a:solidFill>
                  <a:latin typeface="+mn-lt"/>
                  <a:ea typeface="+mn-ea"/>
                  <a:cs typeface="+mn-cs"/>
                </a:rPr>
                <a:t>COMPOSITE IMPACT SCORE FORMULA (1–10)</a:t>
              </a:r>
            </a:p>
          </p:txBody>
        </p:sp>
        <p:sp>
          <p:nvSpPr>
            <p:cNvPr id="57" name="TextBox 57"/>
            <p:cNvSpPr txBox="1"/>
            <p:nvPr/>
          </p:nvSpPr>
          <p:spPr>
            <a:xfrm>
              <a:off x="4529138" y="2127250"/>
              <a:ext cx="1347292" cy="176212"/>
            </a:xfrm>
            <a:prstGeom prst="rect">
              <a:avLst/>
            </a:prstGeom>
            <a:noFill/>
            <a:ln>
              <a:noFill/>
            </a:ln>
          </p:spPr>
          <p:txBody>
            <a:bodyPr wrap="none" lIns="0" tIns="0" rIns="0" bIns="0" anchor="t" anchorCtr="0">
              <a:spAutoFit/>
            </a:bodyPr>
            <a:lstStyle/>
            <a:p>
              <a:pPr algn="l"/>
              <a:r>
                <a:rPr lang="en-US" sz="900" dirty="0">
                  <a:solidFill>
                    <a:srgbClr val="FFFFFF"/>
                  </a:solidFill>
                  <a:latin typeface="Consolas"/>
                  <a:ea typeface="Consolas"/>
                  <a:cs typeface="Consolas"/>
                </a:rPr>
                <a:t>Score = clamp(round(</a:t>
              </a:r>
            </a:p>
          </p:txBody>
        </p:sp>
        <p:sp>
          <p:nvSpPr>
            <p:cNvPr id="58" name="TextBox 58"/>
            <p:cNvSpPr txBox="1"/>
            <p:nvPr/>
          </p:nvSpPr>
          <p:spPr>
            <a:xfrm>
              <a:off x="4681538" y="2317750"/>
              <a:ext cx="1675448" cy="176212"/>
            </a:xfrm>
            <a:prstGeom prst="rect">
              <a:avLst/>
            </a:prstGeom>
            <a:noFill/>
            <a:ln>
              <a:noFill/>
            </a:ln>
          </p:spPr>
          <p:txBody>
            <a:bodyPr wrap="none" lIns="0" tIns="0" rIns="0" bIns="0" anchor="t" anchorCtr="0">
              <a:spAutoFit/>
            </a:bodyPr>
            <a:lstStyle/>
            <a:p>
              <a:pPr algn="l"/>
              <a:r>
                <a:rPr lang="en-US" sz="900" dirty="0">
                  <a:solidFill>
                    <a:srgbClr val="34D399"/>
                  </a:solidFill>
                  <a:latin typeface="Consolas"/>
                  <a:ea typeface="Consolas"/>
                  <a:cs typeface="Consolas"/>
                </a:rPr>
                <a:t>0.35 * |sentiment| * 10 +</a:t>
              </a:r>
            </a:p>
          </p:txBody>
        </p:sp>
        <p:sp>
          <p:nvSpPr>
            <p:cNvPr id="59" name="TextBox 59"/>
            <p:cNvSpPr txBox="1"/>
            <p:nvPr/>
          </p:nvSpPr>
          <p:spPr>
            <a:xfrm>
              <a:off x="4681538" y="2489200"/>
              <a:ext cx="1941995" cy="176212"/>
            </a:xfrm>
            <a:prstGeom prst="rect">
              <a:avLst/>
            </a:prstGeom>
            <a:noFill/>
            <a:ln>
              <a:noFill/>
            </a:ln>
          </p:spPr>
          <p:txBody>
            <a:bodyPr wrap="none" lIns="0" tIns="0" rIns="0" bIns="0" anchor="t" anchorCtr="0">
              <a:spAutoFit/>
            </a:bodyPr>
            <a:lstStyle/>
            <a:p>
              <a:pPr algn="l"/>
              <a:r>
                <a:rPr lang="en-US" sz="900" dirty="0">
                  <a:solidFill>
                    <a:srgbClr val="FCD34D"/>
                  </a:solidFill>
                  <a:latin typeface="Consolas"/>
                  <a:ea typeface="Consolas"/>
                  <a:cs typeface="Consolas"/>
                </a:rPr>
                <a:t>0.35 * severity_weight * 10 +</a:t>
              </a:r>
            </a:p>
          </p:txBody>
        </p:sp>
        <p:sp>
          <p:nvSpPr>
            <p:cNvPr id="60" name="TextBox 60"/>
            <p:cNvSpPr txBox="1"/>
            <p:nvPr/>
          </p:nvSpPr>
          <p:spPr>
            <a:xfrm>
              <a:off x="4681538" y="2660650"/>
              <a:ext cx="2008632" cy="176212"/>
            </a:xfrm>
            <a:prstGeom prst="rect">
              <a:avLst/>
            </a:prstGeom>
            <a:noFill/>
            <a:ln>
              <a:noFill/>
            </a:ln>
          </p:spPr>
          <p:txBody>
            <a:bodyPr wrap="none" lIns="0" tIns="0" rIns="0" bIns="0" anchor="t" anchorCtr="0">
              <a:spAutoFit/>
            </a:bodyPr>
            <a:lstStyle/>
            <a:p>
              <a:pPr algn="l"/>
              <a:r>
                <a:rPr lang="en-US" sz="900" dirty="0">
                  <a:solidFill>
                    <a:srgbClr val="F472B6"/>
                  </a:solidFill>
                  <a:latin typeface="Consolas"/>
                  <a:ea typeface="Consolas"/>
                  <a:cs typeface="Consolas"/>
                </a:rPr>
                <a:t>0.30 * source_credibility * 10</a:t>
              </a:r>
            </a:p>
          </p:txBody>
        </p:sp>
        <p:sp>
          <p:nvSpPr>
            <p:cNvPr id="61" name="TextBox 61"/>
            <p:cNvSpPr txBox="1"/>
            <p:nvPr/>
          </p:nvSpPr>
          <p:spPr>
            <a:xfrm>
              <a:off x="4529138" y="2851150"/>
              <a:ext cx="609257" cy="176212"/>
            </a:xfrm>
            <a:prstGeom prst="rect">
              <a:avLst/>
            </a:prstGeom>
            <a:noFill/>
            <a:ln>
              <a:noFill/>
            </a:ln>
          </p:spPr>
          <p:txBody>
            <a:bodyPr wrap="none" lIns="0" tIns="0" rIns="0" bIns="0" anchor="t" anchorCtr="0">
              <a:spAutoFit/>
            </a:bodyPr>
            <a:lstStyle/>
            <a:p>
              <a:pPr algn="l"/>
              <a:r>
                <a:rPr lang="en-US" sz="900" dirty="0">
                  <a:solidFill>
                    <a:srgbClr val="FFFFFF"/>
                  </a:solidFill>
                  <a:latin typeface="Consolas"/>
                  <a:ea typeface="Consolas"/>
                  <a:cs typeface="Consolas"/>
                </a:rPr>
                <a:t>), 1, 10)</a:t>
              </a:r>
            </a:p>
          </p:txBody>
        </p:sp>
        <p:sp>
          <p:nvSpPr>
            <p:cNvPr id="62" name="TextBox 62"/>
            <p:cNvSpPr txBox="1"/>
            <p:nvPr/>
          </p:nvSpPr>
          <p:spPr>
            <a:xfrm>
              <a:off x="4414647" y="3187700"/>
              <a:ext cx="2119159" cy="191643"/>
            </a:xfrm>
            <a:prstGeom prst="rect">
              <a:avLst/>
            </a:prstGeom>
            <a:noFill/>
            <a:ln>
              <a:noFill/>
            </a:ln>
          </p:spPr>
          <p:txBody>
            <a:bodyPr wrap="none" lIns="0" tIns="0" rIns="0" bIns="0" anchor="t" anchorCtr="0">
              <a:spAutoFit/>
            </a:bodyPr>
            <a:lstStyle/>
            <a:p>
              <a:pPr algn="l"/>
              <a:r>
                <a:rPr lang="en-US" sz="980" b="1" dirty="0">
                  <a:solidFill>
                    <a:schemeClr val="dk1"/>
                  </a:solidFill>
                  <a:latin typeface="+mn-lt"/>
                  <a:ea typeface="+mn-ea"/>
                  <a:cs typeface="+mn-cs"/>
                </a:rPr>
                <a:t>Source Credibility Weighting (A7)</a:t>
              </a:r>
            </a:p>
          </p:txBody>
        </p:sp>
        <p:sp>
          <p:nvSpPr>
            <p:cNvPr id="63" name="Rectangle 63"/>
            <p:cNvSpPr/>
            <p:nvPr/>
          </p:nvSpPr>
          <p:spPr>
            <a:xfrm>
              <a:off x="4419600" y="3448050"/>
              <a:ext cx="3143250" cy="323850"/>
            </a:xfrm>
            <a:prstGeom prst="roundRect">
              <a:avLst>
                <a:gd name="adj" fmla="val 11765"/>
              </a:avLst>
            </a:prstGeom>
            <a:solidFill>
              <a:schemeClr val="lt1"/>
            </a:solidFill>
            <a:ln w="9525">
              <a:solidFill>
                <a:srgbClr val="E2E8F0"/>
              </a:solidFill>
            </a:ln>
          </p:spPr>
        </p:sp>
        <p:sp>
          <p:nvSpPr>
            <p:cNvPr id="64" name="TextBox 64"/>
            <p:cNvSpPr txBox="1"/>
            <p:nvPr/>
          </p:nvSpPr>
          <p:spPr>
            <a:xfrm>
              <a:off x="4529138" y="3543300"/>
              <a:ext cx="1240183" cy="176212"/>
            </a:xfrm>
            <a:prstGeom prst="rect">
              <a:avLst/>
            </a:prstGeom>
            <a:noFill/>
            <a:ln>
              <a:noFill/>
            </a:ln>
          </p:spPr>
          <p:txBody>
            <a:bodyPr wrap="none" lIns="0" tIns="0" rIns="0" bIns="0" anchor="t" anchorCtr="0">
              <a:spAutoFit/>
            </a:bodyPr>
            <a:lstStyle/>
            <a:p>
              <a:pPr algn="l"/>
              <a:r>
                <a:rPr lang="en-US" sz="900" b="1" dirty="0">
                  <a:solidFill>
                    <a:srgbClr val="334155"/>
                  </a:solidFill>
                  <a:latin typeface="+mn-lt"/>
                  <a:ea typeface="+mn-ea"/>
                  <a:cs typeface="+mn-cs"/>
                </a:rPr>
                <a:t>GDELT Curated News</a:t>
              </a:r>
            </a:p>
          </p:txBody>
        </p:sp>
        <p:sp>
          <p:nvSpPr>
            <p:cNvPr id="65" name="TextBox 65"/>
            <p:cNvSpPr txBox="1"/>
            <p:nvPr/>
          </p:nvSpPr>
          <p:spPr>
            <a:xfrm>
              <a:off x="6230744" y="3556000"/>
              <a:ext cx="1222568" cy="176212"/>
            </a:xfrm>
            <a:prstGeom prst="rect">
              <a:avLst/>
            </a:prstGeom>
            <a:noFill/>
            <a:ln>
              <a:noFill/>
            </a:ln>
          </p:spPr>
          <p:txBody>
            <a:bodyPr wrap="none" lIns="0" tIns="0" rIns="0" bIns="0" anchor="t" anchorCtr="0">
              <a:spAutoFit/>
            </a:bodyPr>
            <a:lstStyle/>
            <a:p>
              <a:pPr algn="r"/>
              <a:r>
                <a:rPr lang="en-US" sz="900" b="1" dirty="0">
                  <a:solidFill>
                    <a:schemeClr val="accent2"/>
                  </a:solidFill>
                  <a:latin typeface="Consolas"/>
                  <a:ea typeface="Consolas"/>
                  <a:cs typeface="Consolas"/>
                </a:rPr>
                <a:t>Weight: 1.0 (Full)</a:t>
              </a:r>
            </a:p>
          </p:txBody>
        </p:sp>
        <p:sp>
          <p:nvSpPr>
            <p:cNvPr id="66" name="Rectangle 66"/>
            <p:cNvSpPr/>
            <p:nvPr/>
          </p:nvSpPr>
          <p:spPr>
            <a:xfrm>
              <a:off x="4419600" y="3848100"/>
              <a:ext cx="3143250" cy="323850"/>
            </a:xfrm>
            <a:prstGeom prst="roundRect">
              <a:avLst>
                <a:gd name="adj" fmla="val 11765"/>
              </a:avLst>
            </a:prstGeom>
            <a:solidFill>
              <a:schemeClr val="lt1"/>
            </a:solidFill>
            <a:ln w="9525">
              <a:solidFill>
                <a:srgbClr val="E2E8F0"/>
              </a:solidFill>
            </a:ln>
          </p:spPr>
        </p:sp>
        <p:sp>
          <p:nvSpPr>
            <p:cNvPr id="67" name="TextBox 67"/>
            <p:cNvSpPr txBox="1"/>
            <p:nvPr/>
          </p:nvSpPr>
          <p:spPr>
            <a:xfrm>
              <a:off x="4529138" y="3943350"/>
              <a:ext cx="1214789" cy="176212"/>
            </a:xfrm>
            <a:prstGeom prst="rect">
              <a:avLst/>
            </a:prstGeom>
            <a:noFill/>
            <a:ln>
              <a:noFill/>
            </a:ln>
          </p:spPr>
          <p:txBody>
            <a:bodyPr wrap="none" lIns="0" tIns="0" rIns="0" bIns="0" anchor="t" anchorCtr="0">
              <a:spAutoFit/>
            </a:bodyPr>
            <a:lstStyle/>
            <a:p>
              <a:pPr algn="l"/>
              <a:r>
                <a:rPr lang="en-US" sz="900" b="1" dirty="0">
                  <a:solidFill>
                    <a:srgbClr val="334155"/>
                  </a:solidFill>
                  <a:latin typeface="+mn-lt"/>
                  <a:ea typeface="+mn-ea"/>
                  <a:cs typeface="+mn-cs"/>
                </a:rPr>
                <a:t>Kaggle Social Tweets</a:t>
              </a:r>
            </a:p>
          </p:txBody>
        </p:sp>
        <p:sp>
          <p:nvSpPr>
            <p:cNvPr id="68" name="TextBox 68"/>
            <p:cNvSpPr txBox="1"/>
            <p:nvPr/>
          </p:nvSpPr>
          <p:spPr>
            <a:xfrm>
              <a:off x="5833186" y="3956050"/>
              <a:ext cx="1620126" cy="176212"/>
            </a:xfrm>
            <a:prstGeom prst="rect">
              <a:avLst/>
            </a:prstGeom>
            <a:noFill/>
            <a:ln>
              <a:noFill/>
            </a:ln>
          </p:spPr>
          <p:txBody>
            <a:bodyPr wrap="none" lIns="0" tIns="0" rIns="0" bIns="0" anchor="t" anchorCtr="0">
              <a:spAutoFit/>
            </a:bodyPr>
            <a:lstStyle/>
            <a:p>
              <a:pPr algn="r"/>
              <a:r>
                <a:rPr lang="en-US" sz="900" b="1" dirty="0">
                  <a:solidFill>
                    <a:srgbClr val="B45309"/>
                  </a:solidFill>
                  <a:latin typeface="Consolas"/>
                  <a:ea typeface="Consolas"/>
                  <a:cs typeface="Consolas"/>
                </a:rPr>
                <a:t>Weight: 0.7 (Discounted)</a:t>
              </a:r>
            </a:p>
          </p:txBody>
        </p:sp>
        <p:sp>
          <p:nvSpPr>
            <p:cNvPr id="69" name="Line 69"/>
            <p:cNvSpPr/>
            <p:nvPr/>
          </p:nvSpPr>
          <p:spPr>
            <a:xfrm>
              <a:off x="4419600" y="4286250"/>
              <a:ext cx="3143250" cy="9525"/>
            </a:xfrm>
            <a:custGeom>
              <a:avLst/>
              <a:gdLst/>
              <a:ahLst/>
              <a:cxnLst/>
              <a:rect l="l" t="t" r="r" b="b"/>
              <a:pathLst>
                <a:path w="3143250" h="9525">
                  <a:moveTo>
                    <a:pt x="0" y="0"/>
                  </a:moveTo>
                  <a:lnTo>
                    <a:pt x="3143250" y="0"/>
                  </a:lnTo>
                </a:path>
              </a:pathLst>
            </a:custGeom>
            <a:noFill/>
            <a:ln w="9525">
              <a:solidFill>
                <a:srgbClr val="E2E8F0"/>
              </a:solidFill>
            </a:ln>
          </p:spPr>
        </p:sp>
        <p:sp>
          <p:nvSpPr>
            <p:cNvPr id="70" name="Rectangle 70"/>
            <p:cNvSpPr/>
            <p:nvPr/>
          </p:nvSpPr>
          <p:spPr>
            <a:xfrm>
              <a:off x="4419600" y="4400550"/>
              <a:ext cx="3143250" cy="933450"/>
            </a:xfrm>
            <a:prstGeom prst="roundRect">
              <a:avLst>
                <a:gd name="adj" fmla="val 6122"/>
              </a:avLst>
            </a:prstGeom>
            <a:solidFill>
              <a:srgbClr val="FEF2F2"/>
            </a:solidFill>
            <a:ln w="9525">
              <a:solidFill>
                <a:srgbClr val="FECACA"/>
              </a:solidFill>
            </a:ln>
          </p:spPr>
        </p:sp>
        <p:sp>
          <p:nvSpPr>
            <p:cNvPr id="71" name="TextBox 71"/>
            <p:cNvSpPr txBox="1"/>
            <p:nvPr/>
          </p:nvSpPr>
          <p:spPr>
            <a:xfrm>
              <a:off x="4529138" y="4495800"/>
              <a:ext cx="2438360" cy="176212"/>
            </a:xfrm>
            <a:prstGeom prst="rect">
              <a:avLst/>
            </a:prstGeom>
            <a:noFill/>
            <a:ln>
              <a:noFill/>
            </a:ln>
          </p:spPr>
          <p:txBody>
            <a:bodyPr wrap="none" lIns="0" tIns="0" rIns="0" bIns="0" anchor="t" anchorCtr="0">
              <a:spAutoFit/>
            </a:bodyPr>
            <a:lstStyle/>
            <a:p>
              <a:pPr algn="l"/>
              <a:r>
                <a:rPr lang="en-US" sz="900" b="1" dirty="0">
                  <a:solidFill>
                    <a:schemeClr val="accent3"/>
                  </a:solidFill>
                  <a:latin typeface="+mn-lt"/>
                  <a:ea typeface="+mn-ea"/>
                  <a:cs typeface="+mn-cs"/>
                </a:rPr>
                <a:t>RULE A1: AUTOMATED STRESS TRIGGER</a:t>
              </a:r>
            </a:p>
          </p:txBody>
        </p:sp>
        <p:sp>
          <p:nvSpPr>
            <p:cNvPr id="72" name="TextBox 72"/>
            <p:cNvSpPr txBox="1"/>
            <p:nvPr/>
          </p:nvSpPr>
          <p:spPr>
            <a:xfrm>
              <a:off x="4528947" y="4686300"/>
              <a:ext cx="1486385" cy="191643"/>
            </a:xfrm>
            <a:prstGeom prst="rect">
              <a:avLst/>
            </a:prstGeom>
            <a:noFill/>
            <a:ln>
              <a:noFill/>
            </a:ln>
          </p:spPr>
          <p:txBody>
            <a:bodyPr wrap="none" lIns="0" tIns="0" rIns="0" bIns="0" anchor="t" anchorCtr="0">
              <a:spAutoFit/>
            </a:bodyPr>
            <a:lstStyle/>
            <a:p>
              <a:pPr algn="l"/>
              <a:r>
                <a:rPr lang="en-US" sz="980" b="1" dirty="0">
                  <a:solidFill>
                    <a:srgbClr val="991B1B"/>
                  </a:solidFill>
                  <a:latin typeface="Consolas"/>
                  <a:ea typeface="Consolas"/>
                  <a:cs typeface="Consolas"/>
                </a:rPr>
                <a:t>IF Impact Score &gt;= 7</a:t>
              </a:r>
            </a:p>
          </p:txBody>
        </p:sp>
        <p:sp>
          <p:nvSpPr>
            <p:cNvPr id="73" name="TextBox 73"/>
            <p:cNvSpPr txBox="1"/>
            <p:nvPr/>
          </p:nvSpPr>
          <p:spPr>
            <a:xfrm>
              <a:off x="4529138" y="4889500"/>
              <a:ext cx="2901196" cy="161925"/>
            </a:xfrm>
            <a:prstGeom prst="rect">
              <a:avLst/>
            </a:prstGeom>
            <a:noFill/>
            <a:ln>
              <a:noFill/>
            </a:ln>
          </p:spPr>
          <p:txBody>
            <a:bodyPr wrap="none" lIns="0" tIns="0" rIns="0" bIns="0" anchor="t" anchorCtr="0">
              <a:spAutoFit/>
            </a:bodyPr>
            <a:lstStyle/>
            <a:p>
              <a:pPr algn="l"/>
              <a:r>
                <a:rPr lang="en-US" sz="820" dirty="0">
                  <a:solidFill>
                    <a:schemeClr val="accent5"/>
                  </a:solidFill>
                  <a:latin typeface="+mn-lt"/>
                  <a:ea typeface="+mn-ea"/>
                  <a:cs typeface="+mn-cs"/>
                </a:rPr>
                <a:t>→ Automated portfolio revaluation across all 4 asset classes.</a:t>
              </a:r>
            </a:p>
          </p:txBody>
        </p:sp>
        <p:sp>
          <p:nvSpPr>
            <p:cNvPr id="74" name="TextBox 74"/>
            <p:cNvSpPr txBox="1"/>
            <p:nvPr/>
          </p:nvSpPr>
          <p:spPr>
            <a:xfrm>
              <a:off x="4529138" y="5060950"/>
              <a:ext cx="2613359" cy="161925"/>
            </a:xfrm>
            <a:prstGeom prst="rect">
              <a:avLst/>
            </a:prstGeom>
            <a:noFill/>
            <a:ln>
              <a:noFill/>
            </a:ln>
          </p:spPr>
          <p:txBody>
            <a:bodyPr wrap="none" lIns="0" tIns="0" rIns="0" bIns="0" anchor="t" anchorCtr="0">
              <a:spAutoFit/>
            </a:bodyPr>
            <a:lstStyle/>
            <a:p>
              <a:pPr marL="76200" indent="-76200" algn="l">
                <a:buClr>
                  <a:srgbClr val="047857"/>
                </a:buClr>
                <a:buSzTx/>
                <a:buFontTx/>
                <a:buChar char="•"/>
              </a:pPr>
              <a:r>
                <a:rPr lang="en-US" sz="820" dirty="0">
                  <a:solidFill>
                    <a:srgbClr val="047857"/>
                  </a:solidFill>
                  <a:latin typeface="+mn-lt"/>
                  <a:ea typeface="+mn-ea"/>
                  <a:cs typeface="+mn-cs"/>
                </a:rPr>
                <a:t>Execution latency: &lt; 75 ms | Zero human bottleneck</a:t>
              </a:r>
            </a:p>
          </p:txBody>
        </p:sp>
        <p:sp>
          <p:nvSpPr>
            <p:cNvPr id="75" name="Rectangle 75"/>
            <p:cNvSpPr/>
            <p:nvPr/>
          </p:nvSpPr>
          <p:spPr>
            <a:xfrm>
              <a:off x="4419600" y="5448300"/>
              <a:ext cx="1000125" cy="400050"/>
            </a:xfrm>
            <a:prstGeom prst="roundRect">
              <a:avLst>
                <a:gd name="adj" fmla="val 9524"/>
              </a:avLst>
            </a:prstGeom>
            <a:solidFill>
              <a:srgbClr val="ECFDF5"/>
            </a:solidFill>
            <a:ln w="9525">
              <a:solidFill>
                <a:srgbClr val="A7F3D0"/>
              </a:solidFill>
            </a:ln>
          </p:spPr>
        </p:sp>
        <p:sp>
          <p:nvSpPr>
            <p:cNvPr id="76" name="TextBox 76"/>
            <p:cNvSpPr txBox="1"/>
            <p:nvPr/>
          </p:nvSpPr>
          <p:spPr>
            <a:xfrm>
              <a:off x="4640552" y="5530850"/>
              <a:ext cx="548696" cy="147638"/>
            </a:xfrm>
            <a:prstGeom prst="rect">
              <a:avLst/>
            </a:prstGeom>
            <a:noFill/>
            <a:ln>
              <a:noFill/>
            </a:ln>
          </p:spPr>
          <p:txBody>
            <a:bodyPr wrap="none" lIns="0" tIns="0" rIns="0" bIns="0" anchor="t" anchorCtr="0">
              <a:spAutoFit/>
            </a:bodyPr>
            <a:lstStyle/>
            <a:p>
              <a:pPr algn="ctr"/>
              <a:r>
                <a:rPr lang="en-US" sz="750" b="1" dirty="0">
                  <a:solidFill>
                    <a:srgbClr val="047857"/>
                  </a:solidFill>
                  <a:latin typeface="+mn-lt"/>
                  <a:ea typeface="+mn-ea"/>
                  <a:cs typeface="+mn-cs"/>
                </a:rPr>
                <a:t>SCORE 1–3</a:t>
              </a:r>
            </a:p>
          </p:txBody>
        </p:sp>
        <p:sp>
          <p:nvSpPr>
            <p:cNvPr id="77" name="TextBox 77"/>
            <p:cNvSpPr txBox="1"/>
            <p:nvPr/>
          </p:nvSpPr>
          <p:spPr>
            <a:xfrm>
              <a:off x="4714437" y="5664200"/>
              <a:ext cx="400926" cy="147638"/>
            </a:xfrm>
            <a:prstGeom prst="rect">
              <a:avLst/>
            </a:prstGeom>
            <a:noFill/>
            <a:ln>
              <a:noFill/>
            </a:ln>
          </p:spPr>
          <p:txBody>
            <a:bodyPr wrap="none" lIns="0" tIns="0" rIns="0" bIns="0" anchor="t" anchorCtr="0">
              <a:spAutoFit/>
            </a:bodyPr>
            <a:lstStyle/>
            <a:p>
              <a:pPr algn="ctr"/>
              <a:r>
                <a:rPr lang="en-US" sz="750" dirty="0">
                  <a:solidFill>
                    <a:srgbClr val="065F46"/>
                  </a:solidFill>
                  <a:latin typeface="+mn-lt"/>
                  <a:ea typeface="+mn-ea"/>
                  <a:cs typeface="+mn-cs"/>
                </a:rPr>
                <a:t>Low Risk</a:t>
              </a:r>
            </a:p>
          </p:txBody>
        </p:sp>
        <p:sp>
          <p:nvSpPr>
            <p:cNvPr id="78" name="Rectangle 78"/>
            <p:cNvSpPr/>
            <p:nvPr/>
          </p:nvSpPr>
          <p:spPr>
            <a:xfrm>
              <a:off x="5495925" y="5448300"/>
              <a:ext cx="990600" cy="400050"/>
            </a:xfrm>
            <a:prstGeom prst="roundRect">
              <a:avLst>
                <a:gd name="adj" fmla="val 9524"/>
              </a:avLst>
            </a:prstGeom>
            <a:solidFill>
              <a:srgbClr val="FFFBEB"/>
            </a:solidFill>
            <a:ln w="9525">
              <a:solidFill>
                <a:srgbClr val="FDE68A"/>
              </a:solidFill>
            </a:ln>
          </p:spPr>
        </p:sp>
        <p:sp>
          <p:nvSpPr>
            <p:cNvPr id="79" name="TextBox 79"/>
            <p:cNvSpPr txBox="1"/>
            <p:nvPr/>
          </p:nvSpPr>
          <p:spPr>
            <a:xfrm>
              <a:off x="5716877" y="5530850"/>
              <a:ext cx="548696" cy="147638"/>
            </a:xfrm>
            <a:prstGeom prst="rect">
              <a:avLst/>
            </a:prstGeom>
            <a:noFill/>
            <a:ln>
              <a:noFill/>
            </a:ln>
          </p:spPr>
          <p:txBody>
            <a:bodyPr wrap="none" lIns="0" tIns="0" rIns="0" bIns="0" anchor="t" anchorCtr="0">
              <a:spAutoFit/>
            </a:bodyPr>
            <a:lstStyle/>
            <a:p>
              <a:pPr algn="ctr"/>
              <a:r>
                <a:rPr lang="en-US" sz="750" b="1" dirty="0">
                  <a:solidFill>
                    <a:srgbClr val="B45309"/>
                  </a:solidFill>
                  <a:latin typeface="+mn-lt"/>
                  <a:ea typeface="+mn-ea"/>
                  <a:cs typeface="+mn-cs"/>
                </a:rPr>
                <a:t>SCORE 4–6</a:t>
              </a:r>
            </a:p>
          </p:txBody>
        </p:sp>
        <p:sp>
          <p:nvSpPr>
            <p:cNvPr id="80" name="TextBox 80"/>
            <p:cNvSpPr txBox="1"/>
            <p:nvPr/>
          </p:nvSpPr>
          <p:spPr>
            <a:xfrm>
              <a:off x="5662885" y="5664200"/>
              <a:ext cx="656681" cy="147638"/>
            </a:xfrm>
            <a:prstGeom prst="rect">
              <a:avLst/>
            </a:prstGeom>
            <a:noFill/>
            <a:ln>
              <a:noFill/>
            </a:ln>
          </p:spPr>
          <p:txBody>
            <a:bodyPr wrap="none" lIns="0" tIns="0" rIns="0" bIns="0" anchor="t" anchorCtr="0">
              <a:spAutoFit/>
            </a:bodyPr>
            <a:lstStyle/>
            <a:p>
              <a:pPr algn="ctr"/>
              <a:r>
                <a:rPr lang="en-US" sz="750" dirty="0">
                  <a:solidFill>
                    <a:srgbClr val="92400E"/>
                  </a:solidFill>
                  <a:latin typeface="+mn-lt"/>
                  <a:ea typeface="+mn-ea"/>
                  <a:cs typeface="+mn-cs"/>
                </a:rPr>
                <a:t>Moderate Risk</a:t>
              </a:r>
            </a:p>
          </p:txBody>
        </p:sp>
        <p:sp>
          <p:nvSpPr>
            <p:cNvPr id="81" name="Rectangle 81"/>
            <p:cNvSpPr/>
            <p:nvPr/>
          </p:nvSpPr>
          <p:spPr>
            <a:xfrm>
              <a:off x="6562725" y="5448300"/>
              <a:ext cx="1000125" cy="400050"/>
            </a:xfrm>
            <a:prstGeom prst="roundRect">
              <a:avLst>
                <a:gd name="adj" fmla="val 9524"/>
              </a:avLst>
            </a:prstGeom>
            <a:solidFill>
              <a:srgbClr val="FEF2F2"/>
            </a:solidFill>
            <a:ln w="9525">
              <a:solidFill>
                <a:srgbClr val="FECACA"/>
              </a:solidFill>
            </a:ln>
          </p:spPr>
        </p:sp>
        <p:sp>
          <p:nvSpPr>
            <p:cNvPr id="82" name="TextBox 82"/>
            <p:cNvSpPr txBox="1"/>
            <p:nvPr/>
          </p:nvSpPr>
          <p:spPr>
            <a:xfrm>
              <a:off x="6752996" y="5530850"/>
              <a:ext cx="610059" cy="147638"/>
            </a:xfrm>
            <a:prstGeom prst="rect">
              <a:avLst/>
            </a:prstGeom>
            <a:noFill/>
            <a:ln>
              <a:noFill/>
            </a:ln>
          </p:spPr>
          <p:txBody>
            <a:bodyPr wrap="none" lIns="0" tIns="0" rIns="0" bIns="0" anchor="t" anchorCtr="0">
              <a:spAutoFit/>
            </a:bodyPr>
            <a:lstStyle/>
            <a:p>
              <a:pPr algn="ctr"/>
              <a:r>
                <a:rPr lang="en-US" sz="750" b="1" dirty="0">
                  <a:solidFill>
                    <a:schemeClr val="accent3"/>
                  </a:solidFill>
                  <a:latin typeface="+mn-lt"/>
                  <a:ea typeface="+mn-ea"/>
                  <a:cs typeface="+mn-cs"/>
                </a:rPr>
                <a:t>SCORE 7–10</a:t>
              </a:r>
            </a:p>
          </p:txBody>
        </p:sp>
        <p:sp>
          <p:nvSpPr>
            <p:cNvPr id="83" name="TextBox 83"/>
            <p:cNvSpPr txBox="1"/>
            <p:nvPr/>
          </p:nvSpPr>
          <p:spPr>
            <a:xfrm>
              <a:off x="6773415" y="5664200"/>
              <a:ext cx="569220" cy="147638"/>
            </a:xfrm>
            <a:prstGeom prst="rect">
              <a:avLst/>
            </a:prstGeom>
            <a:noFill/>
            <a:ln>
              <a:noFill/>
            </a:ln>
          </p:spPr>
          <p:txBody>
            <a:bodyPr wrap="none" lIns="0" tIns="0" rIns="0" bIns="0" anchor="t" anchorCtr="0">
              <a:spAutoFit/>
            </a:bodyPr>
            <a:lstStyle/>
            <a:p>
              <a:pPr algn="ctr"/>
              <a:r>
                <a:rPr lang="en-US" sz="750" b="1" dirty="0">
                  <a:solidFill>
                    <a:srgbClr val="991B1B"/>
                  </a:solidFill>
                  <a:latin typeface="+mn-lt"/>
                  <a:ea typeface="+mn-ea"/>
                  <a:cs typeface="+mn-cs"/>
                </a:rPr>
                <a:t>Auto-Stress</a:t>
              </a:r>
            </a:p>
          </p:txBody>
        </p:sp>
      </p:grpSp>
      <p:grpSp>
        <p:nvGrpSpPr>
          <p:cNvPr id="112" name="footer"/>
          <p:cNvGrpSpPr/>
          <p:nvPr/>
        </p:nvGrpSpPr>
        <p:grpSpPr>
          <a:xfrm>
            <a:off x="566738" y="6381750"/>
            <a:ext cx="11058524" cy="288925"/>
            <a:chOff x="566738" y="6381750"/>
            <a:chExt cx="11058524" cy="288925"/>
          </a:xfrm>
        </p:grpSpPr>
        <p:sp>
          <p:nvSpPr>
            <p:cNvPr id="109" name="Line 109"/>
            <p:cNvSpPr/>
            <p:nvPr/>
          </p:nvSpPr>
          <p:spPr>
            <a:xfrm>
              <a:off x="571500" y="6381750"/>
              <a:ext cx="11049000" cy="9525"/>
            </a:xfrm>
            <a:custGeom>
              <a:avLst/>
              <a:gdLst/>
              <a:ahLst/>
              <a:cxnLst/>
              <a:rect l="l" t="t" r="r" b="b"/>
              <a:pathLst>
                <a:path w="11049000" h="9525">
                  <a:moveTo>
                    <a:pt x="0" y="0"/>
                  </a:moveTo>
                  <a:lnTo>
                    <a:pt x="11049000" y="0"/>
                  </a:lnTo>
                </a:path>
              </a:pathLst>
            </a:custGeom>
            <a:noFill/>
            <a:ln w="9525">
              <a:solidFill>
                <a:srgbClr val="E2E8F0"/>
              </a:solidFill>
            </a:ln>
          </p:spPr>
        </p:sp>
        <p:sp>
          <p:nvSpPr>
            <p:cNvPr id="110" name="TextBox 110"/>
            <p:cNvSpPr txBox="1"/>
            <p:nvPr/>
          </p:nvSpPr>
          <p:spPr>
            <a:xfrm>
              <a:off x="566738" y="6508750"/>
              <a:ext cx="3866403" cy="161925"/>
            </a:xfrm>
            <a:prstGeom prst="rect">
              <a:avLst/>
            </a:prstGeom>
            <a:noFill/>
            <a:ln>
              <a:noFill/>
            </a:ln>
          </p:spPr>
          <p:txBody>
            <a:bodyPr wrap="none" lIns="0" tIns="0" rIns="0" bIns="0" anchor="t" anchorCtr="0">
              <a:spAutoFit/>
            </a:bodyPr>
            <a:lstStyle/>
            <a:p>
              <a:pPr algn="l"/>
              <a:r>
                <a:rPr lang="en-US" sz="820" dirty="0">
                  <a:solidFill>
                    <a:srgbClr val="64748B"/>
                  </a:solidFill>
                  <a:latin typeface="+mn-lt"/>
                  <a:ea typeface="+mn-ea"/>
                  <a:cs typeface="+mn-cs"/>
                </a:rPr>
                <a:t>S&amp;P Global &amp; CRISIL Campus Hackathon 2026 | Candidate: Mritunjay Senapati</a:t>
              </a:r>
            </a:p>
          </p:txBody>
        </p:sp>
        <p:sp>
          <p:nvSpPr>
            <p:cNvPr id="111" name="TextBox 111"/>
            <p:cNvSpPr txBox="1"/>
            <p:nvPr/>
          </p:nvSpPr>
          <p:spPr>
            <a:xfrm>
              <a:off x="8836189" y="6508750"/>
              <a:ext cx="2789073" cy="161925"/>
            </a:xfrm>
            <a:prstGeom prst="rect">
              <a:avLst/>
            </a:prstGeom>
            <a:noFill/>
            <a:ln>
              <a:noFill/>
            </a:ln>
          </p:spPr>
          <p:txBody>
            <a:bodyPr wrap="none" lIns="0" tIns="0" rIns="0" bIns="0" anchor="t" anchorCtr="0">
              <a:spAutoFit/>
            </a:bodyPr>
            <a:lstStyle/>
            <a:p>
              <a:pPr algn="r"/>
              <a:r>
                <a:rPr lang="en-US" sz="820" dirty="0">
                  <a:solidFill>
                    <a:srgbClr val="64748B"/>
                  </a:solidFill>
                  <a:latin typeface="+mn-lt"/>
                  <a:ea typeface="+mn-ea"/>
                  <a:cs typeface="+mn-cs"/>
                </a:rPr>
                <a:t>Module B: Mathematical Rigor &amp; Implementation Details</a:t>
              </a:r>
            </a:p>
          </p:txBody>
        </p:sp>
      </p:gr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header"/>
          <p:cNvGrpSpPr/>
          <p:nvPr/>
        </p:nvGrpSpPr>
        <p:grpSpPr>
          <a:xfrm>
            <a:off x="566738" y="355600"/>
            <a:ext cx="11058524" cy="206375"/>
            <a:chOff x="566738" y="355600"/>
            <a:chExt cx="11058524" cy="206375"/>
          </a:xfrm>
        </p:grpSpPr>
        <p:sp>
          <p:nvSpPr>
            <p:cNvPr id="2" name="TextBox 2"/>
            <p:cNvSpPr txBox="1"/>
            <p:nvPr/>
          </p:nvSpPr>
          <p:spPr>
            <a:xfrm>
              <a:off x="566738" y="355600"/>
              <a:ext cx="5192747" cy="161925"/>
            </a:xfrm>
            <a:prstGeom prst="rect">
              <a:avLst/>
            </a:prstGeom>
            <a:noFill/>
            <a:ln>
              <a:noFill/>
            </a:ln>
          </p:spPr>
          <p:txBody>
            <a:bodyPr wrap="none" lIns="0" tIns="0" rIns="0" bIns="0" anchor="t" anchorCtr="0">
              <a:spAutoFit/>
            </a:bodyPr>
            <a:lstStyle/>
            <a:p>
              <a:pPr algn="l"/>
              <a:r>
                <a:rPr lang="en-US" sz="820" b="1" spc="112" dirty="0">
                  <a:solidFill>
                    <a:schemeClr val="accent1"/>
                  </a:solidFill>
                  <a:latin typeface="+mn-lt"/>
                  <a:ea typeface="+mn-ea"/>
                  <a:cs typeface="+mn-cs"/>
                </a:rPr>
                <a:t>S&amp;P GLOBAL &amp; CRISIL CAMPUS HACKATHON | MODULE B: STRESS TESTING</a:t>
              </a:r>
            </a:p>
          </p:txBody>
        </p:sp>
        <p:sp>
          <p:nvSpPr>
            <p:cNvPr id="3" name="TextBox 3"/>
            <p:cNvSpPr txBox="1"/>
            <p:nvPr/>
          </p:nvSpPr>
          <p:spPr>
            <a:xfrm>
              <a:off x="10889090" y="355600"/>
              <a:ext cx="736172" cy="161925"/>
            </a:xfrm>
            <a:prstGeom prst="rect">
              <a:avLst/>
            </a:prstGeom>
            <a:noFill/>
            <a:ln>
              <a:noFill/>
            </a:ln>
          </p:spPr>
          <p:txBody>
            <a:bodyPr wrap="none" lIns="0" tIns="0" rIns="0" bIns="0" anchor="t" anchorCtr="0">
              <a:spAutoFit/>
            </a:bodyPr>
            <a:lstStyle/>
            <a:p>
              <a:pPr algn="r"/>
              <a:r>
                <a:rPr lang="en-US" sz="820" b="1" dirty="0">
                  <a:solidFill>
                    <a:srgbClr val="64748B"/>
                  </a:solidFill>
                  <a:latin typeface="+mn-lt"/>
                  <a:ea typeface="+mn-ea"/>
                  <a:cs typeface="+mn-cs"/>
                </a:rPr>
                <a:t>SLIDE 05 / 07</a:t>
              </a:r>
            </a:p>
          </p:txBody>
        </p:sp>
        <p:sp>
          <p:nvSpPr>
            <p:cNvPr id="4" name="Line 4"/>
            <p:cNvSpPr/>
            <p:nvPr/>
          </p:nvSpPr>
          <p:spPr>
            <a:xfrm>
              <a:off x="571500" y="552450"/>
              <a:ext cx="11049000" cy="9525"/>
            </a:xfrm>
            <a:custGeom>
              <a:avLst/>
              <a:gdLst/>
              <a:ahLst/>
              <a:cxnLst/>
              <a:rect l="l" t="t" r="r" b="b"/>
              <a:pathLst>
                <a:path w="11049000" h="9525">
                  <a:moveTo>
                    <a:pt x="0" y="0"/>
                  </a:moveTo>
                  <a:lnTo>
                    <a:pt x="11049000" y="0"/>
                  </a:lnTo>
                </a:path>
              </a:pathLst>
            </a:custGeom>
            <a:noFill/>
            <a:ln w="9525">
              <a:solidFill>
                <a:srgbClr val="E2E8F0"/>
              </a:solidFill>
            </a:ln>
          </p:spPr>
        </p:sp>
      </p:grpSp>
      <p:grpSp>
        <p:nvGrpSpPr>
          <p:cNvPr id="8" name="title-block"/>
          <p:cNvGrpSpPr/>
          <p:nvPr/>
        </p:nvGrpSpPr>
        <p:grpSpPr>
          <a:xfrm>
            <a:off x="559308" y="641350"/>
            <a:ext cx="7520139" cy="599059"/>
            <a:chOff x="559308" y="641350"/>
            <a:chExt cx="7520139" cy="599059"/>
          </a:xfrm>
        </p:grpSpPr>
        <p:sp>
          <p:nvSpPr>
            <p:cNvPr id="6" name="TextBox 6"/>
            <p:cNvSpPr txBox="1"/>
            <p:nvPr/>
          </p:nvSpPr>
          <p:spPr>
            <a:xfrm>
              <a:off x="559308" y="641350"/>
              <a:ext cx="7520139" cy="469392"/>
            </a:xfrm>
            <a:prstGeom prst="rect">
              <a:avLst/>
            </a:prstGeom>
            <a:noFill/>
            <a:ln>
              <a:noFill/>
            </a:ln>
          </p:spPr>
          <p:txBody>
            <a:bodyPr wrap="none" lIns="0" tIns="0" rIns="0" bIns="0" anchor="t" anchorCtr="0">
              <a:spAutoFit/>
            </a:bodyPr>
            <a:lstStyle/>
            <a:p>
              <a:pPr algn="l"/>
              <a:r>
                <a:rPr lang="en-US" sz="2400" b="1" dirty="0">
                  <a:solidFill>
                    <a:schemeClr val="dk1"/>
                  </a:solidFill>
                  <a:latin typeface="+mn-lt"/>
                  <a:ea typeface="+mn-ea"/>
                  <a:cs typeface="+mn-cs"/>
                </a:rPr>
                <a:t>Empirical Results &amp; Portfolio Drawdown Analysis</a:t>
              </a:r>
            </a:p>
          </p:txBody>
        </p:sp>
        <p:sp>
          <p:nvSpPr>
            <p:cNvPr id="7" name="TextBox 7"/>
            <p:cNvSpPr txBox="1"/>
            <p:nvPr/>
          </p:nvSpPr>
          <p:spPr>
            <a:xfrm>
              <a:off x="566166" y="1035050"/>
              <a:ext cx="5268600" cy="205359"/>
            </a:xfrm>
            <a:prstGeom prst="rect">
              <a:avLst/>
            </a:prstGeom>
            <a:noFill/>
            <a:ln>
              <a:noFill/>
            </a:ln>
          </p:spPr>
          <p:txBody>
            <a:bodyPr wrap="none" lIns="0" tIns="0" rIns="0" bIns="0" anchor="t" anchorCtr="0">
              <a:spAutoFit/>
            </a:bodyPr>
            <a:lstStyle/>
            <a:p>
              <a:pPr algn="l"/>
              <a:r>
                <a:rPr lang="en-US" sz="1050" dirty="0">
                  <a:solidFill>
                    <a:schemeClr val="accent5"/>
                  </a:solidFill>
                  <a:latin typeface="+mn-lt"/>
                  <a:ea typeface="+mn-ea"/>
                  <a:cs typeface="+mn-cs"/>
                </a:rPr>
                <a:t>Geopolitical Escalation Scenario Shocks on $585M Multi-Asset Institutional Portfolio</a:t>
              </a:r>
            </a:p>
          </p:txBody>
        </p:sp>
      </p:grpSp>
      <p:grpSp>
        <p:nvGrpSpPr>
          <p:cNvPr id="66" name="waterfall-chart"/>
          <p:cNvGrpSpPr/>
          <p:nvPr/>
        </p:nvGrpSpPr>
        <p:grpSpPr>
          <a:xfrm>
            <a:off x="571500" y="1333500"/>
            <a:ext cx="11049000" cy="3429000"/>
            <a:chOff x="571500" y="1333500"/>
            <a:chExt cx="11049000" cy="3429000"/>
          </a:xfrm>
        </p:grpSpPr>
        <p:sp>
          <p:nvSpPr>
            <p:cNvPr id="9" name="Rectangle 9"/>
            <p:cNvSpPr/>
            <p:nvPr/>
          </p:nvSpPr>
          <p:spPr>
            <a:xfrm>
              <a:off x="571500" y="1333500"/>
              <a:ext cx="11049000" cy="3429000"/>
            </a:xfrm>
            <a:prstGeom prst="roundRect">
              <a:avLst>
                <a:gd name="adj" fmla="val 2222"/>
              </a:avLst>
            </a:prstGeom>
            <a:solidFill>
              <a:srgbClr val="FFFFFF"/>
            </a:solidFill>
            <a:ln w="9525">
              <a:solidFill>
                <a:schemeClr val="accent6"/>
              </a:solidFill>
            </a:ln>
          </p:spPr>
        </p:sp>
        <p:sp>
          <p:nvSpPr>
            <p:cNvPr id="10" name="TextBox 10"/>
            <p:cNvSpPr txBox="1"/>
            <p:nvPr/>
          </p:nvSpPr>
          <p:spPr>
            <a:xfrm>
              <a:off x="757047" y="1473200"/>
              <a:ext cx="3456871" cy="191643"/>
            </a:xfrm>
            <a:prstGeom prst="rect">
              <a:avLst/>
            </a:prstGeom>
            <a:noFill/>
            <a:ln>
              <a:noFill/>
            </a:ln>
          </p:spPr>
          <p:txBody>
            <a:bodyPr wrap="none" lIns="0" tIns="0" rIns="0" bIns="0" anchor="t" anchorCtr="0">
              <a:spAutoFit/>
            </a:bodyPr>
            <a:lstStyle/>
            <a:p>
              <a:pPr algn="l"/>
              <a:r>
                <a:rPr lang="en-US" sz="980" b="1" dirty="0">
                  <a:solidFill>
                    <a:schemeClr val="dk1"/>
                  </a:solidFill>
                  <a:latin typeface="+mn-lt"/>
                  <a:ea typeface="+mn-ea"/>
                  <a:cs typeface="+mn-cs"/>
                </a:rPr>
                <a:t>PORTFOLIO DRAWDOWN WATERFALL ($ MILLIONS)</a:t>
              </a:r>
            </a:p>
          </p:txBody>
        </p:sp>
        <p:sp>
          <p:nvSpPr>
            <p:cNvPr id="11" name="Ellipse 11"/>
            <p:cNvSpPr/>
            <p:nvPr/>
          </p:nvSpPr>
          <p:spPr>
            <a:xfrm>
              <a:off x="8143875" y="1514475"/>
              <a:ext cx="95250" cy="95250"/>
            </a:xfrm>
            <a:prstGeom prst="ellipse">
              <a:avLst/>
            </a:prstGeom>
            <a:solidFill>
              <a:schemeClr val="accent1"/>
            </a:solidFill>
            <a:ln>
              <a:noFill/>
            </a:ln>
          </p:spPr>
        </p:sp>
        <p:sp>
          <p:nvSpPr>
            <p:cNvPr id="12" name="TextBox 12"/>
            <p:cNvSpPr txBox="1"/>
            <p:nvPr/>
          </p:nvSpPr>
          <p:spPr>
            <a:xfrm>
              <a:off x="8301038" y="1498600"/>
              <a:ext cx="673174" cy="161925"/>
            </a:xfrm>
            <a:prstGeom prst="rect">
              <a:avLst/>
            </a:prstGeom>
            <a:noFill/>
            <a:ln>
              <a:noFill/>
            </a:ln>
          </p:spPr>
          <p:txBody>
            <a:bodyPr wrap="none" lIns="0" tIns="0" rIns="0" bIns="0" anchor="t" anchorCtr="0">
              <a:spAutoFit/>
            </a:bodyPr>
            <a:lstStyle/>
            <a:p>
              <a:pPr algn="l"/>
              <a:r>
                <a:rPr lang="en-US" sz="820" dirty="0">
                  <a:solidFill>
                    <a:schemeClr val="accent5"/>
                  </a:solidFill>
                  <a:latin typeface="+mn-lt"/>
                  <a:ea typeface="+mn-ea"/>
                  <a:cs typeface="+mn-cs"/>
                </a:rPr>
                <a:t>Baseline NAV</a:t>
              </a:r>
            </a:p>
          </p:txBody>
        </p:sp>
        <p:sp>
          <p:nvSpPr>
            <p:cNvPr id="13" name="Ellipse 13"/>
            <p:cNvSpPr/>
            <p:nvPr/>
          </p:nvSpPr>
          <p:spPr>
            <a:xfrm>
              <a:off x="9191625" y="1514475"/>
              <a:ext cx="95250" cy="95250"/>
            </a:xfrm>
            <a:prstGeom prst="ellipse">
              <a:avLst/>
            </a:prstGeom>
            <a:solidFill>
              <a:schemeClr val="accent3"/>
            </a:solidFill>
            <a:ln>
              <a:noFill/>
            </a:ln>
          </p:spPr>
        </p:sp>
        <p:sp>
          <p:nvSpPr>
            <p:cNvPr id="14" name="TextBox 14"/>
            <p:cNvSpPr txBox="1"/>
            <p:nvPr/>
          </p:nvSpPr>
          <p:spPr>
            <a:xfrm>
              <a:off x="9348788" y="1498600"/>
              <a:ext cx="595111" cy="161925"/>
            </a:xfrm>
            <a:prstGeom prst="rect">
              <a:avLst/>
            </a:prstGeom>
            <a:noFill/>
            <a:ln>
              <a:noFill/>
            </a:ln>
          </p:spPr>
          <p:txBody>
            <a:bodyPr wrap="none" lIns="0" tIns="0" rIns="0" bIns="0" anchor="t" anchorCtr="0">
              <a:spAutoFit/>
            </a:bodyPr>
            <a:lstStyle/>
            <a:p>
              <a:pPr algn="l"/>
              <a:r>
                <a:rPr lang="en-US" sz="820" dirty="0">
                  <a:solidFill>
                    <a:schemeClr val="accent5"/>
                  </a:solidFill>
                  <a:latin typeface="+mn-lt"/>
                  <a:ea typeface="+mn-ea"/>
                  <a:cs typeface="+mn-cs"/>
                </a:rPr>
                <a:t>Loss Shocks</a:t>
              </a:r>
            </a:p>
          </p:txBody>
        </p:sp>
        <p:sp>
          <p:nvSpPr>
            <p:cNvPr id="15" name="Ellipse 15"/>
            <p:cNvSpPr/>
            <p:nvPr/>
          </p:nvSpPr>
          <p:spPr>
            <a:xfrm>
              <a:off x="10239375" y="1514475"/>
              <a:ext cx="95250" cy="95250"/>
            </a:xfrm>
            <a:prstGeom prst="ellipse">
              <a:avLst/>
            </a:prstGeom>
            <a:solidFill>
              <a:schemeClr val="accent2"/>
            </a:solidFill>
            <a:ln>
              <a:noFill/>
            </a:ln>
          </p:spPr>
        </p:sp>
        <p:sp>
          <p:nvSpPr>
            <p:cNvPr id="16" name="TextBox 16"/>
            <p:cNvSpPr txBox="1"/>
            <p:nvPr/>
          </p:nvSpPr>
          <p:spPr>
            <a:xfrm>
              <a:off x="10396538" y="1498600"/>
              <a:ext cx="982814" cy="161925"/>
            </a:xfrm>
            <a:prstGeom prst="rect">
              <a:avLst/>
            </a:prstGeom>
            <a:noFill/>
            <a:ln>
              <a:noFill/>
            </a:ln>
          </p:spPr>
          <p:txBody>
            <a:bodyPr wrap="none" lIns="0" tIns="0" rIns="0" bIns="0" anchor="t" anchorCtr="0">
              <a:spAutoFit/>
            </a:bodyPr>
            <a:lstStyle/>
            <a:p>
              <a:pPr algn="l"/>
              <a:r>
                <a:rPr lang="en-US" sz="820" dirty="0">
                  <a:solidFill>
                    <a:schemeClr val="accent5"/>
                  </a:solidFill>
                  <a:latin typeface="+mn-lt"/>
                  <a:ea typeface="+mn-ea"/>
                  <a:cs typeface="+mn-cs"/>
                </a:rPr>
                <a:t>Recovery / Terminal</a:t>
              </a:r>
            </a:p>
          </p:txBody>
        </p:sp>
        <p:sp>
          <p:nvSpPr>
            <p:cNvPr id="17" name="Line 17"/>
            <p:cNvSpPr/>
            <p:nvPr/>
          </p:nvSpPr>
          <p:spPr>
            <a:xfrm>
              <a:off x="1143000" y="1905000"/>
              <a:ext cx="10096500" cy="9525"/>
            </a:xfrm>
            <a:custGeom>
              <a:avLst/>
              <a:gdLst/>
              <a:ahLst/>
              <a:cxnLst/>
              <a:rect l="l" t="t" r="r" b="b"/>
              <a:pathLst>
                <a:path w="10096500" h="9525">
                  <a:moveTo>
                    <a:pt x="0" y="0"/>
                  </a:moveTo>
                  <a:lnTo>
                    <a:pt x="10096500" y="0"/>
                  </a:lnTo>
                </a:path>
              </a:pathLst>
            </a:custGeom>
            <a:noFill/>
            <a:ln w="9525">
              <a:solidFill>
                <a:srgbClr val="F1F5F9"/>
              </a:solidFill>
            </a:ln>
          </p:spPr>
        </p:sp>
        <p:sp>
          <p:nvSpPr>
            <p:cNvPr id="18" name="TextBox 18"/>
            <p:cNvSpPr txBox="1"/>
            <p:nvPr/>
          </p:nvSpPr>
          <p:spPr>
            <a:xfrm>
              <a:off x="722236" y="1841500"/>
              <a:ext cx="330276" cy="161925"/>
            </a:xfrm>
            <a:prstGeom prst="rect">
              <a:avLst/>
            </a:prstGeom>
            <a:noFill/>
            <a:ln>
              <a:noFill/>
            </a:ln>
          </p:spPr>
          <p:txBody>
            <a:bodyPr wrap="none" lIns="0" tIns="0" rIns="0" bIns="0" anchor="t" anchorCtr="0">
              <a:spAutoFit/>
            </a:bodyPr>
            <a:lstStyle/>
            <a:p>
              <a:pPr algn="r"/>
              <a:r>
                <a:rPr lang="en-US" sz="820" dirty="0">
                  <a:solidFill>
                    <a:srgbClr val="64748B"/>
                  </a:solidFill>
                  <a:latin typeface="Consolas"/>
                  <a:ea typeface="Consolas"/>
                  <a:cs typeface="Consolas"/>
                </a:rPr>
                <a:t>$600M</a:t>
              </a:r>
            </a:p>
          </p:txBody>
        </p:sp>
        <p:sp>
          <p:nvSpPr>
            <p:cNvPr id="19" name="Line 19"/>
            <p:cNvSpPr/>
            <p:nvPr/>
          </p:nvSpPr>
          <p:spPr>
            <a:xfrm>
              <a:off x="1143000" y="2381250"/>
              <a:ext cx="10096500" cy="9525"/>
            </a:xfrm>
            <a:custGeom>
              <a:avLst/>
              <a:gdLst/>
              <a:ahLst/>
              <a:cxnLst/>
              <a:rect l="l" t="t" r="r" b="b"/>
              <a:pathLst>
                <a:path w="10096500" h="9525">
                  <a:moveTo>
                    <a:pt x="0" y="0"/>
                  </a:moveTo>
                  <a:lnTo>
                    <a:pt x="10096500" y="0"/>
                  </a:lnTo>
                </a:path>
              </a:pathLst>
            </a:custGeom>
            <a:noFill/>
            <a:ln w="9525">
              <a:solidFill>
                <a:srgbClr val="F1F5F9"/>
              </a:solidFill>
            </a:ln>
          </p:spPr>
        </p:sp>
        <p:sp>
          <p:nvSpPr>
            <p:cNvPr id="20" name="TextBox 20"/>
            <p:cNvSpPr txBox="1"/>
            <p:nvPr/>
          </p:nvSpPr>
          <p:spPr>
            <a:xfrm>
              <a:off x="722236" y="2317750"/>
              <a:ext cx="330276" cy="161925"/>
            </a:xfrm>
            <a:prstGeom prst="rect">
              <a:avLst/>
            </a:prstGeom>
            <a:noFill/>
            <a:ln>
              <a:noFill/>
            </a:ln>
          </p:spPr>
          <p:txBody>
            <a:bodyPr wrap="none" lIns="0" tIns="0" rIns="0" bIns="0" anchor="t" anchorCtr="0">
              <a:spAutoFit/>
            </a:bodyPr>
            <a:lstStyle/>
            <a:p>
              <a:pPr algn="r"/>
              <a:r>
                <a:rPr lang="en-US" sz="820" dirty="0">
                  <a:solidFill>
                    <a:srgbClr val="64748B"/>
                  </a:solidFill>
                  <a:latin typeface="Consolas"/>
                  <a:ea typeface="Consolas"/>
                  <a:cs typeface="Consolas"/>
                </a:rPr>
                <a:t>$550M</a:t>
              </a:r>
            </a:p>
          </p:txBody>
        </p:sp>
        <p:sp>
          <p:nvSpPr>
            <p:cNvPr id="21" name="Line 21"/>
            <p:cNvSpPr/>
            <p:nvPr/>
          </p:nvSpPr>
          <p:spPr>
            <a:xfrm>
              <a:off x="1143000" y="2857500"/>
              <a:ext cx="10096500" cy="9525"/>
            </a:xfrm>
            <a:custGeom>
              <a:avLst/>
              <a:gdLst/>
              <a:ahLst/>
              <a:cxnLst/>
              <a:rect l="l" t="t" r="r" b="b"/>
              <a:pathLst>
                <a:path w="10096500" h="9525">
                  <a:moveTo>
                    <a:pt x="0" y="0"/>
                  </a:moveTo>
                  <a:lnTo>
                    <a:pt x="10096500" y="0"/>
                  </a:lnTo>
                </a:path>
              </a:pathLst>
            </a:custGeom>
            <a:noFill/>
            <a:ln w="9525">
              <a:solidFill>
                <a:srgbClr val="F1F5F9"/>
              </a:solidFill>
            </a:ln>
          </p:spPr>
        </p:sp>
        <p:sp>
          <p:nvSpPr>
            <p:cNvPr id="22" name="TextBox 22"/>
            <p:cNvSpPr txBox="1"/>
            <p:nvPr/>
          </p:nvSpPr>
          <p:spPr>
            <a:xfrm>
              <a:off x="722236" y="2794000"/>
              <a:ext cx="330276" cy="161925"/>
            </a:xfrm>
            <a:prstGeom prst="rect">
              <a:avLst/>
            </a:prstGeom>
            <a:noFill/>
            <a:ln>
              <a:noFill/>
            </a:ln>
          </p:spPr>
          <p:txBody>
            <a:bodyPr wrap="none" lIns="0" tIns="0" rIns="0" bIns="0" anchor="t" anchorCtr="0">
              <a:spAutoFit/>
            </a:bodyPr>
            <a:lstStyle/>
            <a:p>
              <a:pPr algn="r"/>
              <a:r>
                <a:rPr lang="en-US" sz="820" dirty="0">
                  <a:solidFill>
                    <a:srgbClr val="64748B"/>
                  </a:solidFill>
                  <a:latin typeface="Consolas"/>
                  <a:ea typeface="Consolas"/>
                  <a:cs typeface="Consolas"/>
                </a:rPr>
                <a:t>$500M</a:t>
              </a:r>
            </a:p>
          </p:txBody>
        </p:sp>
        <p:sp>
          <p:nvSpPr>
            <p:cNvPr id="23" name="Line 23"/>
            <p:cNvSpPr/>
            <p:nvPr/>
          </p:nvSpPr>
          <p:spPr>
            <a:xfrm>
              <a:off x="1143000" y="3333750"/>
              <a:ext cx="10096500" cy="9525"/>
            </a:xfrm>
            <a:custGeom>
              <a:avLst/>
              <a:gdLst/>
              <a:ahLst/>
              <a:cxnLst/>
              <a:rect l="l" t="t" r="r" b="b"/>
              <a:pathLst>
                <a:path w="10096500" h="9525">
                  <a:moveTo>
                    <a:pt x="0" y="0"/>
                  </a:moveTo>
                  <a:lnTo>
                    <a:pt x="10096500" y="0"/>
                  </a:lnTo>
                </a:path>
              </a:pathLst>
            </a:custGeom>
            <a:noFill/>
            <a:ln w="9525">
              <a:solidFill>
                <a:srgbClr val="F1F5F9"/>
              </a:solidFill>
            </a:ln>
          </p:spPr>
        </p:sp>
        <p:sp>
          <p:nvSpPr>
            <p:cNvPr id="24" name="TextBox 24"/>
            <p:cNvSpPr txBox="1"/>
            <p:nvPr/>
          </p:nvSpPr>
          <p:spPr>
            <a:xfrm>
              <a:off x="722236" y="3270250"/>
              <a:ext cx="330276" cy="161925"/>
            </a:xfrm>
            <a:prstGeom prst="rect">
              <a:avLst/>
            </a:prstGeom>
            <a:noFill/>
            <a:ln>
              <a:noFill/>
            </a:ln>
          </p:spPr>
          <p:txBody>
            <a:bodyPr wrap="none" lIns="0" tIns="0" rIns="0" bIns="0" anchor="t" anchorCtr="0">
              <a:spAutoFit/>
            </a:bodyPr>
            <a:lstStyle/>
            <a:p>
              <a:pPr algn="r"/>
              <a:r>
                <a:rPr lang="en-US" sz="820" dirty="0">
                  <a:solidFill>
                    <a:srgbClr val="64748B"/>
                  </a:solidFill>
                  <a:latin typeface="Consolas"/>
                  <a:ea typeface="Consolas"/>
                  <a:cs typeface="Consolas"/>
                </a:rPr>
                <a:t>$450M</a:t>
              </a:r>
            </a:p>
          </p:txBody>
        </p:sp>
        <p:sp>
          <p:nvSpPr>
            <p:cNvPr id="25" name="Line 25"/>
            <p:cNvSpPr/>
            <p:nvPr/>
          </p:nvSpPr>
          <p:spPr>
            <a:xfrm>
              <a:off x="1143000" y="3810000"/>
              <a:ext cx="10096500" cy="9525"/>
            </a:xfrm>
            <a:custGeom>
              <a:avLst/>
              <a:gdLst/>
              <a:ahLst/>
              <a:cxnLst/>
              <a:rect l="l" t="t" r="r" b="b"/>
              <a:pathLst>
                <a:path w="10096500" h="9525">
                  <a:moveTo>
                    <a:pt x="0" y="0"/>
                  </a:moveTo>
                  <a:lnTo>
                    <a:pt x="10096500" y="0"/>
                  </a:lnTo>
                </a:path>
              </a:pathLst>
            </a:custGeom>
            <a:noFill/>
            <a:ln w="14288">
              <a:solidFill>
                <a:schemeClr val="accent6"/>
              </a:solidFill>
            </a:ln>
          </p:spPr>
        </p:sp>
        <p:sp>
          <p:nvSpPr>
            <p:cNvPr id="26" name="TextBox 26"/>
            <p:cNvSpPr txBox="1"/>
            <p:nvPr/>
          </p:nvSpPr>
          <p:spPr>
            <a:xfrm>
              <a:off x="722236" y="3746500"/>
              <a:ext cx="330276" cy="161925"/>
            </a:xfrm>
            <a:prstGeom prst="rect">
              <a:avLst/>
            </a:prstGeom>
            <a:noFill/>
            <a:ln>
              <a:noFill/>
            </a:ln>
          </p:spPr>
          <p:txBody>
            <a:bodyPr wrap="none" lIns="0" tIns="0" rIns="0" bIns="0" anchor="t" anchorCtr="0">
              <a:spAutoFit/>
            </a:bodyPr>
            <a:lstStyle/>
            <a:p>
              <a:pPr algn="r"/>
              <a:r>
                <a:rPr lang="en-US" sz="820" dirty="0">
                  <a:solidFill>
                    <a:srgbClr val="64748B"/>
                  </a:solidFill>
                  <a:latin typeface="Consolas"/>
                  <a:ea typeface="Consolas"/>
                  <a:cs typeface="Consolas"/>
                </a:rPr>
                <a:t>$400M</a:t>
              </a:r>
            </a:p>
          </p:txBody>
        </p:sp>
        <p:sp>
          <p:nvSpPr>
            <p:cNvPr id="27" name="Rectangle 27"/>
            <p:cNvSpPr/>
            <p:nvPr/>
          </p:nvSpPr>
          <p:spPr>
            <a:xfrm>
              <a:off x="1381125" y="2047875"/>
              <a:ext cx="809625" cy="1762125"/>
            </a:xfrm>
            <a:prstGeom prst="roundRect">
              <a:avLst>
                <a:gd name="adj" fmla="val 4706"/>
              </a:avLst>
            </a:prstGeom>
            <a:solidFill>
              <a:schemeClr val="accent1"/>
            </a:solidFill>
            <a:ln>
              <a:noFill/>
            </a:ln>
          </p:spPr>
        </p:sp>
        <p:sp>
          <p:nvSpPr>
            <p:cNvPr id="28" name="TextBox 28"/>
            <p:cNvSpPr txBox="1"/>
            <p:nvPr/>
          </p:nvSpPr>
          <p:spPr>
            <a:xfrm>
              <a:off x="1529982" y="1851025"/>
              <a:ext cx="502387" cy="176212"/>
            </a:xfrm>
            <a:prstGeom prst="rect">
              <a:avLst/>
            </a:prstGeom>
            <a:noFill/>
            <a:ln>
              <a:noFill/>
            </a:ln>
          </p:spPr>
          <p:txBody>
            <a:bodyPr wrap="none" lIns="0" tIns="0" rIns="0" bIns="0" anchor="t" anchorCtr="0">
              <a:spAutoFit/>
            </a:bodyPr>
            <a:lstStyle/>
            <a:p>
              <a:pPr algn="ctr"/>
              <a:r>
                <a:rPr lang="en-US" sz="900" b="1" dirty="0">
                  <a:solidFill>
                    <a:schemeClr val="accent1"/>
                  </a:solidFill>
                  <a:latin typeface="Consolas"/>
                  <a:ea typeface="Consolas"/>
                  <a:cs typeface="Consolas"/>
                </a:rPr>
                <a:t>$585.0M</a:t>
              </a:r>
            </a:p>
          </p:txBody>
        </p:sp>
        <p:sp>
          <p:nvSpPr>
            <p:cNvPr id="29" name="TextBox 29"/>
            <p:cNvSpPr txBox="1"/>
            <p:nvPr/>
          </p:nvSpPr>
          <p:spPr>
            <a:xfrm>
              <a:off x="1486415" y="3898900"/>
              <a:ext cx="589520" cy="161925"/>
            </a:xfrm>
            <a:prstGeom prst="rect">
              <a:avLst/>
            </a:prstGeom>
            <a:noFill/>
            <a:ln>
              <a:noFill/>
            </a:ln>
          </p:spPr>
          <p:txBody>
            <a:bodyPr wrap="none" lIns="0" tIns="0" rIns="0" bIns="0" anchor="t" anchorCtr="0">
              <a:spAutoFit/>
            </a:bodyPr>
            <a:lstStyle/>
            <a:p>
              <a:pPr algn="ctr"/>
              <a:r>
                <a:rPr lang="en-US" sz="820" b="1" dirty="0">
                  <a:solidFill>
                    <a:schemeClr val="dk1"/>
                  </a:solidFill>
                  <a:latin typeface="+mn-lt"/>
                  <a:ea typeface="+mn-ea"/>
                  <a:cs typeface="+mn-cs"/>
                </a:rPr>
                <a:t>Initial NAV</a:t>
              </a:r>
            </a:p>
          </p:txBody>
        </p:sp>
        <p:sp>
          <p:nvSpPr>
            <p:cNvPr id="30" name="TextBox 30"/>
            <p:cNvSpPr txBox="1"/>
            <p:nvPr/>
          </p:nvSpPr>
          <p:spPr>
            <a:xfrm>
              <a:off x="1593252" y="4064000"/>
              <a:ext cx="375845" cy="147638"/>
            </a:xfrm>
            <a:prstGeom prst="rect">
              <a:avLst/>
            </a:prstGeom>
            <a:noFill/>
            <a:ln>
              <a:noFill/>
            </a:ln>
          </p:spPr>
          <p:txBody>
            <a:bodyPr wrap="none" lIns="0" tIns="0" rIns="0" bIns="0" anchor="t" anchorCtr="0">
              <a:spAutoFit/>
            </a:bodyPr>
            <a:lstStyle/>
            <a:p>
              <a:pPr algn="ctr"/>
              <a:r>
                <a:rPr lang="en-US" sz="750" dirty="0">
                  <a:solidFill>
                    <a:srgbClr val="64748B"/>
                  </a:solidFill>
                  <a:latin typeface="+mn-lt"/>
                  <a:ea typeface="+mn-ea"/>
                  <a:cs typeface="+mn-cs"/>
                </a:rPr>
                <a:t>Baseline</a:t>
              </a:r>
            </a:p>
          </p:txBody>
        </p:sp>
        <p:sp>
          <p:nvSpPr>
            <p:cNvPr id="31" name="Line 31"/>
            <p:cNvSpPr/>
            <p:nvPr/>
          </p:nvSpPr>
          <p:spPr>
            <a:xfrm>
              <a:off x="2190750" y="2047875"/>
              <a:ext cx="476250" cy="9525"/>
            </a:xfrm>
            <a:custGeom>
              <a:avLst/>
              <a:gdLst/>
              <a:ahLst/>
              <a:cxnLst/>
              <a:rect l="l" t="t" r="r" b="b"/>
              <a:pathLst>
                <a:path w="476250" h="9525">
                  <a:moveTo>
                    <a:pt x="0" y="0"/>
                  </a:moveTo>
                  <a:lnTo>
                    <a:pt x="476250" y="0"/>
                  </a:lnTo>
                </a:path>
              </a:pathLst>
            </a:custGeom>
            <a:noFill/>
            <a:ln w="9525">
              <a:solidFill>
                <a:schemeClr val="accent6"/>
              </a:solidFill>
              <a:prstDash val="sysDot"/>
            </a:ln>
          </p:spPr>
        </p:sp>
        <p:sp>
          <p:nvSpPr>
            <p:cNvPr id="32" name="Rectangle 32"/>
            <p:cNvSpPr/>
            <p:nvPr/>
          </p:nvSpPr>
          <p:spPr>
            <a:xfrm>
              <a:off x="2667000" y="2047875"/>
              <a:ext cx="809625" cy="457200"/>
            </a:xfrm>
            <a:prstGeom prst="roundRect">
              <a:avLst>
                <a:gd name="adj" fmla="val 8333"/>
              </a:avLst>
            </a:prstGeom>
            <a:solidFill>
              <a:schemeClr val="accent3"/>
            </a:solidFill>
            <a:ln>
              <a:noFill/>
            </a:ln>
          </p:spPr>
        </p:sp>
        <p:sp>
          <p:nvSpPr>
            <p:cNvPr id="33" name="TextBox 33"/>
            <p:cNvSpPr txBox="1"/>
            <p:nvPr/>
          </p:nvSpPr>
          <p:spPr>
            <a:xfrm>
              <a:off x="2815857" y="2222500"/>
              <a:ext cx="502387" cy="176212"/>
            </a:xfrm>
            <a:prstGeom prst="rect">
              <a:avLst/>
            </a:prstGeom>
            <a:noFill/>
            <a:ln>
              <a:noFill/>
            </a:ln>
          </p:spPr>
          <p:txBody>
            <a:bodyPr wrap="none" lIns="0" tIns="0" rIns="0" bIns="0" anchor="t" anchorCtr="0">
              <a:spAutoFit/>
            </a:bodyPr>
            <a:lstStyle/>
            <a:p>
              <a:pPr algn="ctr"/>
              <a:r>
                <a:rPr lang="en-US" sz="900" b="1" dirty="0">
                  <a:solidFill>
                    <a:srgbClr val="FFFFFF"/>
                  </a:solidFill>
                  <a:latin typeface="Consolas"/>
                  <a:ea typeface="Consolas"/>
                  <a:cs typeface="Consolas"/>
                </a:rPr>
                <a:t>-$48.2M</a:t>
              </a:r>
            </a:p>
          </p:txBody>
        </p:sp>
        <p:sp>
          <p:nvSpPr>
            <p:cNvPr id="34" name="TextBox 34"/>
            <p:cNvSpPr txBox="1"/>
            <p:nvPr/>
          </p:nvSpPr>
          <p:spPr>
            <a:xfrm>
              <a:off x="2763483" y="3898900"/>
              <a:ext cx="607135" cy="161925"/>
            </a:xfrm>
            <a:prstGeom prst="rect">
              <a:avLst/>
            </a:prstGeom>
            <a:noFill/>
            <a:ln>
              <a:noFill/>
            </a:ln>
          </p:spPr>
          <p:txBody>
            <a:bodyPr wrap="none" lIns="0" tIns="0" rIns="0" bIns="0" anchor="t" anchorCtr="0">
              <a:spAutoFit/>
            </a:bodyPr>
            <a:lstStyle/>
            <a:p>
              <a:pPr algn="ctr"/>
              <a:r>
                <a:rPr lang="en-US" sz="820" b="1" dirty="0">
                  <a:solidFill>
                    <a:schemeClr val="dk1"/>
                  </a:solidFill>
                  <a:latin typeface="+mn-lt"/>
                  <a:ea typeface="+mn-ea"/>
                  <a:cs typeface="+mn-cs"/>
                </a:rPr>
                <a:t>Equity Beta</a:t>
              </a:r>
            </a:p>
          </p:txBody>
        </p:sp>
        <p:sp>
          <p:nvSpPr>
            <p:cNvPr id="35" name="TextBox 35"/>
            <p:cNvSpPr txBox="1"/>
            <p:nvPr/>
          </p:nvSpPr>
          <p:spPr>
            <a:xfrm>
              <a:off x="2775869" y="4064000"/>
              <a:ext cx="582361" cy="147638"/>
            </a:xfrm>
            <a:prstGeom prst="rect">
              <a:avLst/>
            </a:prstGeom>
            <a:noFill/>
            <a:ln>
              <a:noFill/>
            </a:ln>
          </p:spPr>
          <p:txBody>
            <a:bodyPr wrap="none" lIns="0" tIns="0" rIns="0" bIns="0" anchor="t" anchorCtr="0">
              <a:spAutoFit/>
            </a:bodyPr>
            <a:lstStyle/>
            <a:p>
              <a:pPr algn="ctr"/>
              <a:r>
                <a:rPr lang="en-US" sz="750" dirty="0">
                  <a:solidFill>
                    <a:srgbClr val="64748B"/>
                  </a:solidFill>
                  <a:latin typeface="+mn-lt"/>
                  <a:ea typeface="+mn-ea"/>
                  <a:cs typeface="+mn-cs"/>
                </a:rPr>
                <a:t>Market Drop</a:t>
              </a:r>
            </a:p>
          </p:txBody>
        </p:sp>
        <p:sp>
          <p:nvSpPr>
            <p:cNvPr id="36" name="Line 36"/>
            <p:cNvSpPr/>
            <p:nvPr/>
          </p:nvSpPr>
          <p:spPr>
            <a:xfrm>
              <a:off x="3476625" y="2505075"/>
              <a:ext cx="476250" cy="9525"/>
            </a:xfrm>
            <a:custGeom>
              <a:avLst/>
              <a:gdLst/>
              <a:ahLst/>
              <a:cxnLst/>
              <a:rect l="l" t="t" r="r" b="b"/>
              <a:pathLst>
                <a:path w="476250" h="9525">
                  <a:moveTo>
                    <a:pt x="0" y="0"/>
                  </a:moveTo>
                  <a:lnTo>
                    <a:pt x="476250" y="0"/>
                  </a:lnTo>
                </a:path>
              </a:pathLst>
            </a:custGeom>
            <a:noFill/>
            <a:ln w="9525">
              <a:solidFill>
                <a:schemeClr val="accent6"/>
              </a:solidFill>
              <a:prstDash val="sysDot"/>
            </a:ln>
          </p:spPr>
        </p:sp>
        <p:sp>
          <p:nvSpPr>
            <p:cNvPr id="37" name="Rectangle 37"/>
            <p:cNvSpPr/>
            <p:nvPr/>
          </p:nvSpPr>
          <p:spPr>
            <a:xfrm>
              <a:off x="3952875" y="2505075"/>
              <a:ext cx="809625" cy="304800"/>
            </a:xfrm>
            <a:prstGeom prst="roundRect">
              <a:avLst>
                <a:gd name="adj" fmla="val 12500"/>
              </a:avLst>
            </a:prstGeom>
            <a:solidFill>
              <a:schemeClr val="accent3"/>
            </a:solidFill>
            <a:ln>
              <a:noFill/>
            </a:ln>
          </p:spPr>
        </p:sp>
        <p:sp>
          <p:nvSpPr>
            <p:cNvPr id="38" name="TextBox 38"/>
            <p:cNvSpPr txBox="1"/>
            <p:nvPr/>
          </p:nvSpPr>
          <p:spPr>
            <a:xfrm>
              <a:off x="4101732" y="2603500"/>
              <a:ext cx="502387" cy="176212"/>
            </a:xfrm>
            <a:prstGeom prst="rect">
              <a:avLst/>
            </a:prstGeom>
            <a:noFill/>
            <a:ln>
              <a:noFill/>
            </a:ln>
          </p:spPr>
          <p:txBody>
            <a:bodyPr wrap="none" lIns="0" tIns="0" rIns="0" bIns="0" anchor="t" anchorCtr="0">
              <a:spAutoFit/>
            </a:bodyPr>
            <a:lstStyle/>
            <a:p>
              <a:pPr algn="ctr"/>
              <a:r>
                <a:rPr lang="en-US" sz="900" b="1" dirty="0">
                  <a:solidFill>
                    <a:srgbClr val="FFFFFF"/>
                  </a:solidFill>
                  <a:latin typeface="Consolas"/>
                  <a:ea typeface="Consolas"/>
                  <a:cs typeface="Consolas"/>
                </a:rPr>
                <a:t>-$32.4M</a:t>
              </a:r>
            </a:p>
          </p:txBody>
        </p:sp>
        <p:sp>
          <p:nvSpPr>
            <p:cNvPr id="39" name="TextBox 39"/>
            <p:cNvSpPr txBox="1"/>
            <p:nvPr/>
          </p:nvSpPr>
          <p:spPr>
            <a:xfrm>
              <a:off x="4065143" y="3898900"/>
              <a:ext cx="575564" cy="161925"/>
            </a:xfrm>
            <a:prstGeom prst="rect">
              <a:avLst/>
            </a:prstGeom>
            <a:noFill/>
            <a:ln>
              <a:noFill/>
            </a:ln>
          </p:spPr>
          <p:txBody>
            <a:bodyPr wrap="none" lIns="0" tIns="0" rIns="0" bIns="0" anchor="t" anchorCtr="0">
              <a:spAutoFit/>
            </a:bodyPr>
            <a:lstStyle/>
            <a:p>
              <a:pPr algn="ctr"/>
              <a:r>
                <a:rPr lang="el-GR" sz="820" b="1" dirty="0">
                  <a:solidFill>
                    <a:schemeClr val="dk1"/>
                  </a:solidFill>
                  <a:latin typeface="+mn-lt"/>
                  <a:ea typeface="+mn-ea"/>
                  <a:cs typeface="+mn-cs"/>
                </a:rPr>
                <a:t>Bonds (Δy)</a:t>
              </a:r>
            </a:p>
          </p:txBody>
        </p:sp>
        <p:sp>
          <p:nvSpPr>
            <p:cNvPr id="40" name="TextBox 40"/>
            <p:cNvSpPr txBox="1"/>
            <p:nvPr/>
          </p:nvSpPr>
          <p:spPr>
            <a:xfrm>
              <a:off x="4048976" y="4064000"/>
              <a:ext cx="607898" cy="147638"/>
            </a:xfrm>
            <a:prstGeom prst="rect">
              <a:avLst/>
            </a:prstGeom>
            <a:noFill/>
            <a:ln>
              <a:noFill/>
            </a:ln>
          </p:spPr>
          <p:txBody>
            <a:bodyPr wrap="none" lIns="0" tIns="0" rIns="0" bIns="0" anchor="t" anchorCtr="0">
              <a:spAutoFit/>
            </a:bodyPr>
            <a:lstStyle/>
            <a:p>
              <a:pPr algn="ctr"/>
              <a:r>
                <a:rPr lang="en-US" sz="750" dirty="0">
                  <a:solidFill>
                    <a:srgbClr val="64748B"/>
                  </a:solidFill>
                  <a:latin typeface="+mn-lt"/>
                  <a:ea typeface="+mn-ea"/>
                  <a:cs typeface="+mn-cs"/>
                </a:rPr>
                <a:t>+75 bps Rate</a:t>
              </a:r>
            </a:p>
          </p:txBody>
        </p:sp>
        <p:sp>
          <p:nvSpPr>
            <p:cNvPr id="41" name="Line 41"/>
            <p:cNvSpPr/>
            <p:nvPr/>
          </p:nvSpPr>
          <p:spPr>
            <a:xfrm>
              <a:off x="4762500" y="2809875"/>
              <a:ext cx="476250" cy="9525"/>
            </a:xfrm>
            <a:custGeom>
              <a:avLst/>
              <a:gdLst/>
              <a:ahLst/>
              <a:cxnLst/>
              <a:rect l="l" t="t" r="r" b="b"/>
              <a:pathLst>
                <a:path w="476250" h="9525">
                  <a:moveTo>
                    <a:pt x="0" y="0"/>
                  </a:moveTo>
                  <a:lnTo>
                    <a:pt x="476250" y="0"/>
                  </a:lnTo>
                </a:path>
              </a:pathLst>
            </a:custGeom>
            <a:noFill/>
            <a:ln w="9525">
              <a:solidFill>
                <a:schemeClr val="accent6"/>
              </a:solidFill>
              <a:prstDash val="sysDot"/>
            </a:ln>
          </p:spPr>
        </p:sp>
        <p:sp>
          <p:nvSpPr>
            <p:cNvPr id="42" name="Rectangle 42"/>
            <p:cNvSpPr/>
            <p:nvPr/>
          </p:nvSpPr>
          <p:spPr>
            <a:xfrm>
              <a:off x="5238750" y="2809875"/>
              <a:ext cx="809625" cy="180975"/>
            </a:xfrm>
            <a:prstGeom prst="roundRect">
              <a:avLst>
                <a:gd name="adj" fmla="val 21053"/>
              </a:avLst>
            </a:prstGeom>
            <a:solidFill>
              <a:schemeClr val="accent3"/>
            </a:solidFill>
            <a:ln>
              <a:noFill/>
            </a:ln>
          </p:spPr>
        </p:sp>
        <p:sp>
          <p:nvSpPr>
            <p:cNvPr id="43" name="TextBox 43"/>
            <p:cNvSpPr txBox="1"/>
            <p:nvPr/>
          </p:nvSpPr>
          <p:spPr>
            <a:xfrm>
              <a:off x="5409512" y="2660650"/>
              <a:ext cx="458577" cy="161925"/>
            </a:xfrm>
            <a:prstGeom prst="rect">
              <a:avLst/>
            </a:prstGeom>
            <a:noFill/>
            <a:ln>
              <a:noFill/>
            </a:ln>
          </p:spPr>
          <p:txBody>
            <a:bodyPr wrap="none" lIns="0" tIns="0" rIns="0" bIns="0" anchor="t" anchorCtr="0">
              <a:spAutoFit/>
            </a:bodyPr>
            <a:lstStyle/>
            <a:p>
              <a:pPr algn="ctr"/>
              <a:r>
                <a:rPr lang="en-US" sz="820" b="1" dirty="0">
                  <a:solidFill>
                    <a:schemeClr val="accent3"/>
                  </a:solidFill>
                  <a:latin typeface="Consolas"/>
                  <a:ea typeface="Consolas"/>
                  <a:cs typeface="Consolas"/>
                </a:rPr>
                <a:t>-$18.6M</a:t>
              </a:r>
            </a:p>
          </p:txBody>
        </p:sp>
        <p:sp>
          <p:nvSpPr>
            <p:cNvPr id="44" name="TextBox 44"/>
            <p:cNvSpPr txBox="1"/>
            <p:nvPr/>
          </p:nvSpPr>
          <p:spPr>
            <a:xfrm>
              <a:off x="5351180" y="3898900"/>
              <a:ext cx="575240" cy="161925"/>
            </a:xfrm>
            <a:prstGeom prst="rect">
              <a:avLst/>
            </a:prstGeom>
            <a:noFill/>
            <a:ln>
              <a:noFill/>
            </a:ln>
          </p:spPr>
          <p:txBody>
            <a:bodyPr wrap="none" lIns="0" tIns="0" rIns="0" bIns="0" anchor="t" anchorCtr="0">
              <a:spAutoFit/>
            </a:bodyPr>
            <a:lstStyle/>
            <a:p>
              <a:pPr algn="ctr"/>
              <a:r>
                <a:rPr lang="en-US" sz="820" b="1" dirty="0">
                  <a:solidFill>
                    <a:schemeClr val="dk1"/>
                  </a:solidFill>
                  <a:latin typeface="+mn-lt"/>
                  <a:ea typeface="+mn-ea"/>
                  <a:cs typeface="+mn-cs"/>
                </a:rPr>
                <a:t>Credit Risk</a:t>
              </a:r>
            </a:p>
          </p:txBody>
        </p:sp>
        <p:sp>
          <p:nvSpPr>
            <p:cNvPr id="45" name="TextBox 45"/>
            <p:cNvSpPr txBox="1"/>
            <p:nvPr/>
          </p:nvSpPr>
          <p:spPr>
            <a:xfrm>
              <a:off x="5251168" y="4064000"/>
              <a:ext cx="775264" cy="147638"/>
            </a:xfrm>
            <a:prstGeom prst="rect">
              <a:avLst/>
            </a:prstGeom>
            <a:noFill/>
            <a:ln>
              <a:noFill/>
            </a:ln>
          </p:spPr>
          <p:txBody>
            <a:bodyPr wrap="none" lIns="0" tIns="0" rIns="0" bIns="0" anchor="t" anchorCtr="0">
              <a:spAutoFit/>
            </a:bodyPr>
            <a:lstStyle/>
            <a:p>
              <a:pPr algn="ctr"/>
              <a:r>
                <a:rPr lang="en-US" sz="750" dirty="0">
                  <a:solidFill>
                    <a:srgbClr val="64748B"/>
                  </a:solidFill>
                  <a:latin typeface="+mn-lt"/>
                  <a:ea typeface="+mn-ea"/>
                  <a:cs typeface="+mn-cs"/>
                </a:rPr>
                <a:t>+120 bps Spread</a:t>
              </a:r>
            </a:p>
          </p:txBody>
        </p:sp>
        <p:sp>
          <p:nvSpPr>
            <p:cNvPr id="46" name="Line 46"/>
            <p:cNvSpPr/>
            <p:nvPr/>
          </p:nvSpPr>
          <p:spPr>
            <a:xfrm>
              <a:off x="6048375" y="2990850"/>
              <a:ext cx="476250" cy="9525"/>
            </a:xfrm>
            <a:custGeom>
              <a:avLst/>
              <a:gdLst/>
              <a:ahLst/>
              <a:cxnLst/>
              <a:rect l="l" t="t" r="r" b="b"/>
              <a:pathLst>
                <a:path w="476250" h="9525">
                  <a:moveTo>
                    <a:pt x="0" y="0"/>
                  </a:moveTo>
                  <a:lnTo>
                    <a:pt x="476250" y="0"/>
                  </a:lnTo>
                </a:path>
              </a:pathLst>
            </a:custGeom>
            <a:noFill/>
            <a:ln w="9525">
              <a:solidFill>
                <a:schemeClr val="accent6"/>
              </a:solidFill>
              <a:prstDash val="sysDot"/>
            </a:ln>
          </p:spPr>
        </p:sp>
        <p:sp>
          <p:nvSpPr>
            <p:cNvPr id="47" name="Rectangle 47"/>
            <p:cNvSpPr/>
            <p:nvPr/>
          </p:nvSpPr>
          <p:spPr>
            <a:xfrm>
              <a:off x="6524625" y="2990850"/>
              <a:ext cx="809625" cy="161925"/>
            </a:xfrm>
            <a:prstGeom prst="roundRect">
              <a:avLst>
                <a:gd name="adj" fmla="val 23529"/>
              </a:avLst>
            </a:prstGeom>
            <a:solidFill>
              <a:schemeClr val="accent3"/>
            </a:solidFill>
            <a:ln>
              <a:noFill/>
            </a:ln>
          </p:spPr>
        </p:sp>
        <p:sp>
          <p:nvSpPr>
            <p:cNvPr id="48" name="TextBox 48"/>
            <p:cNvSpPr txBox="1"/>
            <p:nvPr/>
          </p:nvSpPr>
          <p:spPr>
            <a:xfrm>
              <a:off x="6695387" y="2851150"/>
              <a:ext cx="458577" cy="161925"/>
            </a:xfrm>
            <a:prstGeom prst="rect">
              <a:avLst/>
            </a:prstGeom>
            <a:noFill/>
            <a:ln>
              <a:noFill/>
            </a:ln>
          </p:spPr>
          <p:txBody>
            <a:bodyPr wrap="none" lIns="0" tIns="0" rIns="0" bIns="0" anchor="t" anchorCtr="0">
              <a:spAutoFit/>
            </a:bodyPr>
            <a:lstStyle/>
            <a:p>
              <a:pPr algn="ctr"/>
              <a:r>
                <a:rPr lang="en-US" sz="820" b="1" dirty="0">
                  <a:solidFill>
                    <a:schemeClr val="accent3"/>
                  </a:solidFill>
                  <a:latin typeface="Consolas"/>
                  <a:ea typeface="Consolas"/>
                  <a:cs typeface="Consolas"/>
                </a:rPr>
                <a:t>-$16.9M</a:t>
              </a:r>
            </a:p>
          </p:txBody>
        </p:sp>
        <p:sp>
          <p:nvSpPr>
            <p:cNvPr id="49" name="TextBox 49"/>
            <p:cNvSpPr txBox="1"/>
            <p:nvPr/>
          </p:nvSpPr>
          <p:spPr>
            <a:xfrm>
              <a:off x="6573024" y="3898900"/>
              <a:ext cx="703302" cy="161925"/>
            </a:xfrm>
            <a:prstGeom prst="rect">
              <a:avLst/>
            </a:prstGeom>
            <a:noFill/>
            <a:ln>
              <a:noFill/>
            </a:ln>
          </p:spPr>
          <p:txBody>
            <a:bodyPr wrap="none" lIns="0" tIns="0" rIns="0" bIns="0" anchor="t" anchorCtr="0">
              <a:spAutoFit/>
            </a:bodyPr>
            <a:lstStyle/>
            <a:p>
              <a:pPr algn="ctr"/>
              <a:r>
                <a:rPr lang="en-US" sz="820" b="1" dirty="0">
                  <a:solidFill>
                    <a:schemeClr val="dk1"/>
                  </a:solidFill>
                  <a:latin typeface="+mn-lt"/>
                  <a:ea typeface="+mn-ea"/>
                  <a:cs typeface="+mn-cs"/>
                </a:rPr>
                <a:t>NLP FinBERT</a:t>
              </a:r>
            </a:p>
          </p:txBody>
        </p:sp>
        <p:sp>
          <p:nvSpPr>
            <p:cNvPr id="50" name="TextBox 50"/>
            <p:cNvSpPr txBox="1"/>
            <p:nvPr/>
          </p:nvSpPr>
          <p:spPr>
            <a:xfrm>
              <a:off x="6424607" y="4064000"/>
              <a:ext cx="1000135" cy="147638"/>
            </a:xfrm>
            <a:prstGeom prst="rect">
              <a:avLst/>
            </a:prstGeom>
            <a:noFill/>
            <a:ln>
              <a:noFill/>
            </a:ln>
          </p:spPr>
          <p:txBody>
            <a:bodyPr wrap="none" lIns="0" tIns="0" rIns="0" bIns="0" anchor="t" anchorCtr="0">
              <a:spAutoFit/>
            </a:bodyPr>
            <a:lstStyle/>
            <a:p>
              <a:pPr algn="ctr"/>
              <a:r>
                <a:rPr lang="en-US" sz="750" dirty="0">
                  <a:solidFill>
                    <a:srgbClr val="64748B"/>
                  </a:solidFill>
                  <a:latin typeface="+mn-lt"/>
                  <a:ea typeface="+mn-ea"/>
                  <a:cs typeface="+mn-cs"/>
                </a:rPr>
                <a:t>Contagion Headwinds</a:t>
              </a:r>
            </a:p>
          </p:txBody>
        </p:sp>
        <p:sp>
          <p:nvSpPr>
            <p:cNvPr id="51" name="Line 51"/>
            <p:cNvSpPr/>
            <p:nvPr/>
          </p:nvSpPr>
          <p:spPr>
            <a:xfrm>
              <a:off x="7334250" y="3152775"/>
              <a:ext cx="476250" cy="9525"/>
            </a:xfrm>
            <a:custGeom>
              <a:avLst/>
              <a:gdLst/>
              <a:ahLst/>
              <a:cxnLst/>
              <a:rect l="l" t="t" r="r" b="b"/>
              <a:pathLst>
                <a:path w="476250" h="9525">
                  <a:moveTo>
                    <a:pt x="0" y="0"/>
                  </a:moveTo>
                  <a:lnTo>
                    <a:pt x="476250" y="0"/>
                  </a:lnTo>
                </a:path>
              </a:pathLst>
            </a:custGeom>
            <a:noFill/>
            <a:ln w="9525">
              <a:solidFill>
                <a:schemeClr val="accent6"/>
              </a:solidFill>
              <a:prstDash val="sysDot"/>
            </a:ln>
          </p:spPr>
        </p:sp>
        <p:sp>
          <p:nvSpPr>
            <p:cNvPr id="52" name="Rectangle 52"/>
            <p:cNvSpPr/>
            <p:nvPr/>
          </p:nvSpPr>
          <p:spPr>
            <a:xfrm>
              <a:off x="7810500" y="3152775"/>
              <a:ext cx="809625" cy="219075"/>
            </a:xfrm>
            <a:prstGeom prst="roundRect">
              <a:avLst>
                <a:gd name="adj" fmla="val 17391"/>
              </a:avLst>
            </a:prstGeom>
            <a:solidFill>
              <a:schemeClr val="accent3"/>
            </a:solidFill>
            <a:ln>
              <a:noFill/>
            </a:ln>
          </p:spPr>
        </p:sp>
        <p:sp>
          <p:nvSpPr>
            <p:cNvPr id="53" name="TextBox 53"/>
            <p:cNvSpPr txBox="1"/>
            <p:nvPr/>
          </p:nvSpPr>
          <p:spPr>
            <a:xfrm>
              <a:off x="7981262" y="3003550"/>
              <a:ext cx="458577" cy="161925"/>
            </a:xfrm>
            <a:prstGeom prst="rect">
              <a:avLst/>
            </a:prstGeom>
            <a:noFill/>
            <a:ln>
              <a:noFill/>
            </a:ln>
          </p:spPr>
          <p:txBody>
            <a:bodyPr wrap="none" lIns="0" tIns="0" rIns="0" bIns="0" anchor="t" anchorCtr="0">
              <a:spAutoFit/>
            </a:bodyPr>
            <a:lstStyle/>
            <a:p>
              <a:pPr algn="ctr"/>
              <a:r>
                <a:rPr lang="en-US" sz="820" b="1" dirty="0">
                  <a:solidFill>
                    <a:schemeClr val="accent3"/>
                  </a:solidFill>
                  <a:latin typeface="Consolas"/>
                  <a:ea typeface="Consolas"/>
                  <a:cs typeface="Consolas"/>
                </a:rPr>
                <a:t>-$23.1M</a:t>
              </a:r>
            </a:p>
          </p:txBody>
        </p:sp>
        <p:sp>
          <p:nvSpPr>
            <p:cNvPr id="54" name="TextBox 54"/>
            <p:cNvSpPr txBox="1"/>
            <p:nvPr/>
          </p:nvSpPr>
          <p:spPr>
            <a:xfrm>
              <a:off x="7859814" y="3898900"/>
              <a:ext cx="701472" cy="161925"/>
            </a:xfrm>
            <a:prstGeom prst="rect">
              <a:avLst/>
            </a:prstGeom>
            <a:noFill/>
            <a:ln>
              <a:noFill/>
            </a:ln>
          </p:spPr>
          <p:txBody>
            <a:bodyPr wrap="none" lIns="0" tIns="0" rIns="0" bIns="0" anchor="t" anchorCtr="0">
              <a:spAutoFit/>
            </a:bodyPr>
            <a:lstStyle/>
            <a:p>
              <a:pPr algn="ctr"/>
              <a:r>
                <a:rPr lang="en-US" sz="820" b="1" dirty="0">
                  <a:solidFill>
                    <a:schemeClr val="dk1"/>
                  </a:solidFill>
                  <a:latin typeface="+mn-lt"/>
                  <a:ea typeface="+mn-ea"/>
                  <a:cs typeface="+mn-cs"/>
                </a:rPr>
                <a:t>Commodities</a:t>
              </a:r>
            </a:p>
          </p:txBody>
        </p:sp>
        <p:sp>
          <p:nvSpPr>
            <p:cNvPr id="55" name="TextBox 55"/>
            <p:cNvSpPr txBox="1"/>
            <p:nvPr/>
          </p:nvSpPr>
          <p:spPr>
            <a:xfrm>
              <a:off x="7907635" y="4064000"/>
              <a:ext cx="605831" cy="147638"/>
            </a:xfrm>
            <a:prstGeom prst="rect">
              <a:avLst/>
            </a:prstGeom>
            <a:noFill/>
            <a:ln>
              <a:noFill/>
            </a:ln>
          </p:spPr>
          <p:txBody>
            <a:bodyPr wrap="none" lIns="0" tIns="0" rIns="0" bIns="0" anchor="t" anchorCtr="0">
              <a:spAutoFit/>
            </a:bodyPr>
            <a:lstStyle/>
            <a:p>
              <a:pPr algn="ctr"/>
              <a:r>
                <a:rPr lang="en-US" sz="750" dirty="0">
                  <a:solidFill>
                    <a:srgbClr val="64748B"/>
                  </a:solidFill>
                  <a:latin typeface="+mn-lt"/>
                  <a:ea typeface="+mn-ea"/>
                  <a:cs typeface="+mn-cs"/>
                </a:rPr>
                <a:t>Energy Surge</a:t>
              </a:r>
            </a:p>
          </p:txBody>
        </p:sp>
        <p:sp>
          <p:nvSpPr>
            <p:cNvPr id="56" name="Line 56"/>
            <p:cNvSpPr/>
            <p:nvPr/>
          </p:nvSpPr>
          <p:spPr>
            <a:xfrm>
              <a:off x="8620125" y="3371850"/>
              <a:ext cx="476250" cy="9525"/>
            </a:xfrm>
            <a:custGeom>
              <a:avLst/>
              <a:gdLst/>
              <a:ahLst/>
              <a:cxnLst/>
              <a:rect l="l" t="t" r="r" b="b"/>
              <a:pathLst>
                <a:path w="476250" h="9525">
                  <a:moveTo>
                    <a:pt x="0" y="0"/>
                  </a:moveTo>
                  <a:lnTo>
                    <a:pt x="476250" y="0"/>
                  </a:lnTo>
                </a:path>
              </a:pathLst>
            </a:custGeom>
            <a:noFill/>
            <a:ln w="9525">
              <a:solidFill>
                <a:schemeClr val="accent6"/>
              </a:solidFill>
              <a:prstDash val="sysDot"/>
            </a:ln>
          </p:spPr>
        </p:sp>
        <p:sp>
          <p:nvSpPr>
            <p:cNvPr id="57" name="Rectangle 57"/>
            <p:cNvSpPr/>
            <p:nvPr/>
          </p:nvSpPr>
          <p:spPr>
            <a:xfrm>
              <a:off x="9096375" y="3086100"/>
              <a:ext cx="809625" cy="285750"/>
            </a:xfrm>
            <a:prstGeom prst="roundRect">
              <a:avLst>
                <a:gd name="adj" fmla="val 13333"/>
              </a:avLst>
            </a:prstGeom>
            <a:solidFill>
              <a:schemeClr val="accent2"/>
            </a:solidFill>
            <a:ln>
              <a:noFill/>
            </a:ln>
          </p:spPr>
        </p:sp>
        <p:sp>
          <p:nvSpPr>
            <p:cNvPr id="58" name="TextBox 58"/>
            <p:cNvSpPr txBox="1"/>
            <p:nvPr/>
          </p:nvSpPr>
          <p:spPr>
            <a:xfrm>
              <a:off x="9245232" y="2908300"/>
              <a:ext cx="502387" cy="176212"/>
            </a:xfrm>
            <a:prstGeom prst="rect">
              <a:avLst/>
            </a:prstGeom>
            <a:noFill/>
            <a:ln>
              <a:noFill/>
            </a:ln>
          </p:spPr>
          <p:txBody>
            <a:bodyPr wrap="none" lIns="0" tIns="0" rIns="0" bIns="0" anchor="t" anchorCtr="0">
              <a:spAutoFit/>
            </a:bodyPr>
            <a:lstStyle/>
            <a:p>
              <a:pPr algn="ctr"/>
              <a:r>
                <a:rPr lang="en-US" sz="900" b="1" dirty="0">
                  <a:solidFill>
                    <a:schemeClr val="accent2"/>
                  </a:solidFill>
                  <a:latin typeface="Consolas"/>
                  <a:ea typeface="Consolas"/>
                  <a:cs typeface="Consolas"/>
                </a:rPr>
                <a:t>+$29.5M</a:t>
              </a:r>
            </a:p>
          </p:txBody>
        </p:sp>
        <p:sp>
          <p:nvSpPr>
            <p:cNvPr id="59" name="TextBox 59"/>
            <p:cNvSpPr txBox="1"/>
            <p:nvPr/>
          </p:nvSpPr>
          <p:spPr>
            <a:xfrm>
              <a:off x="9266118" y="3898900"/>
              <a:ext cx="460614" cy="161925"/>
            </a:xfrm>
            <a:prstGeom prst="rect">
              <a:avLst/>
            </a:prstGeom>
            <a:noFill/>
            <a:ln>
              <a:noFill/>
            </a:ln>
          </p:spPr>
          <p:txBody>
            <a:bodyPr wrap="none" lIns="0" tIns="0" rIns="0" bIns="0" anchor="t" anchorCtr="0">
              <a:spAutoFit/>
            </a:bodyPr>
            <a:lstStyle/>
            <a:p>
              <a:pPr algn="ctr"/>
              <a:r>
                <a:rPr lang="en-US" sz="820" b="1" dirty="0">
                  <a:solidFill>
                    <a:schemeClr val="dk1"/>
                  </a:solidFill>
                  <a:latin typeface="+mn-lt"/>
                  <a:ea typeface="+mn-ea"/>
                  <a:cs typeface="+mn-cs"/>
                </a:rPr>
                <a:t>Hedging</a:t>
              </a:r>
            </a:p>
          </p:txBody>
        </p:sp>
        <p:sp>
          <p:nvSpPr>
            <p:cNvPr id="60" name="TextBox 60"/>
            <p:cNvSpPr txBox="1"/>
            <p:nvPr/>
          </p:nvSpPr>
          <p:spPr>
            <a:xfrm>
              <a:off x="9152843" y="4064000"/>
              <a:ext cx="687164" cy="147638"/>
            </a:xfrm>
            <a:prstGeom prst="rect">
              <a:avLst/>
            </a:prstGeom>
            <a:noFill/>
            <a:ln>
              <a:noFill/>
            </a:ln>
          </p:spPr>
          <p:txBody>
            <a:bodyPr wrap="none" lIns="0" tIns="0" rIns="0" bIns="0" anchor="t" anchorCtr="0">
              <a:spAutoFit/>
            </a:bodyPr>
            <a:lstStyle/>
            <a:p>
              <a:pPr algn="ctr"/>
              <a:r>
                <a:rPr lang="en-US" sz="750" dirty="0">
                  <a:solidFill>
                    <a:schemeClr val="accent2"/>
                  </a:solidFill>
                  <a:latin typeface="+mn-lt"/>
                  <a:ea typeface="+mn-ea"/>
                  <a:cs typeface="+mn-cs"/>
                </a:rPr>
                <a:t>Dynamic Alpha</a:t>
              </a:r>
            </a:p>
          </p:txBody>
        </p:sp>
        <p:sp>
          <p:nvSpPr>
            <p:cNvPr id="61" name="Line 61"/>
            <p:cNvSpPr/>
            <p:nvPr/>
          </p:nvSpPr>
          <p:spPr>
            <a:xfrm>
              <a:off x="9906000" y="3086100"/>
              <a:ext cx="381000" cy="9525"/>
            </a:xfrm>
            <a:custGeom>
              <a:avLst/>
              <a:gdLst/>
              <a:ahLst/>
              <a:cxnLst/>
              <a:rect l="l" t="t" r="r" b="b"/>
              <a:pathLst>
                <a:path w="381000" h="9525">
                  <a:moveTo>
                    <a:pt x="0" y="0"/>
                  </a:moveTo>
                  <a:lnTo>
                    <a:pt x="381000" y="0"/>
                  </a:lnTo>
                </a:path>
              </a:pathLst>
            </a:custGeom>
            <a:noFill/>
            <a:ln w="9525">
              <a:solidFill>
                <a:schemeClr val="accent6"/>
              </a:solidFill>
              <a:prstDash val="sysDot"/>
            </a:ln>
          </p:spPr>
        </p:sp>
        <p:sp>
          <p:nvSpPr>
            <p:cNvPr id="62" name="Rectangle 62"/>
            <p:cNvSpPr/>
            <p:nvPr/>
          </p:nvSpPr>
          <p:spPr>
            <a:xfrm>
              <a:off x="10287000" y="2876550"/>
              <a:ext cx="809625" cy="933450"/>
            </a:xfrm>
            <a:prstGeom prst="roundRect">
              <a:avLst>
                <a:gd name="adj" fmla="val 4706"/>
              </a:avLst>
            </a:prstGeom>
            <a:solidFill>
              <a:srgbClr val="0284C7"/>
            </a:solidFill>
            <a:ln>
              <a:noFill/>
            </a:ln>
          </p:spPr>
        </p:sp>
        <p:sp>
          <p:nvSpPr>
            <p:cNvPr id="63" name="TextBox 63"/>
            <p:cNvSpPr txBox="1"/>
            <p:nvPr/>
          </p:nvSpPr>
          <p:spPr>
            <a:xfrm>
              <a:off x="10435857" y="2679700"/>
              <a:ext cx="502387" cy="176212"/>
            </a:xfrm>
            <a:prstGeom prst="rect">
              <a:avLst/>
            </a:prstGeom>
            <a:noFill/>
            <a:ln>
              <a:noFill/>
            </a:ln>
          </p:spPr>
          <p:txBody>
            <a:bodyPr wrap="none" lIns="0" tIns="0" rIns="0" bIns="0" anchor="t" anchorCtr="0">
              <a:spAutoFit/>
            </a:bodyPr>
            <a:lstStyle/>
            <a:p>
              <a:pPr algn="ctr"/>
              <a:r>
                <a:rPr lang="en-US" sz="900" b="1" dirty="0">
                  <a:solidFill>
                    <a:srgbClr val="0284C7"/>
                  </a:solidFill>
                  <a:latin typeface="Consolas"/>
                  <a:ea typeface="Consolas"/>
                  <a:cs typeface="Consolas"/>
                </a:rPr>
                <a:t>$498.4M</a:t>
              </a:r>
            </a:p>
          </p:txBody>
        </p:sp>
        <p:sp>
          <p:nvSpPr>
            <p:cNvPr id="64" name="TextBox 64"/>
            <p:cNvSpPr txBox="1"/>
            <p:nvPr/>
          </p:nvSpPr>
          <p:spPr>
            <a:xfrm>
              <a:off x="10311161" y="3898900"/>
              <a:ext cx="751778" cy="161925"/>
            </a:xfrm>
            <a:prstGeom prst="rect">
              <a:avLst/>
            </a:prstGeom>
            <a:noFill/>
            <a:ln>
              <a:noFill/>
            </a:ln>
          </p:spPr>
          <p:txBody>
            <a:bodyPr wrap="none" lIns="0" tIns="0" rIns="0" bIns="0" anchor="t" anchorCtr="0">
              <a:spAutoFit/>
            </a:bodyPr>
            <a:lstStyle/>
            <a:p>
              <a:pPr algn="ctr"/>
              <a:r>
                <a:rPr lang="en-US" sz="820" b="1" dirty="0">
                  <a:solidFill>
                    <a:schemeClr val="dk1"/>
                  </a:solidFill>
                  <a:latin typeface="+mn-lt"/>
                  <a:ea typeface="+mn-ea"/>
                  <a:cs typeface="+mn-cs"/>
                </a:rPr>
                <a:t>Terminal NAV</a:t>
              </a:r>
            </a:p>
          </p:txBody>
        </p:sp>
        <p:sp>
          <p:nvSpPr>
            <p:cNvPr id="65" name="TextBox 65"/>
            <p:cNvSpPr txBox="1"/>
            <p:nvPr/>
          </p:nvSpPr>
          <p:spPr>
            <a:xfrm>
              <a:off x="10335805" y="4064000"/>
              <a:ext cx="702490" cy="147638"/>
            </a:xfrm>
            <a:prstGeom prst="rect">
              <a:avLst/>
            </a:prstGeom>
            <a:noFill/>
            <a:ln>
              <a:noFill/>
            </a:ln>
          </p:spPr>
          <p:txBody>
            <a:bodyPr wrap="none" lIns="0" tIns="0" rIns="0" bIns="0" anchor="t" anchorCtr="0">
              <a:spAutoFit/>
            </a:bodyPr>
            <a:lstStyle/>
            <a:p>
              <a:pPr algn="ctr"/>
              <a:r>
                <a:rPr lang="en-US" sz="750" dirty="0">
                  <a:solidFill>
                    <a:srgbClr val="64748B"/>
                  </a:solidFill>
                  <a:latin typeface="+mn-lt"/>
                  <a:ea typeface="+mn-ea"/>
                  <a:cs typeface="+mn-cs"/>
                </a:rPr>
                <a:t>85.2% Retained</a:t>
              </a:r>
            </a:p>
          </p:txBody>
        </p:sp>
      </p:grpSp>
      <p:grpSp>
        <p:nvGrpSpPr>
          <p:cNvPr id="72" name="kpi-nav"/>
          <p:cNvGrpSpPr/>
          <p:nvPr/>
        </p:nvGrpSpPr>
        <p:grpSpPr>
          <a:xfrm>
            <a:off x="571500" y="4953000"/>
            <a:ext cx="2619375" cy="1285875"/>
            <a:chOff x="571500" y="4953000"/>
            <a:chExt cx="2619375" cy="1285875"/>
          </a:xfrm>
        </p:grpSpPr>
        <p:sp>
          <p:nvSpPr>
            <p:cNvPr id="67" name="Rectangle 67"/>
            <p:cNvSpPr/>
            <p:nvPr/>
          </p:nvSpPr>
          <p:spPr>
            <a:xfrm>
              <a:off x="571500" y="4953000"/>
              <a:ext cx="2619375" cy="1285875"/>
            </a:xfrm>
            <a:prstGeom prst="roundRect">
              <a:avLst>
                <a:gd name="adj" fmla="val 5926"/>
              </a:avLst>
            </a:prstGeom>
            <a:solidFill>
              <a:srgbClr val="FFFFFF"/>
            </a:solidFill>
            <a:ln w="9525">
              <a:solidFill>
                <a:schemeClr val="accent6"/>
              </a:solidFill>
            </a:ln>
          </p:spPr>
        </p:sp>
        <p:sp>
          <p:nvSpPr>
            <p:cNvPr id="68" name="TextBox 68"/>
            <p:cNvSpPr txBox="1"/>
            <p:nvPr/>
          </p:nvSpPr>
          <p:spPr>
            <a:xfrm>
              <a:off x="719138" y="5099050"/>
              <a:ext cx="1590895" cy="161925"/>
            </a:xfrm>
            <a:prstGeom prst="rect">
              <a:avLst/>
            </a:prstGeom>
            <a:noFill/>
            <a:ln>
              <a:noFill/>
            </a:ln>
          </p:spPr>
          <p:txBody>
            <a:bodyPr wrap="none" lIns="0" tIns="0" rIns="0" bIns="0" anchor="t" anchorCtr="0">
              <a:spAutoFit/>
            </a:bodyPr>
            <a:lstStyle/>
            <a:p>
              <a:pPr algn="l"/>
              <a:r>
                <a:rPr lang="en-US" sz="820" b="1" spc="75" dirty="0">
                  <a:solidFill>
                    <a:srgbClr val="64748B"/>
                  </a:solidFill>
                  <a:latin typeface="+mn-lt"/>
                  <a:ea typeface="+mn-ea"/>
                  <a:cs typeface="+mn-cs"/>
                </a:rPr>
                <a:t>INITIAL PORTFOLIO NAV</a:t>
              </a:r>
            </a:p>
          </p:txBody>
        </p:sp>
        <p:sp>
          <p:nvSpPr>
            <p:cNvPr id="69" name="TextBox 69"/>
            <p:cNvSpPr txBox="1"/>
            <p:nvPr/>
          </p:nvSpPr>
          <p:spPr>
            <a:xfrm>
              <a:off x="714756" y="5327650"/>
              <a:ext cx="1004011" cy="352044"/>
            </a:xfrm>
            <a:prstGeom prst="rect">
              <a:avLst/>
            </a:prstGeom>
            <a:noFill/>
            <a:ln>
              <a:noFill/>
            </a:ln>
          </p:spPr>
          <p:txBody>
            <a:bodyPr wrap="none" lIns="0" tIns="0" rIns="0" bIns="0" anchor="t" anchorCtr="0">
              <a:spAutoFit/>
            </a:bodyPr>
            <a:lstStyle/>
            <a:p>
              <a:pPr algn="l"/>
              <a:r>
                <a:rPr lang="en-US" sz="1800" b="1" dirty="0">
                  <a:solidFill>
                    <a:schemeClr val="accent1"/>
                  </a:solidFill>
                  <a:latin typeface="Consolas"/>
                  <a:ea typeface="Consolas"/>
                  <a:cs typeface="Consolas"/>
                </a:rPr>
                <a:t>$585.0M</a:t>
              </a:r>
            </a:p>
          </p:txBody>
        </p:sp>
        <p:sp>
          <p:nvSpPr>
            <p:cNvPr id="70" name="TextBox 70"/>
            <p:cNvSpPr txBox="1"/>
            <p:nvPr/>
          </p:nvSpPr>
          <p:spPr>
            <a:xfrm>
              <a:off x="719138" y="5689600"/>
              <a:ext cx="1633407" cy="161925"/>
            </a:xfrm>
            <a:prstGeom prst="rect">
              <a:avLst/>
            </a:prstGeom>
            <a:noFill/>
            <a:ln>
              <a:noFill/>
            </a:ln>
          </p:spPr>
          <p:txBody>
            <a:bodyPr wrap="none" lIns="0" tIns="0" rIns="0" bIns="0" anchor="t" anchorCtr="0">
              <a:spAutoFit/>
            </a:bodyPr>
            <a:lstStyle/>
            <a:p>
              <a:pPr marL="76200" indent="-76200" algn="l">
                <a:buClr>
                  <a:srgbClr val="334155"/>
                </a:buClr>
                <a:buSzTx/>
                <a:buFontTx/>
                <a:buChar char="•"/>
              </a:pPr>
              <a:r>
                <a:rPr lang="en-US" sz="820" dirty="0">
                  <a:solidFill>
                    <a:srgbClr val="334155"/>
                  </a:solidFill>
                  <a:latin typeface="+mn-lt"/>
                  <a:ea typeface="+mn-ea"/>
                  <a:cs typeface="+mn-cs"/>
                </a:rPr>
                <a:t>Multi-asset benchmark baseline</a:t>
              </a:r>
            </a:p>
          </p:txBody>
        </p:sp>
        <p:sp>
          <p:nvSpPr>
            <p:cNvPr id="71" name="TextBox 71"/>
            <p:cNvSpPr txBox="1"/>
            <p:nvPr/>
          </p:nvSpPr>
          <p:spPr>
            <a:xfrm>
              <a:off x="719138" y="5880100"/>
              <a:ext cx="1972485" cy="161925"/>
            </a:xfrm>
            <a:prstGeom prst="rect">
              <a:avLst/>
            </a:prstGeom>
            <a:noFill/>
            <a:ln>
              <a:noFill/>
            </a:ln>
          </p:spPr>
          <p:txBody>
            <a:bodyPr wrap="none" lIns="0" tIns="0" rIns="0" bIns="0" anchor="t" anchorCtr="0">
              <a:spAutoFit/>
            </a:bodyPr>
            <a:lstStyle/>
            <a:p>
              <a:pPr marL="76200" indent="-76200" algn="l">
                <a:buClr>
                  <a:srgbClr val="64748B"/>
                </a:buClr>
                <a:buSzTx/>
                <a:buFontTx/>
                <a:buChar char="•"/>
              </a:pPr>
              <a:r>
                <a:rPr lang="en-US" sz="820" dirty="0">
                  <a:solidFill>
                    <a:srgbClr val="64748B"/>
                  </a:solidFill>
                  <a:latin typeface="+mn-lt"/>
                  <a:ea typeface="+mn-ea"/>
                  <a:cs typeface="+mn-cs"/>
                </a:rPr>
                <a:t>4 asset classes: Bonds, Eq, Loans, Deriv</a:t>
              </a:r>
            </a:p>
          </p:txBody>
        </p:sp>
      </p:grpSp>
      <p:grpSp>
        <p:nvGrpSpPr>
          <p:cNvPr id="78" name="kpi-drawdown"/>
          <p:cNvGrpSpPr/>
          <p:nvPr/>
        </p:nvGrpSpPr>
        <p:grpSpPr>
          <a:xfrm>
            <a:off x="3381375" y="4953000"/>
            <a:ext cx="2619375" cy="1285875"/>
            <a:chOff x="3381375" y="4953000"/>
            <a:chExt cx="2619375" cy="1285875"/>
          </a:xfrm>
        </p:grpSpPr>
        <p:sp>
          <p:nvSpPr>
            <p:cNvPr id="73" name="Rectangle 73"/>
            <p:cNvSpPr/>
            <p:nvPr/>
          </p:nvSpPr>
          <p:spPr>
            <a:xfrm>
              <a:off x="3381375" y="4953000"/>
              <a:ext cx="2619375" cy="1285875"/>
            </a:xfrm>
            <a:prstGeom prst="roundRect">
              <a:avLst>
                <a:gd name="adj" fmla="val 5926"/>
              </a:avLst>
            </a:prstGeom>
            <a:solidFill>
              <a:srgbClr val="FFFFFF"/>
            </a:solidFill>
            <a:ln w="9525">
              <a:solidFill>
                <a:schemeClr val="accent6"/>
              </a:solidFill>
            </a:ln>
          </p:spPr>
        </p:sp>
        <p:sp>
          <p:nvSpPr>
            <p:cNvPr id="74" name="TextBox 74"/>
            <p:cNvSpPr txBox="1"/>
            <p:nvPr/>
          </p:nvSpPr>
          <p:spPr>
            <a:xfrm>
              <a:off x="3529012" y="5099050"/>
              <a:ext cx="1947348" cy="161925"/>
            </a:xfrm>
            <a:prstGeom prst="rect">
              <a:avLst/>
            </a:prstGeom>
            <a:noFill/>
            <a:ln>
              <a:noFill/>
            </a:ln>
          </p:spPr>
          <p:txBody>
            <a:bodyPr wrap="none" lIns="0" tIns="0" rIns="0" bIns="0" anchor="t" anchorCtr="0">
              <a:spAutoFit/>
            </a:bodyPr>
            <a:lstStyle/>
            <a:p>
              <a:pPr algn="l"/>
              <a:r>
                <a:rPr lang="en-US" sz="820" b="1" spc="75" dirty="0">
                  <a:solidFill>
                    <a:schemeClr val="accent3"/>
                  </a:solidFill>
                  <a:latin typeface="+mn-lt"/>
                  <a:ea typeface="+mn-ea"/>
                  <a:cs typeface="+mn-cs"/>
                </a:rPr>
                <a:t>MAX UNHEDGED DRAWDOWN</a:t>
              </a:r>
            </a:p>
          </p:txBody>
        </p:sp>
        <p:sp>
          <p:nvSpPr>
            <p:cNvPr id="75" name="TextBox 75"/>
            <p:cNvSpPr txBox="1"/>
            <p:nvPr/>
          </p:nvSpPr>
          <p:spPr>
            <a:xfrm>
              <a:off x="3524631" y="5327650"/>
              <a:ext cx="1013098" cy="276999"/>
            </a:xfrm>
            <a:prstGeom prst="rect">
              <a:avLst/>
            </a:prstGeom>
            <a:noFill/>
            <a:ln>
              <a:noFill/>
            </a:ln>
          </p:spPr>
          <p:txBody>
            <a:bodyPr wrap="none" lIns="0" tIns="0" rIns="0" bIns="0" anchor="t" anchorCtr="0">
              <a:spAutoFit/>
            </a:bodyPr>
            <a:lstStyle/>
            <a:p>
              <a:pPr algn="l"/>
              <a:r>
                <a:rPr lang="en-US" sz="1800" b="1" dirty="0">
                  <a:solidFill>
                    <a:schemeClr val="accent3"/>
                  </a:solidFill>
                  <a:latin typeface="Consolas"/>
                  <a:ea typeface="Consolas"/>
                  <a:cs typeface="Consolas"/>
                </a:rPr>
                <a:t>-$</a:t>
              </a:r>
              <a:r>
                <a:rPr lang="en-US" b="1" dirty="0">
                  <a:solidFill>
                    <a:schemeClr val="accent3"/>
                  </a:solidFill>
                  <a:latin typeface="Consolas"/>
                  <a:ea typeface="Consolas"/>
                  <a:cs typeface="Consolas"/>
                </a:rPr>
                <a:t>55.44</a:t>
              </a:r>
              <a:r>
                <a:rPr lang="en-US" sz="1800" b="1" dirty="0">
                  <a:solidFill>
                    <a:schemeClr val="accent3"/>
                  </a:solidFill>
                  <a:latin typeface="Consolas"/>
                  <a:ea typeface="Consolas"/>
                  <a:cs typeface="Consolas"/>
                </a:rPr>
                <a:t>M</a:t>
              </a:r>
            </a:p>
          </p:txBody>
        </p:sp>
        <p:sp>
          <p:nvSpPr>
            <p:cNvPr id="76" name="TextBox 76"/>
            <p:cNvSpPr txBox="1"/>
            <p:nvPr/>
          </p:nvSpPr>
          <p:spPr>
            <a:xfrm>
              <a:off x="3529012" y="5689600"/>
              <a:ext cx="1678345" cy="126188"/>
            </a:xfrm>
            <a:prstGeom prst="rect">
              <a:avLst/>
            </a:prstGeom>
            <a:noFill/>
            <a:ln>
              <a:noFill/>
            </a:ln>
          </p:spPr>
          <p:txBody>
            <a:bodyPr wrap="none" lIns="0" tIns="0" rIns="0" bIns="0" anchor="t" anchorCtr="0">
              <a:spAutoFit/>
            </a:bodyPr>
            <a:lstStyle/>
            <a:p>
              <a:pPr marL="76200" indent="-76200" algn="l">
                <a:buClr>
                  <a:srgbClr val="334155"/>
                </a:buClr>
                <a:buSzTx/>
                <a:buFontTx/>
                <a:buChar char="•"/>
              </a:pPr>
              <a:r>
                <a:rPr lang="en-US" sz="820" dirty="0">
                  <a:solidFill>
                    <a:srgbClr val="334155"/>
                  </a:solidFill>
                  <a:latin typeface="+mn-lt"/>
                  <a:ea typeface="+mn-ea"/>
                  <a:cs typeface="+mn-cs"/>
                </a:rPr>
                <a:t>-</a:t>
              </a:r>
              <a:r>
                <a:rPr lang="en-US" sz="820" dirty="0">
                  <a:solidFill>
                    <a:srgbClr val="334155"/>
                  </a:solidFill>
                </a:rPr>
                <a:t>9</a:t>
              </a:r>
              <a:r>
                <a:rPr lang="en-US" sz="820" dirty="0">
                  <a:solidFill>
                    <a:srgbClr val="334155"/>
                  </a:solidFill>
                  <a:latin typeface="+mn-lt"/>
                  <a:ea typeface="+mn-ea"/>
                  <a:cs typeface="+mn-cs"/>
                </a:rPr>
                <a:t>.48% peak-to-trough capital loss</a:t>
              </a:r>
            </a:p>
          </p:txBody>
        </p:sp>
        <p:sp>
          <p:nvSpPr>
            <p:cNvPr id="77" name="TextBox 77"/>
            <p:cNvSpPr txBox="1"/>
            <p:nvPr/>
          </p:nvSpPr>
          <p:spPr>
            <a:xfrm>
              <a:off x="3529012" y="5880100"/>
              <a:ext cx="1796967" cy="126188"/>
            </a:xfrm>
            <a:prstGeom prst="rect">
              <a:avLst/>
            </a:prstGeom>
            <a:noFill/>
            <a:ln>
              <a:noFill/>
            </a:ln>
          </p:spPr>
          <p:txBody>
            <a:bodyPr wrap="none" lIns="0" tIns="0" rIns="0" bIns="0" anchor="t" anchorCtr="0">
              <a:spAutoFit/>
            </a:bodyPr>
            <a:lstStyle/>
            <a:p>
              <a:pPr marL="76200" indent="-76200" algn="l">
                <a:buClr>
                  <a:schemeClr val="accent3"/>
                </a:buClr>
                <a:buSzTx/>
                <a:buFontTx/>
                <a:buChar char="•"/>
              </a:pPr>
              <a:r>
                <a:rPr lang="en-US" sz="820" dirty="0">
                  <a:solidFill>
                    <a:schemeClr val="accent3"/>
                  </a:solidFill>
                  <a:latin typeface="+mn-lt"/>
                  <a:ea typeface="+mn-ea"/>
                  <a:cs typeface="+mn-cs"/>
                </a:rPr>
                <a:t>Trough portfolio valuation: $</a:t>
              </a:r>
              <a:r>
                <a:rPr lang="en-US" sz="820" dirty="0">
                  <a:solidFill>
                    <a:schemeClr val="accent3"/>
                  </a:solidFill>
                </a:rPr>
                <a:t>529.56</a:t>
              </a:r>
              <a:r>
                <a:rPr lang="en-US" sz="820" dirty="0">
                  <a:solidFill>
                    <a:schemeClr val="accent3"/>
                  </a:solidFill>
                  <a:latin typeface="+mn-lt"/>
                  <a:ea typeface="+mn-ea"/>
                  <a:cs typeface="+mn-cs"/>
                </a:rPr>
                <a:t>M</a:t>
              </a:r>
            </a:p>
          </p:txBody>
        </p:sp>
      </p:grpSp>
      <p:grpSp>
        <p:nvGrpSpPr>
          <p:cNvPr id="84" name="kpi-recovery"/>
          <p:cNvGrpSpPr/>
          <p:nvPr/>
        </p:nvGrpSpPr>
        <p:grpSpPr>
          <a:xfrm>
            <a:off x="6191250" y="4953000"/>
            <a:ext cx="2619375" cy="1285875"/>
            <a:chOff x="6191250" y="4953000"/>
            <a:chExt cx="2619375" cy="1285875"/>
          </a:xfrm>
        </p:grpSpPr>
        <p:sp>
          <p:nvSpPr>
            <p:cNvPr id="79" name="Rectangle 79"/>
            <p:cNvSpPr/>
            <p:nvPr/>
          </p:nvSpPr>
          <p:spPr>
            <a:xfrm>
              <a:off x="6191250" y="4953000"/>
              <a:ext cx="2619375" cy="1285875"/>
            </a:xfrm>
            <a:prstGeom prst="roundRect">
              <a:avLst>
                <a:gd name="adj" fmla="val 5926"/>
              </a:avLst>
            </a:prstGeom>
            <a:solidFill>
              <a:srgbClr val="FFFFFF"/>
            </a:solidFill>
            <a:ln w="9525">
              <a:solidFill>
                <a:schemeClr val="accent6"/>
              </a:solidFill>
            </a:ln>
          </p:spPr>
        </p:sp>
        <p:sp>
          <p:nvSpPr>
            <p:cNvPr id="80" name="TextBox 80"/>
            <p:cNvSpPr txBox="1"/>
            <p:nvPr/>
          </p:nvSpPr>
          <p:spPr>
            <a:xfrm>
              <a:off x="6338888" y="5099050"/>
              <a:ext cx="1673788" cy="161925"/>
            </a:xfrm>
            <a:prstGeom prst="rect">
              <a:avLst/>
            </a:prstGeom>
            <a:noFill/>
            <a:ln>
              <a:noFill/>
            </a:ln>
          </p:spPr>
          <p:txBody>
            <a:bodyPr wrap="none" lIns="0" tIns="0" rIns="0" bIns="0" anchor="t" anchorCtr="0">
              <a:spAutoFit/>
            </a:bodyPr>
            <a:lstStyle/>
            <a:p>
              <a:pPr algn="l"/>
              <a:r>
                <a:rPr lang="en-US" sz="820" b="1" spc="75" dirty="0">
                  <a:solidFill>
                    <a:schemeClr val="accent2"/>
                  </a:solidFill>
                  <a:latin typeface="+mn-lt"/>
                  <a:ea typeface="+mn-ea"/>
                  <a:cs typeface="+mn-cs"/>
                </a:rPr>
                <a:t>DEFENSIVE REBALANCING</a:t>
              </a:r>
            </a:p>
          </p:txBody>
        </p:sp>
        <p:sp>
          <p:nvSpPr>
            <p:cNvPr id="81" name="TextBox 81"/>
            <p:cNvSpPr txBox="1"/>
            <p:nvPr/>
          </p:nvSpPr>
          <p:spPr>
            <a:xfrm>
              <a:off x="6334506" y="5327650"/>
              <a:ext cx="1004011" cy="352044"/>
            </a:xfrm>
            <a:prstGeom prst="rect">
              <a:avLst/>
            </a:prstGeom>
            <a:noFill/>
            <a:ln>
              <a:noFill/>
            </a:ln>
          </p:spPr>
          <p:txBody>
            <a:bodyPr wrap="none" lIns="0" tIns="0" rIns="0" bIns="0" anchor="t" anchorCtr="0">
              <a:spAutoFit/>
            </a:bodyPr>
            <a:lstStyle/>
            <a:p>
              <a:pPr algn="l"/>
              <a:r>
                <a:rPr lang="en-US" sz="1800" b="1" dirty="0">
                  <a:solidFill>
                    <a:schemeClr val="accent2"/>
                  </a:solidFill>
                  <a:latin typeface="Consolas"/>
                  <a:ea typeface="Consolas"/>
                  <a:cs typeface="Consolas"/>
                </a:rPr>
                <a:t>+$29.5M</a:t>
              </a:r>
            </a:p>
          </p:txBody>
        </p:sp>
        <p:sp>
          <p:nvSpPr>
            <p:cNvPr id="82" name="TextBox 82"/>
            <p:cNvSpPr txBox="1"/>
            <p:nvPr/>
          </p:nvSpPr>
          <p:spPr>
            <a:xfrm>
              <a:off x="6338888" y="5689600"/>
              <a:ext cx="1806824" cy="161925"/>
            </a:xfrm>
            <a:prstGeom prst="rect">
              <a:avLst/>
            </a:prstGeom>
            <a:noFill/>
            <a:ln>
              <a:noFill/>
            </a:ln>
          </p:spPr>
          <p:txBody>
            <a:bodyPr wrap="none" lIns="0" tIns="0" rIns="0" bIns="0" anchor="t" anchorCtr="0">
              <a:spAutoFit/>
            </a:bodyPr>
            <a:lstStyle/>
            <a:p>
              <a:pPr marL="76200" indent="-76200" algn="l">
                <a:buClr>
                  <a:srgbClr val="334155"/>
                </a:buClr>
                <a:buSzTx/>
                <a:buFontTx/>
                <a:buChar char="•"/>
              </a:pPr>
              <a:r>
                <a:rPr lang="en-US" sz="820" dirty="0">
                  <a:solidFill>
                    <a:srgbClr val="334155"/>
                  </a:solidFill>
                  <a:latin typeface="+mn-lt"/>
                  <a:ea typeface="+mn-ea"/>
                  <a:cs typeface="+mn-cs"/>
                </a:rPr>
                <a:t>25.4% capital preservation recovery</a:t>
              </a:r>
            </a:p>
          </p:txBody>
        </p:sp>
        <p:sp>
          <p:nvSpPr>
            <p:cNvPr id="83" name="TextBox 83"/>
            <p:cNvSpPr txBox="1"/>
            <p:nvPr/>
          </p:nvSpPr>
          <p:spPr>
            <a:xfrm>
              <a:off x="6338888" y="5880100"/>
              <a:ext cx="2096613" cy="161925"/>
            </a:xfrm>
            <a:prstGeom prst="rect">
              <a:avLst/>
            </a:prstGeom>
            <a:noFill/>
            <a:ln>
              <a:noFill/>
            </a:ln>
          </p:spPr>
          <p:txBody>
            <a:bodyPr wrap="none" lIns="0" tIns="0" rIns="0" bIns="0" anchor="t" anchorCtr="0">
              <a:spAutoFit/>
            </a:bodyPr>
            <a:lstStyle/>
            <a:p>
              <a:pPr marL="76200" indent="-76200" algn="l">
                <a:buClr>
                  <a:schemeClr val="accent2"/>
                </a:buClr>
                <a:buSzTx/>
                <a:buFontTx/>
                <a:buChar char="•"/>
              </a:pPr>
              <a:r>
                <a:rPr lang="en-US" sz="820" dirty="0">
                  <a:solidFill>
                    <a:schemeClr val="accent2"/>
                  </a:solidFill>
                  <a:latin typeface="+mn-lt"/>
                  <a:ea typeface="+mn-ea"/>
                  <a:cs typeface="+mn-cs"/>
                </a:rPr>
                <a:t>Dynamic short overlays &amp; flight-to-safety</a:t>
              </a:r>
            </a:p>
          </p:txBody>
        </p:sp>
      </p:grpSp>
      <p:grpSp>
        <p:nvGrpSpPr>
          <p:cNvPr id="90" name="kpi-terminal"/>
          <p:cNvGrpSpPr/>
          <p:nvPr/>
        </p:nvGrpSpPr>
        <p:grpSpPr>
          <a:xfrm>
            <a:off x="9001125" y="4953000"/>
            <a:ext cx="2619375" cy="1285875"/>
            <a:chOff x="9001125" y="4953000"/>
            <a:chExt cx="2619375" cy="1285875"/>
          </a:xfrm>
        </p:grpSpPr>
        <p:sp>
          <p:nvSpPr>
            <p:cNvPr id="85" name="Rectangle 85"/>
            <p:cNvSpPr/>
            <p:nvPr/>
          </p:nvSpPr>
          <p:spPr>
            <a:xfrm>
              <a:off x="9001125" y="4953000"/>
              <a:ext cx="2619375" cy="1285875"/>
            </a:xfrm>
            <a:prstGeom prst="roundRect">
              <a:avLst>
                <a:gd name="adj" fmla="val 5926"/>
              </a:avLst>
            </a:prstGeom>
            <a:solidFill>
              <a:srgbClr val="FFFFFF"/>
            </a:solidFill>
            <a:ln w="9525">
              <a:solidFill>
                <a:schemeClr val="accent6"/>
              </a:solidFill>
            </a:ln>
          </p:spPr>
        </p:sp>
        <p:sp>
          <p:nvSpPr>
            <p:cNvPr id="86" name="TextBox 86"/>
            <p:cNvSpPr txBox="1"/>
            <p:nvPr/>
          </p:nvSpPr>
          <p:spPr>
            <a:xfrm>
              <a:off x="9148762" y="5099050"/>
              <a:ext cx="1792341" cy="161925"/>
            </a:xfrm>
            <a:prstGeom prst="rect">
              <a:avLst/>
            </a:prstGeom>
            <a:noFill/>
            <a:ln>
              <a:noFill/>
            </a:ln>
          </p:spPr>
          <p:txBody>
            <a:bodyPr wrap="none" lIns="0" tIns="0" rIns="0" bIns="0" anchor="t" anchorCtr="0">
              <a:spAutoFit/>
            </a:bodyPr>
            <a:lstStyle/>
            <a:p>
              <a:pPr algn="l"/>
              <a:r>
                <a:rPr lang="en-US" sz="820" b="1" spc="75" dirty="0">
                  <a:solidFill>
                    <a:srgbClr val="0284C7"/>
                  </a:solidFill>
                  <a:latin typeface="+mn-lt"/>
                  <a:ea typeface="+mn-ea"/>
                  <a:cs typeface="+mn-cs"/>
                </a:rPr>
                <a:t>TERMINAL STABILIZED NAV</a:t>
              </a:r>
            </a:p>
          </p:txBody>
        </p:sp>
        <p:sp>
          <p:nvSpPr>
            <p:cNvPr id="87" name="TextBox 87"/>
            <p:cNvSpPr txBox="1"/>
            <p:nvPr/>
          </p:nvSpPr>
          <p:spPr>
            <a:xfrm>
              <a:off x="9144381" y="5327650"/>
              <a:ext cx="1004011" cy="352044"/>
            </a:xfrm>
            <a:prstGeom prst="rect">
              <a:avLst/>
            </a:prstGeom>
            <a:noFill/>
            <a:ln>
              <a:noFill/>
            </a:ln>
          </p:spPr>
          <p:txBody>
            <a:bodyPr wrap="none" lIns="0" tIns="0" rIns="0" bIns="0" anchor="t" anchorCtr="0">
              <a:spAutoFit/>
            </a:bodyPr>
            <a:lstStyle/>
            <a:p>
              <a:pPr algn="l"/>
              <a:r>
                <a:rPr lang="en-US" sz="1800" b="1" dirty="0">
                  <a:solidFill>
                    <a:srgbClr val="0284C7"/>
                  </a:solidFill>
                  <a:latin typeface="Consolas"/>
                  <a:ea typeface="Consolas"/>
                  <a:cs typeface="Consolas"/>
                </a:rPr>
                <a:t>$498.4M</a:t>
              </a:r>
            </a:p>
          </p:txBody>
        </p:sp>
        <p:sp>
          <p:nvSpPr>
            <p:cNvPr id="88" name="TextBox 88"/>
            <p:cNvSpPr txBox="1"/>
            <p:nvPr/>
          </p:nvSpPr>
          <p:spPr>
            <a:xfrm>
              <a:off x="9148762" y="5689600"/>
              <a:ext cx="1412373" cy="161925"/>
            </a:xfrm>
            <a:prstGeom prst="rect">
              <a:avLst/>
            </a:prstGeom>
            <a:noFill/>
            <a:ln>
              <a:noFill/>
            </a:ln>
          </p:spPr>
          <p:txBody>
            <a:bodyPr wrap="none" lIns="0" tIns="0" rIns="0" bIns="0" anchor="t" anchorCtr="0">
              <a:spAutoFit/>
            </a:bodyPr>
            <a:lstStyle/>
            <a:p>
              <a:pPr marL="76200" indent="-76200" algn="l">
                <a:buClr>
                  <a:srgbClr val="334155"/>
                </a:buClr>
                <a:buSzTx/>
                <a:buFontTx/>
                <a:buChar char="•"/>
              </a:pPr>
              <a:r>
                <a:rPr lang="en-US" sz="820" dirty="0">
                  <a:solidFill>
                    <a:srgbClr val="334155"/>
                  </a:solidFill>
                  <a:latin typeface="+mn-lt"/>
                  <a:ea typeface="+mn-ea"/>
                  <a:cs typeface="+mn-cs"/>
                </a:rPr>
                <a:t>85.2% total capital retained</a:t>
              </a:r>
            </a:p>
          </p:txBody>
        </p:sp>
        <p:sp>
          <p:nvSpPr>
            <p:cNvPr id="89" name="TextBox 89"/>
            <p:cNvSpPr txBox="1"/>
            <p:nvPr/>
          </p:nvSpPr>
          <p:spPr>
            <a:xfrm>
              <a:off x="9148762" y="5880100"/>
              <a:ext cx="1900839" cy="161925"/>
            </a:xfrm>
            <a:prstGeom prst="rect">
              <a:avLst/>
            </a:prstGeom>
            <a:noFill/>
            <a:ln>
              <a:noFill/>
            </a:ln>
          </p:spPr>
          <p:txBody>
            <a:bodyPr wrap="none" lIns="0" tIns="0" rIns="0" bIns="0" anchor="t" anchorCtr="0">
              <a:spAutoFit/>
            </a:bodyPr>
            <a:lstStyle/>
            <a:p>
              <a:pPr marL="76200" indent="-76200" algn="l">
                <a:buClr>
                  <a:srgbClr val="047857"/>
                </a:buClr>
                <a:buSzTx/>
                <a:buFontTx/>
                <a:buChar char="•"/>
              </a:pPr>
              <a:r>
                <a:rPr lang="en-US" sz="820" dirty="0">
                  <a:solidFill>
                    <a:srgbClr val="047857"/>
                  </a:solidFill>
                  <a:latin typeface="+mn-lt"/>
                  <a:ea typeface="+mn-ea"/>
                  <a:cs typeface="+mn-cs"/>
                </a:rPr>
                <a:t>VaR(99): $42.6M | CVaR(99): $58.1M</a:t>
              </a:r>
            </a:p>
          </p:txBody>
        </p:sp>
      </p:grpSp>
      <p:grpSp>
        <p:nvGrpSpPr>
          <p:cNvPr id="94" name="footer"/>
          <p:cNvGrpSpPr/>
          <p:nvPr/>
        </p:nvGrpSpPr>
        <p:grpSpPr>
          <a:xfrm>
            <a:off x="566738" y="6381750"/>
            <a:ext cx="11058525" cy="288925"/>
            <a:chOff x="566738" y="6381750"/>
            <a:chExt cx="11058525" cy="288925"/>
          </a:xfrm>
        </p:grpSpPr>
        <p:sp>
          <p:nvSpPr>
            <p:cNvPr id="91" name="Line 91"/>
            <p:cNvSpPr/>
            <p:nvPr/>
          </p:nvSpPr>
          <p:spPr>
            <a:xfrm>
              <a:off x="571500" y="6381750"/>
              <a:ext cx="11049000" cy="9525"/>
            </a:xfrm>
            <a:custGeom>
              <a:avLst/>
              <a:gdLst/>
              <a:ahLst/>
              <a:cxnLst/>
              <a:rect l="l" t="t" r="r" b="b"/>
              <a:pathLst>
                <a:path w="11049000" h="9525">
                  <a:moveTo>
                    <a:pt x="0" y="0"/>
                  </a:moveTo>
                  <a:lnTo>
                    <a:pt x="11049000" y="0"/>
                  </a:lnTo>
                </a:path>
              </a:pathLst>
            </a:custGeom>
            <a:noFill/>
            <a:ln w="9525">
              <a:solidFill>
                <a:srgbClr val="E2E8F0"/>
              </a:solidFill>
            </a:ln>
          </p:spPr>
        </p:sp>
        <p:sp>
          <p:nvSpPr>
            <p:cNvPr id="92" name="TextBox 92"/>
            <p:cNvSpPr txBox="1"/>
            <p:nvPr/>
          </p:nvSpPr>
          <p:spPr>
            <a:xfrm>
              <a:off x="566738" y="6508750"/>
              <a:ext cx="3866403" cy="161925"/>
            </a:xfrm>
            <a:prstGeom prst="rect">
              <a:avLst/>
            </a:prstGeom>
            <a:noFill/>
            <a:ln>
              <a:noFill/>
            </a:ln>
          </p:spPr>
          <p:txBody>
            <a:bodyPr wrap="none" lIns="0" tIns="0" rIns="0" bIns="0" anchor="t" anchorCtr="0">
              <a:spAutoFit/>
            </a:bodyPr>
            <a:lstStyle/>
            <a:p>
              <a:pPr algn="l"/>
              <a:r>
                <a:rPr lang="en-US" sz="820" dirty="0">
                  <a:solidFill>
                    <a:srgbClr val="64748B"/>
                  </a:solidFill>
                  <a:latin typeface="+mn-lt"/>
                  <a:ea typeface="+mn-ea"/>
                  <a:cs typeface="+mn-cs"/>
                </a:rPr>
                <a:t>S&amp;P Global &amp; CRISIL Campus Hackathon 2026 | Candidate: Mritunjay Senapati</a:t>
              </a:r>
            </a:p>
          </p:txBody>
        </p:sp>
        <p:sp>
          <p:nvSpPr>
            <p:cNvPr id="93" name="TextBox 93"/>
            <p:cNvSpPr txBox="1"/>
            <p:nvPr/>
          </p:nvSpPr>
          <p:spPr>
            <a:xfrm>
              <a:off x="8514605" y="6508750"/>
              <a:ext cx="3110658" cy="161925"/>
            </a:xfrm>
            <a:prstGeom prst="rect">
              <a:avLst/>
            </a:prstGeom>
            <a:noFill/>
            <a:ln>
              <a:noFill/>
            </a:ln>
          </p:spPr>
          <p:txBody>
            <a:bodyPr wrap="none" lIns="0" tIns="0" rIns="0" bIns="0" anchor="t" anchorCtr="0">
              <a:spAutoFit/>
            </a:bodyPr>
            <a:lstStyle/>
            <a:p>
              <a:pPr algn="r"/>
              <a:r>
                <a:rPr lang="en-US" sz="820" dirty="0">
                  <a:solidFill>
                    <a:srgbClr val="64748B"/>
                  </a:solidFill>
                  <a:latin typeface="+mn-lt"/>
                  <a:ea typeface="+mn-ea"/>
                  <a:cs typeface="+mn-cs"/>
                </a:rPr>
                <a:t>Module B: Empirical Portfolio Stress Testing &amp; Waterfall Results</a:t>
              </a:r>
            </a:p>
          </p:txBody>
        </p:sp>
      </p:gr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header"/>
          <p:cNvGrpSpPr/>
          <p:nvPr/>
        </p:nvGrpSpPr>
        <p:grpSpPr>
          <a:xfrm>
            <a:off x="566738" y="355600"/>
            <a:ext cx="11058524" cy="206375"/>
            <a:chOff x="566738" y="355600"/>
            <a:chExt cx="11058524" cy="206375"/>
          </a:xfrm>
        </p:grpSpPr>
        <p:sp>
          <p:nvSpPr>
            <p:cNvPr id="2" name="TextBox 2"/>
            <p:cNvSpPr txBox="1"/>
            <p:nvPr/>
          </p:nvSpPr>
          <p:spPr>
            <a:xfrm>
              <a:off x="566738" y="355600"/>
              <a:ext cx="5192747" cy="161925"/>
            </a:xfrm>
            <a:prstGeom prst="rect">
              <a:avLst/>
            </a:prstGeom>
            <a:noFill/>
            <a:ln>
              <a:noFill/>
            </a:ln>
          </p:spPr>
          <p:txBody>
            <a:bodyPr wrap="none" lIns="0" tIns="0" rIns="0" bIns="0" anchor="t" anchorCtr="0">
              <a:spAutoFit/>
            </a:bodyPr>
            <a:lstStyle/>
            <a:p>
              <a:pPr algn="l"/>
              <a:r>
                <a:rPr lang="en-US" sz="820" b="1" spc="112" dirty="0">
                  <a:solidFill>
                    <a:schemeClr val="accent1"/>
                  </a:solidFill>
                  <a:latin typeface="+mn-lt"/>
                  <a:ea typeface="+mn-ea"/>
                  <a:cs typeface="+mn-cs"/>
                </a:rPr>
                <a:t>S&amp;P GLOBAL &amp; CRISIL CAMPUS HACKATHON | MODULE B: STRESS TESTING</a:t>
              </a:r>
            </a:p>
          </p:txBody>
        </p:sp>
        <p:sp>
          <p:nvSpPr>
            <p:cNvPr id="3" name="TextBox 3"/>
            <p:cNvSpPr txBox="1"/>
            <p:nvPr/>
          </p:nvSpPr>
          <p:spPr>
            <a:xfrm>
              <a:off x="10889090" y="355600"/>
              <a:ext cx="736172" cy="161925"/>
            </a:xfrm>
            <a:prstGeom prst="rect">
              <a:avLst/>
            </a:prstGeom>
            <a:noFill/>
            <a:ln>
              <a:noFill/>
            </a:ln>
          </p:spPr>
          <p:txBody>
            <a:bodyPr wrap="none" lIns="0" tIns="0" rIns="0" bIns="0" anchor="t" anchorCtr="0">
              <a:spAutoFit/>
            </a:bodyPr>
            <a:lstStyle/>
            <a:p>
              <a:pPr algn="r"/>
              <a:r>
                <a:rPr lang="en-US" sz="820" b="1" dirty="0">
                  <a:solidFill>
                    <a:srgbClr val="64748B"/>
                  </a:solidFill>
                  <a:latin typeface="+mn-lt"/>
                  <a:ea typeface="+mn-ea"/>
                  <a:cs typeface="+mn-cs"/>
                </a:rPr>
                <a:t>SLIDE 06 / 07</a:t>
              </a:r>
            </a:p>
          </p:txBody>
        </p:sp>
        <p:sp>
          <p:nvSpPr>
            <p:cNvPr id="4" name="Line 4"/>
            <p:cNvSpPr/>
            <p:nvPr/>
          </p:nvSpPr>
          <p:spPr>
            <a:xfrm>
              <a:off x="571500" y="552450"/>
              <a:ext cx="11049000" cy="9525"/>
            </a:xfrm>
            <a:custGeom>
              <a:avLst/>
              <a:gdLst/>
              <a:ahLst/>
              <a:cxnLst/>
              <a:rect l="l" t="t" r="r" b="b"/>
              <a:pathLst>
                <a:path w="11049000" h="9525">
                  <a:moveTo>
                    <a:pt x="0" y="0"/>
                  </a:moveTo>
                  <a:lnTo>
                    <a:pt x="11049000" y="0"/>
                  </a:lnTo>
                </a:path>
              </a:pathLst>
            </a:custGeom>
            <a:noFill/>
            <a:ln w="9525">
              <a:solidFill>
                <a:srgbClr val="E2E8F0"/>
              </a:solidFill>
            </a:ln>
          </p:spPr>
        </p:sp>
      </p:grpSp>
      <p:grpSp>
        <p:nvGrpSpPr>
          <p:cNvPr id="8" name="title-block"/>
          <p:cNvGrpSpPr/>
          <p:nvPr/>
        </p:nvGrpSpPr>
        <p:grpSpPr>
          <a:xfrm>
            <a:off x="559308" y="641350"/>
            <a:ext cx="6151271" cy="599059"/>
            <a:chOff x="559308" y="641350"/>
            <a:chExt cx="6151271" cy="599059"/>
          </a:xfrm>
        </p:grpSpPr>
        <p:sp>
          <p:nvSpPr>
            <p:cNvPr id="6" name="TextBox 6"/>
            <p:cNvSpPr txBox="1"/>
            <p:nvPr/>
          </p:nvSpPr>
          <p:spPr>
            <a:xfrm>
              <a:off x="559308" y="641350"/>
              <a:ext cx="6151271" cy="469392"/>
            </a:xfrm>
            <a:prstGeom prst="rect">
              <a:avLst/>
            </a:prstGeom>
            <a:noFill/>
            <a:ln>
              <a:noFill/>
            </a:ln>
          </p:spPr>
          <p:txBody>
            <a:bodyPr wrap="none" lIns="0" tIns="0" rIns="0" bIns="0" anchor="t" anchorCtr="0">
              <a:spAutoFit/>
            </a:bodyPr>
            <a:lstStyle/>
            <a:p>
              <a:pPr algn="l"/>
              <a:r>
                <a:rPr lang="en-US" sz="2400" b="1" dirty="0">
                  <a:solidFill>
                    <a:schemeClr val="dk1"/>
                  </a:solidFill>
                  <a:latin typeface="+mn-lt"/>
                  <a:ea typeface="+mn-ea"/>
                  <a:cs typeface="+mn-cs"/>
                </a:rPr>
                <a:t>Domain Impact &amp; Institutional Personas</a:t>
              </a:r>
            </a:p>
          </p:txBody>
        </p:sp>
        <p:sp>
          <p:nvSpPr>
            <p:cNvPr id="7" name="TextBox 7"/>
            <p:cNvSpPr txBox="1"/>
            <p:nvPr/>
          </p:nvSpPr>
          <p:spPr>
            <a:xfrm>
              <a:off x="566166" y="1035050"/>
              <a:ext cx="5952959" cy="205359"/>
            </a:xfrm>
            <a:prstGeom prst="rect">
              <a:avLst/>
            </a:prstGeom>
            <a:noFill/>
            <a:ln>
              <a:noFill/>
            </a:ln>
          </p:spPr>
          <p:txBody>
            <a:bodyPr wrap="none" lIns="0" tIns="0" rIns="0" bIns="0" anchor="t" anchorCtr="0">
              <a:spAutoFit/>
            </a:bodyPr>
            <a:lstStyle/>
            <a:p>
              <a:pPr algn="l"/>
              <a:r>
                <a:rPr lang="en-US" sz="1050" dirty="0">
                  <a:solidFill>
                    <a:schemeClr val="accent5"/>
                  </a:solidFill>
                  <a:latin typeface="+mn-lt"/>
                  <a:ea typeface="+mn-ea"/>
                  <a:cs typeface="+mn-cs"/>
                </a:rPr>
                <a:t>Delivering Strategic Value Across Credit Surveillance, Asset Management &amp; Corporate Treasury</a:t>
              </a:r>
            </a:p>
          </p:txBody>
        </p:sp>
      </p:grpSp>
      <p:grpSp>
        <p:nvGrpSpPr>
          <p:cNvPr id="27" name="col-rating-agencies"/>
          <p:cNvGrpSpPr/>
          <p:nvPr/>
        </p:nvGrpSpPr>
        <p:grpSpPr>
          <a:xfrm>
            <a:off x="571500" y="1333500"/>
            <a:ext cx="3486150" cy="4933950"/>
            <a:chOff x="571500" y="1333500"/>
            <a:chExt cx="3486150" cy="4933950"/>
          </a:xfrm>
        </p:grpSpPr>
        <p:sp>
          <p:nvSpPr>
            <p:cNvPr id="9" name="Rectangle 9"/>
            <p:cNvSpPr/>
            <p:nvPr/>
          </p:nvSpPr>
          <p:spPr>
            <a:xfrm>
              <a:off x="571500" y="1333500"/>
              <a:ext cx="3486150" cy="4933950"/>
            </a:xfrm>
            <a:prstGeom prst="roundRect">
              <a:avLst>
                <a:gd name="adj" fmla="val 2186"/>
              </a:avLst>
            </a:prstGeom>
            <a:solidFill>
              <a:srgbClr val="FFFFFF"/>
            </a:solidFill>
            <a:ln w="9525">
              <a:solidFill>
                <a:schemeClr val="accent6"/>
              </a:solidFill>
            </a:ln>
          </p:spPr>
        </p:sp>
        <p:sp>
          <p:nvSpPr>
            <p:cNvPr id="10" name="Freeform 10"/>
            <p:cNvSpPr/>
            <p:nvPr/>
          </p:nvSpPr>
          <p:spPr>
            <a:xfrm>
              <a:off x="571500" y="1333500"/>
              <a:ext cx="3486150" cy="400050"/>
            </a:xfrm>
            <a:custGeom>
              <a:avLst/>
              <a:gdLst/>
              <a:ahLst/>
              <a:cxnLst/>
              <a:rect l="l" t="t" r="r" b="b"/>
              <a:pathLst>
                <a:path w="3486150" h="400050">
                  <a:moveTo>
                    <a:pt x="0" y="76200"/>
                  </a:moveTo>
                  <a:cubicBezTo>
                    <a:pt x="0" y="25400"/>
                    <a:pt x="25400" y="0"/>
                    <a:pt x="76200" y="0"/>
                  </a:cubicBezTo>
                  <a:lnTo>
                    <a:pt x="3409950" y="0"/>
                  </a:lnTo>
                  <a:cubicBezTo>
                    <a:pt x="3460750" y="0"/>
                    <a:pt x="3486150" y="25400"/>
                    <a:pt x="3486150" y="76200"/>
                  </a:cubicBezTo>
                  <a:lnTo>
                    <a:pt x="3486150" y="400050"/>
                  </a:lnTo>
                  <a:lnTo>
                    <a:pt x="0" y="400050"/>
                  </a:lnTo>
                  <a:close/>
                </a:path>
              </a:pathLst>
            </a:custGeom>
            <a:solidFill>
              <a:srgbClr val="EFF6FF"/>
            </a:solidFill>
            <a:ln>
              <a:noFill/>
            </a:ln>
          </p:spPr>
        </p:sp>
        <p:sp>
          <p:nvSpPr>
            <p:cNvPr id="11" name="TextBox 11"/>
            <p:cNvSpPr txBox="1"/>
            <p:nvPr/>
          </p:nvSpPr>
          <p:spPr>
            <a:xfrm>
              <a:off x="757238" y="1457325"/>
              <a:ext cx="1837632" cy="176212"/>
            </a:xfrm>
            <a:prstGeom prst="rect">
              <a:avLst/>
            </a:prstGeom>
            <a:noFill/>
            <a:ln>
              <a:noFill/>
            </a:ln>
          </p:spPr>
          <p:txBody>
            <a:bodyPr wrap="none" lIns="0" tIns="0" rIns="0" bIns="0" anchor="t" anchorCtr="0">
              <a:spAutoFit/>
            </a:bodyPr>
            <a:lstStyle/>
            <a:p>
              <a:pPr algn="l"/>
              <a:r>
                <a:rPr lang="en-US" sz="900" b="1" spc="75" dirty="0">
                  <a:solidFill>
                    <a:schemeClr val="accent1"/>
                  </a:solidFill>
                  <a:latin typeface="+mn-lt"/>
                  <a:ea typeface="+mn-ea"/>
                  <a:cs typeface="+mn-cs"/>
                </a:rPr>
                <a:t>CREDIT RATING AGENCIES</a:t>
              </a:r>
            </a:p>
          </p:txBody>
        </p:sp>
        <p:sp>
          <p:nvSpPr>
            <p:cNvPr id="12" name="TextBox 12"/>
            <p:cNvSpPr txBox="1"/>
            <p:nvPr/>
          </p:nvSpPr>
          <p:spPr>
            <a:xfrm>
              <a:off x="757238" y="1597025"/>
              <a:ext cx="1808667" cy="147638"/>
            </a:xfrm>
            <a:prstGeom prst="rect">
              <a:avLst/>
            </a:prstGeom>
            <a:noFill/>
            <a:ln>
              <a:noFill/>
            </a:ln>
          </p:spPr>
          <p:txBody>
            <a:bodyPr wrap="none" lIns="0" tIns="0" rIns="0" bIns="0" anchor="t" anchorCtr="0">
              <a:spAutoFit/>
            </a:bodyPr>
            <a:lstStyle/>
            <a:p>
              <a:pPr algn="l"/>
              <a:r>
                <a:rPr lang="en-US" sz="750" dirty="0">
                  <a:solidFill>
                    <a:srgbClr val="2563EB"/>
                  </a:solidFill>
                  <a:latin typeface="+mn-lt"/>
                  <a:ea typeface="+mn-ea"/>
                  <a:cs typeface="+mn-cs"/>
                </a:rPr>
                <a:t>CRISIL &amp; S&amp;P Global Surveillance Desks</a:t>
              </a:r>
            </a:p>
          </p:txBody>
        </p:sp>
        <p:sp>
          <p:nvSpPr>
            <p:cNvPr id="13" name="Rectangle 13"/>
            <p:cNvSpPr/>
            <p:nvPr/>
          </p:nvSpPr>
          <p:spPr>
            <a:xfrm>
              <a:off x="723900" y="1866900"/>
              <a:ext cx="3181350" cy="914400"/>
            </a:xfrm>
            <a:prstGeom prst="roundRect">
              <a:avLst>
                <a:gd name="adj" fmla="val 6250"/>
              </a:avLst>
            </a:prstGeom>
            <a:solidFill>
              <a:schemeClr val="lt1"/>
            </a:solidFill>
            <a:ln w="9525">
              <a:solidFill>
                <a:srgbClr val="E2E8F0"/>
              </a:solidFill>
            </a:ln>
          </p:spPr>
        </p:sp>
        <p:sp>
          <p:nvSpPr>
            <p:cNvPr id="14" name="TextBox 14"/>
            <p:cNvSpPr txBox="1"/>
            <p:nvPr/>
          </p:nvSpPr>
          <p:spPr>
            <a:xfrm>
              <a:off x="833438" y="1962150"/>
              <a:ext cx="2104039" cy="176212"/>
            </a:xfrm>
            <a:prstGeom prst="rect">
              <a:avLst/>
            </a:prstGeom>
            <a:noFill/>
            <a:ln>
              <a:noFill/>
            </a:ln>
          </p:spPr>
          <p:txBody>
            <a:bodyPr wrap="none" lIns="0" tIns="0" rIns="0" bIns="0" anchor="t" anchorCtr="0">
              <a:spAutoFit/>
            </a:bodyPr>
            <a:lstStyle/>
            <a:p>
              <a:pPr algn="l"/>
              <a:r>
                <a:rPr lang="en-US" sz="900" b="1" dirty="0">
                  <a:solidFill>
                    <a:schemeClr val="accent1"/>
                  </a:solidFill>
                  <a:latin typeface="+mn-lt"/>
                  <a:ea typeface="+mn-ea"/>
                  <a:cs typeface="+mn-cs"/>
                </a:rPr>
                <a:t>Sub-15 Min Downgrade Surveillance</a:t>
              </a:r>
            </a:p>
          </p:txBody>
        </p:sp>
        <p:sp>
          <p:nvSpPr>
            <p:cNvPr id="15" name="TextBox 15"/>
            <p:cNvSpPr txBox="1"/>
            <p:nvPr/>
          </p:nvSpPr>
          <p:spPr>
            <a:xfrm>
              <a:off x="833438" y="2152650"/>
              <a:ext cx="2517070" cy="466725"/>
            </a:xfrm>
            <a:prstGeom prst="rect">
              <a:avLst/>
            </a:prstGeom>
            <a:noFill/>
            <a:ln>
              <a:noFill/>
            </a:ln>
          </p:spPr>
          <p:txBody>
            <a:bodyPr wrap="none" lIns="0" tIns="0" rIns="0" bIns="0" anchor="t" anchorCtr="0">
              <a:spAutoFit/>
            </a:bodyPr>
            <a:lstStyle/>
            <a:p>
              <a:pPr algn="l">
                <a:lnSpc>
                  <a:spcPts val="1200"/>
                </a:lnSpc>
              </a:pPr>
              <a:r>
                <a:rPr lang="en-US" sz="820" dirty="0">
                  <a:solidFill>
                    <a:srgbClr val="334155"/>
                  </a:solidFill>
                  <a:latin typeface="+mn-lt"/>
                  <a:ea typeface="+mn-ea"/>
                  <a:cs typeface="+mn-cs"/>
                </a:rPr>
                <a:t>Replaces 48-hour retrospective report latency with</a:t>
              </a:r>
              <a:br>
                <a:rPr lang="en-US" sz="820" dirty="0">
                  <a:solidFill>
                    <a:srgbClr val="334155"/>
                  </a:solidFill>
                  <a:latin typeface="+mn-lt"/>
                  <a:ea typeface="+mn-ea"/>
                  <a:cs typeface="+mn-cs"/>
                </a:rPr>
              </a:br>
              <a:r>
                <a:rPr lang="en-US" sz="820" dirty="0">
                  <a:solidFill>
                    <a:srgbClr val="334155"/>
                  </a:solidFill>
                  <a:latin typeface="+mn-lt"/>
                  <a:ea typeface="+mn-ea"/>
                  <a:cs typeface="+mn-cs"/>
                </a:rPr>
                <a:t>continuous automated sentiment monitoring across</a:t>
              </a:r>
              <a:br>
                <a:rPr lang="en-US" sz="820" dirty="0">
                  <a:solidFill>
                    <a:srgbClr val="334155"/>
                  </a:solidFill>
                  <a:latin typeface="+mn-lt"/>
                  <a:ea typeface="+mn-ea"/>
                  <a:cs typeface="+mn-cs"/>
                </a:rPr>
              </a:br>
              <a:r>
                <a:rPr lang="en-US" sz="820" dirty="0">
                  <a:solidFill>
                    <a:srgbClr val="334155"/>
                  </a:solidFill>
                  <a:latin typeface="+mn-lt"/>
                  <a:ea typeface="+mn-ea"/>
                  <a:cs typeface="+mn-cs"/>
                </a:rPr>
                <a:t>10-K filings, news wire feeds, and litigation disclosures.</a:t>
              </a:r>
            </a:p>
          </p:txBody>
        </p:sp>
        <p:sp>
          <p:nvSpPr>
            <p:cNvPr id="16" name="Rectangle 16"/>
            <p:cNvSpPr/>
            <p:nvPr/>
          </p:nvSpPr>
          <p:spPr>
            <a:xfrm>
              <a:off x="723900" y="2895600"/>
              <a:ext cx="3181350" cy="914400"/>
            </a:xfrm>
            <a:prstGeom prst="roundRect">
              <a:avLst>
                <a:gd name="adj" fmla="val 6250"/>
              </a:avLst>
            </a:prstGeom>
            <a:solidFill>
              <a:schemeClr val="lt1"/>
            </a:solidFill>
            <a:ln w="9525">
              <a:solidFill>
                <a:srgbClr val="E2E8F0"/>
              </a:solidFill>
            </a:ln>
          </p:spPr>
        </p:sp>
        <p:sp>
          <p:nvSpPr>
            <p:cNvPr id="17" name="TextBox 17"/>
            <p:cNvSpPr txBox="1"/>
            <p:nvPr/>
          </p:nvSpPr>
          <p:spPr>
            <a:xfrm>
              <a:off x="833438" y="2990850"/>
              <a:ext cx="1986678" cy="176212"/>
            </a:xfrm>
            <a:prstGeom prst="rect">
              <a:avLst/>
            </a:prstGeom>
            <a:noFill/>
            <a:ln>
              <a:noFill/>
            </a:ln>
          </p:spPr>
          <p:txBody>
            <a:bodyPr wrap="none" lIns="0" tIns="0" rIns="0" bIns="0" anchor="t" anchorCtr="0">
              <a:spAutoFit/>
            </a:bodyPr>
            <a:lstStyle/>
            <a:p>
              <a:pPr algn="l"/>
              <a:r>
                <a:rPr lang="en-US" sz="900" b="1" dirty="0">
                  <a:solidFill>
                    <a:schemeClr val="accent1"/>
                  </a:solidFill>
                  <a:latin typeface="+mn-lt"/>
                  <a:ea typeface="+mn-ea"/>
                  <a:cs typeface="+mn-cs"/>
                </a:rPr>
                <a:t>CreditWatch Outlook Pre-Emption</a:t>
              </a:r>
            </a:p>
          </p:txBody>
        </p:sp>
        <p:sp>
          <p:nvSpPr>
            <p:cNvPr id="18" name="TextBox 18"/>
            <p:cNvSpPr txBox="1"/>
            <p:nvPr/>
          </p:nvSpPr>
          <p:spPr>
            <a:xfrm>
              <a:off x="833438" y="3181350"/>
              <a:ext cx="2411379" cy="466725"/>
            </a:xfrm>
            <a:prstGeom prst="rect">
              <a:avLst/>
            </a:prstGeom>
            <a:noFill/>
            <a:ln>
              <a:noFill/>
            </a:ln>
          </p:spPr>
          <p:txBody>
            <a:bodyPr wrap="none" lIns="0" tIns="0" rIns="0" bIns="0" anchor="t" anchorCtr="0">
              <a:spAutoFit/>
            </a:bodyPr>
            <a:lstStyle/>
            <a:p>
              <a:pPr algn="l">
                <a:lnSpc>
                  <a:spcPts val="1200"/>
                </a:lnSpc>
              </a:pPr>
              <a:r>
                <a:rPr lang="en-US" sz="820" dirty="0">
                  <a:solidFill>
                    <a:srgbClr val="334155"/>
                  </a:solidFill>
                  <a:latin typeface="+mn-lt"/>
                  <a:ea typeface="+mn-ea"/>
                  <a:cs typeface="+mn-cs"/>
                </a:rPr>
                <a:t>Detects early credit deterioration and supplier stress</a:t>
              </a:r>
              <a:br>
                <a:rPr lang="en-US" sz="820" dirty="0">
                  <a:solidFill>
                    <a:srgbClr val="334155"/>
                  </a:solidFill>
                  <a:latin typeface="+mn-lt"/>
                  <a:ea typeface="+mn-ea"/>
                  <a:cs typeface="+mn-cs"/>
                </a:rPr>
              </a:br>
              <a:r>
                <a:rPr lang="en-US" sz="820" dirty="0">
                  <a:solidFill>
                    <a:srgbClr val="334155"/>
                  </a:solidFill>
                  <a:latin typeface="+mn-lt"/>
                  <a:ea typeface="+mn-ea"/>
                  <a:cs typeface="+mn-cs"/>
                </a:rPr>
                <a:t>weeks before official bond covenant breaches occur,</a:t>
              </a:r>
              <a:br>
                <a:rPr lang="en-US" sz="820" dirty="0">
                  <a:solidFill>
                    <a:srgbClr val="334155"/>
                  </a:solidFill>
                  <a:latin typeface="+mn-lt"/>
                  <a:ea typeface="+mn-ea"/>
                  <a:cs typeface="+mn-cs"/>
                </a:rPr>
              </a:br>
              <a:r>
                <a:rPr lang="en-US" sz="820" dirty="0">
                  <a:solidFill>
                    <a:srgbClr val="334155"/>
                  </a:solidFill>
                  <a:latin typeface="+mn-lt"/>
                  <a:ea typeface="+mn-ea"/>
                  <a:cs typeface="+mn-cs"/>
                </a:rPr>
                <a:t>supporting preemptive CreditWatch placement.</a:t>
              </a:r>
            </a:p>
          </p:txBody>
        </p:sp>
        <p:sp>
          <p:nvSpPr>
            <p:cNvPr id="19" name="Rectangle 19"/>
            <p:cNvSpPr/>
            <p:nvPr/>
          </p:nvSpPr>
          <p:spPr>
            <a:xfrm>
              <a:off x="723900" y="3924300"/>
              <a:ext cx="3181350" cy="914400"/>
            </a:xfrm>
            <a:prstGeom prst="roundRect">
              <a:avLst>
                <a:gd name="adj" fmla="val 6250"/>
              </a:avLst>
            </a:prstGeom>
            <a:solidFill>
              <a:schemeClr val="lt1"/>
            </a:solidFill>
            <a:ln w="9525">
              <a:solidFill>
                <a:srgbClr val="E2E8F0"/>
              </a:solidFill>
            </a:ln>
          </p:spPr>
        </p:sp>
        <p:sp>
          <p:nvSpPr>
            <p:cNvPr id="20" name="TextBox 20"/>
            <p:cNvSpPr txBox="1"/>
            <p:nvPr/>
          </p:nvSpPr>
          <p:spPr>
            <a:xfrm>
              <a:off x="833438" y="4019550"/>
              <a:ext cx="1972132" cy="176212"/>
            </a:xfrm>
            <a:prstGeom prst="rect">
              <a:avLst/>
            </a:prstGeom>
            <a:noFill/>
            <a:ln>
              <a:noFill/>
            </a:ln>
          </p:spPr>
          <p:txBody>
            <a:bodyPr wrap="none" lIns="0" tIns="0" rIns="0" bIns="0" anchor="t" anchorCtr="0">
              <a:spAutoFit/>
            </a:bodyPr>
            <a:lstStyle/>
            <a:p>
              <a:pPr algn="l"/>
              <a:r>
                <a:rPr lang="en-US" sz="900" b="1" dirty="0">
                  <a:solidFill>
                    <a:schemeClr val="accent1"/>
                  </a:solidFill>
                  <a:latin typeface="+mn-lt"/>
                  <a:ea typeface="+mn-ea"/>
                  <a:cs typeface="+mn-cs"/>
                </a:rPr>
                <a:t>Audit-Proof Methodology Tracing</a:t>
              </a:r>
            </a:p>
          </p:txBody>
        </p:sp>
        <p:sp>
          <p:nvSpPr>
            <p:cNvPr id="21" name="TextBox 21"/>
            <p:cNvSpPr txBox="1"/>
            <p:nvPr/>
          </p:nvSpPr>
          <p:spPr>
            <a:xfrm>
              <a:off x="833438" y="4210050"/>
              <a:ext cx="2424407" cy="466725"/>
            </a:xfrm>
            <a:prstGeom prst="rect">
              <a:avLst/>
            </a:prstGeom>
            <a:noFill/>
            <a:ln>
              <a:noFill/>
            </a:ln>
          </p:spPr>
          <p:txBody>
            <a:bodyPr wrap="none" lIns="0" tIns="0" rIns="0" bIns="0" anchor="t" anchorCtr="0">
              <a:spAutoFit/>
            </a:bodyPr>
            <a:lstStyle/>
            <a:p>
              <a:pPr algn="l">
                <a:lnSpc>
                  <a:spcPts val="1200"/>
                </a:lnSpc>
              </a:pPr>
              <a:r>
                <a:rPr lang="en-US" sz="820" dirty="0">
                  <a:solidFill>
                    <a:srgbClr val="334155"/>
                  </a:solidFill>
                  <a:latin typeface="+mn-lt"/>
                  <a:ea typeface="+mn-ea"/>
                  <a:cs typeface="+mn-cs"/>
                </a:rPr>
                <a:t>Immutable PostgreSQL logs tie every rating signal to</a:t>
              </a:r>
              <a:br>
                <a:rPr lang="en-US" sz="820" dirty="0">
                  <a:solidFill>
                    <a:srgbClr val="334155"/>
                  </a:solidFill>
                  <a:latin typeface="+mn-lt"/>
                  <a:ea typeface="+mn-ea"/>
                  <a:cs typeface="+mn-cs"/>
                </a:rPr>
              </a:br>
              <a:r>
                <a:rPr lang="en-US" sz="820" dirty="0">
                  <a:solidFill>
                    <a:srgbClr val="334155"/>
                  </a:solidFill>
                  <a:latin typeface="+mn-lt"/>
                  <a:ea typeface="+mn-ea"/>
                  <a:cs typeface="+mn-cs"/>
                </a:rPr>
                <a:t>exact keywords, source URLs, and FinBERT weights,</a:t>
              </a:r>
              <a:br>
                <a:rPr lang="en-US" sz="820" dirty="0">
                  <a:solidFill>
                    <a:srgbClr val="334155"/>
                  </a:solidFill>
                  <a:latin typeface="+mn-lt"/>
                  <a:ea typeface="+mn-ea"/>
                  <a:cs typeface="+mn-cs"/>
                </a:rPr>
              </a:br>
              <a:r>
                <a:rPr lang="en-US" sz="820" dirty="0">
                  <a:solidFill>
                    <a:srgbClr val="334155"/>
                  </a:solidFill>
                  <a:latin typeface="+mn-lt"/>
                  <a:ea typeface="+mn-ea"/>
                  <a:cs typeface="+mn-cs"/>
                </a:rPr>
                <a:t>guaranteeing complete regulatory auditability.</a:t>
              </a:r>
            </a:p>
          </p:txBody>
        </p:sp>
        <p:sp>
          <p:nvSpPr>
            <p:cNvPr id="22" name="Rectangle 22"/>
            <p:cNvSpPr/>
            <p:nvPr/>
          </p:nvSpPr>
          <p:spPr>
            <a:xfrm>
              <a:off x="723900" y="4953000"/>
              <a:ext cx="3181350" cy="1162050"/>
            </a:xfrm>
            <a:prstGeom prst="roundRect">
              <a:avLst>
                <a:gd name="adj" fmla="val 4918"/>
              </a:avLst>
            </a:prstGeom>
            <a:solidFill>
              <a:srgbClr val="EFF6FF"/>
            </a:solidFill>
            <a:ln w="9525">
              <a:solidFill>
                <a:srgbClr val="BFDBFE"/>
              </a:solidFill>
            </a:ln>
          </p:spPr>
        </p:sp>
        <p:sp>
          <p:nvSpPr>
            <p:cNvPr id="23" name="TextBox 23"/>
            <p:cNvSpPr txBox="1"/>
            <p:nvPr/>
          </p:nvSpPr>
          <p:spPr>
            <a:xfrm>
              <a:off x="833438" y="5099050"/>
              <a:ext cx="1504296" cy="161925"/>
            </a:xfrm>
            <a:prstGeom prst="rect">
              <a:avLst/>
            </a:prstGeom>
            <a:noFill/>
            <a:ln>
              <a:noFill/>
            </a:ln>
          </p:spPr>
          <p:txBody>
            <a:bodyPr wrap="none" lIns="0" tIns="0" rIns="0" bIns="0" anchor="t" anchorCtr="0">
              <a:spAutoFit/>
            </a:bodyPr>
            <a:lstStyle/>
            <a:p>
              <a:pPr algn="l"/>
              <a:r>
                <a:rPr lang="en-US" sz="820" b="1" dirty="0">
                  <a:solidFill>
                    <a:schemeClr val="accent1"/>
                  </a:solidFill>
                  <a:latin typeface="+mn-lt"/>
                  <a:ea typeface="+mn-ea"/>
                  <a:cs typeface="+mn-cs"/>
                </a:rPr>
                <a:t>QUANTIFIED DESK IMPACT</a:t>
              </a:r>
            </a:p>
          </p:txBody>
        </p:sp>
        <p:sp>
          <p:nvSpPr>
            <p:cNvPr id="24" name="TextBox 24"/>
            <p:cNvSpPr txBox="1"/>
            <p:nvPr/>
          </p:nvSpPr>
          <p:spPr>
            <a:xfrm>
              <a:off x="829056" y="5327650"/>
              <a:ext cx="684657" cy="352044"/>
            </a:xfrm>
            <a:prstGeom prst="rect">
              <a:avLst/>
            </a:prstGeom>
            <a:noFill/>
            <a:ln>
              <a:noFill/>
            </a:ln>
          </p:spPr>
          <p:txBody>
            <a:bodyPr wrap="none" lIns="0" tIns="0" rIns="0" bIns="0" anchor="t" anchorCtr="0">
              <a:spAutoFit/>
            </a:bodyPr>
            <a:lstStyle/>
            <a:p>
              <a:pPr algn="l"/>
              <a:r>
                <a:rPr lang="en-US" sz="1800" b="1" dirty="0">
                  <a:solidFill>
                    <a:schemeClr val="accent1"/>
                  </a:solidFill>
                  <a:latin typeface="Consolas"/>
                  <a:ea typeface="Consolas"/>
                  <a:cs typeface="Consolas"/>
                </a:rPr>
                <a:t>98.5%</a:t>
              </a:r>
            </a:p>
          </p:txBody>
        </p:sp>
        <p:sp>
          <p:nvSpPr>
            <p:cNvPr id="25" name="TextBox 25"/>
            <p:cNvSpPr txBox="1"/>
            <p:nvPr/>
          </p:nvSpPr>
          <p:spPr>
            <a:xfrm>
              <a:off x="833438" y="5670550"/>
              <a:ext cx="2396761" cy="161925"/>
            </a:xfrm>
            <a:prstGeom prst="rect">
              <a:avLst/>
            </a:prstGeom>
            <a:noFill/>
            <a:ln>
              <a:noFill/>
            </a:ln>
          </p:spPr>
          <p:txBody>
            <a:bodyPr wrap="none" lIns="0" tIns="0" rIns="0" bIns="0" anchor="t" anchorCtr="0">
              <a:spAutoFit/>
            </a:bodyPr>
            <a:lstStyle/>
            <a:p>
              <a:pPr marL="76200" indent="-76200" algn="l">
                <a:buClr>
                  <a:srgbClr val="334155"/>
                </a:buClr>
                <a:buSzTx/>
                <a:buFontTx/>
                <a:buChar char="•"/>
              </a:pPr>
              <a:r>
                <a:rPr lang="en-US" sz="820" dirty="0">
                  <a:solidFill>
                    <a:srgbClr val="334155"/>
                  </a:solidFill>
                  <a:latin typeface="+mn-lt"/>
                  <a:ea typeface="+mn-ea"/>
                  <a:cs typeface="+mn-cs"/>
                </a:rPr>
                <a:t>Surveillance latency reduced from 48h to &lt;15m</a:t>
              </a:r>
            </a:p>
          </p:txBody>
        </p:sp>
        <p:sp>
          <p:nvSpPr>
            <p:cNvPr id="26" name="TextBox 26"/>
            <p:cNvSpPr txBox="1"/>
            <p:nvPr/>
          </p:nvSpPr>
          <p:spPr>
            <a:xfrm>
              <a:off x="833438" y="5861050"/>
              <a:ext cx="2444828" cy="161925"/>
            </a:xfrm>
            <a:prstGeom prst="rect">
              <a:avLst/>
            </a:prstGeom>
            <a:noFill/>
            <a:ln>
              <a:noFill/>
            </a:ln>
          </p:spPr>
          <p:txBody>
            <a:bodyPr wrap="none" lIns="0" tIns="0" rIns="0" bIns="0" anchor="t" anchorCtr="0">
              <a:spAutoFit/>
            </a:bodyPr>
            <a:lstStyle/>
            <a:p>
              <a:pPr marL="76200" indent="-76200" algn="l">
                <a:buClr>
                  <a:srgbClr val="1D4ED8"/>
                </a:buClr>
                <a:buSzTx/>
                <a:buFontTx/>
                <a:buChar char="•"/>
              </a:pPr>
              <a:r>
                <a:rPr lang="en-US" sz="820" dirty="0">
                  <a:solidFill>
                    <a:srgbClr val="1D4ED8"/>
                  </a:solidFill>
                  <a:latin typeface="+mn-lt"/>
                  <a:ea typeface="+mn-ea"/>
                  <a:cs typeface="+mn-cs"/>
                </a:rPr>
                <a:t>100% keyword explainability for SEC compliance</a:t>
              </a:r>
            </a:p>
          </p:txBody>
        </p:sp>
      </p:grpSp>
      <p:grpSp>
        <p:nvGrpSpPr>
          <p:cNvPr id="46" name="col-asset-managers"/>
          <p:cNvGrpSpPr/>
          <p:nvPr/>
        </p:nvGrpSpPr>
        <p:grpSpPr>
          <a:xfrm>
            <a:off x="4248150" y="1333500"/>
            <a:ext cx="3486150" cy="4933950"/>
            <a:chOff x="4248150" y="1333500"/>
            <a:chExt cx="3486150" cy="4933950"/>
          </a:xfrm>
        </p:grpSpPr>
        <p:sp>
          <p:nvSpPr>
            <p:cNvPr id="28" name="Rectangle 28"/>
            <p:cNvSpPr/>
            <p:nvPr/>
          </p:nvSpPr>
          <p:spPr>
            <a:xfrm>
              <a:off x="4248150" y="1333500"/>
              <a:ext cx="3486150" cy="4933950"/>
            </a:xfrm>
            <a:prstGeom prst="roundRect">
              <a:avLst>
                <a:gd name="adj" fmla="val 2186"/>
              </a:avLst>
            </a:prstGeom>
            <a:solidFill>
              <a:srgbClr val="FFFFFF"/>
            </a:solidFill>
            <a:ln w="9525">
              <a:solidFill>
                <a:schemeClr val="accent6"/>
              </a:solidFill>
            </a:ln>
          </p:spPr>
        </p:sp>
        <p:sp>
          <p:nvSpPr>
            <p:cNvPr id="29" name="Freeform 29"/>
            <p:cNvSpPr/>
            <p:nvPr/>
          </p:nvSpPr>
          <p:spPr>
            <a:xfrm>
              <a:off x="4248150" y="1333500"/>
              <a:ext cx="3486150" cy="400050"/>
            </a:xfrm>
            <a:custGeom>
              <a:avLst/>
              <a:gdLst/>
              <a:ahLst/>
              <a:cxnLst/>
              <a:rect l="l" t="t" r="r" b="b"/>
              <a:pathLst>
                <a:path w="3486150" h="400050">
                  <a:moveTo>
                    <a:pt x="0" y="76200"/>
                  </a:moveTo>
                  <a:cubicBezTo>
                    <a:pt x="0" y="25400"/>
                    <a:pt x="25400" y="0"/>
                    <a:pt x="76200" y="0"/>
                  </a:cubicBezTo>
                  <a:lnTo>
                    <a:pt x="3409950" y="0"/>
                  </a:lnTo>
                  <a:cubicBezTo>
                    <a:pt x="3460750" y="0"/>
                    <a:pt x="3486150" y="25400"/>
                    <a:pt x="3486150" y="76200"/>
                  </a:cubicBezTo>
                  <a:lnTo>
                    <a:pt x="3486150" y="400050"/>
                  </a:lnTo>
                  <a:lnTo>
                    <a:pt x="0" y="400050"/>
                  </a:lnTo>
                  <a:close/>
                </a:path>
              </a:pathLst>
            </a:custGeom>
            <a:solidFill>
              <a:srgbClr val="ECFDF5"/>
            </a:solidFill>
            <a:ln>
              <a:noFill/>
            </a:ln>
          </p:spPr>
        </p:sp>
        <p:sp>
          <p:nvSpPr>
            <p:cNvPr id="30" name="TextBox 30"/>
            <p:cNvSpPr txBox="1"/>
            <p:nvPr/>
          </p:nvSpPr>
          <p:spPr>
            <a:xfrm>
              <a:off x="4433888" y="1457325"/>
              <a:ext cx="2428797" cy="176212"/>
            </a:xfrm>
            <a:prstGeom prst="rect">
              <a:avLst/>
            </a:prstGeom>
            <a:noFill/>
            <a:ln>
              <a:noFill/>
            </a:ln>
          </p:spPr>
          <p:txBody>
            <a:bodyPr wrap="none" lIns="0" tIns="0" rIns="0" bIns="0" anchor="t" anchorCtr="0">
              <a:spAutoFit/>
            </a:bodyPr>
            <a:lstStyle/>
            <a:p>
              <a:pPr algn="l"/>
              <a:r>
                <a:rPr lang="en-US" sz="900" b="1" spc="75" dirty="0">
                  <a:solidFill>
                    <a:srgbClr val="065F46"/>
                  </a:solidFill>
                  <a:latin typeface="+mn-lt"/>
                  <a:ea typeface="+mn-ea"/>
                  <a:cs typeface="+mn-cs"/>
                </a:rPr>
                <a:t>INSTITUTIONAL ASSET MANAGERS</a:t>
              </a:r>
            </a:p>
          </p:txBody>
        </p:sp>
        <p:sp>
          <p:nvSpPr>
            <p:cNvPr id="31" name="TextBox 31"/>
            <p:cNvSpPr txBox="1"/>
            <p:nvPr/>
          </p:nvSpPr>
          <p:spPr>
            <a:xfrm>
              <a:off x="4433888" y="1597025"/>
              <a:ext cx="1695916" cy="147638"/>
            </a:xfrm>
            <a:prstGeom prst="rect">
              <a:avLst/>
            </a:prstGeom>
            <a:noFill/>
            <a:ln>
              <a:noFill/>
            </a:ln>
          </p:spPr>
          <p:txBody>
            <a:bodyPr wrap="none" lIns="0" tIns="0" rIns="0" bIns="0" anchor="t" anchorCtr="0">
              <a:spAutoFit/>
            </a:bodyPr>
            <a:lstStyle/>
            <a:p>
              <a:pPr algn="l"/>
              <a:r>
                <a:rPr lang="en-US" sz="750" dirty="0">
                  <a:solidFill>
                    <a:schemeClr val="accent2"/>
                  </a:solidFill>
                  <a:latin typeface="+mn-lt"/>
                  <a:ea typeface="+mn-ea"/>
                  <a:cs typeface="+mn-cs"/>
                </a:rPr>
                <a:t>Portfolio Managers &amp; Buy-Side Desks</a:t>
              </a:r>
            </a:p>
          </p:txBody>
        </p:sp>
        <p:sp>
          <p:nvSpPr>
            <p:cNvPr id="32" name="Rectangle 32"/>
            <p:cNvSpPr/>
            <p:nvPr/>
          </p:nvSpPr>
          <p:spPr>
            <a:xfrm>
              <a:off x="4400550" y="1866900"/>
              <a:ext cx="3181350" cy="914400"/>
            </a:xfrm>
            <a:prstGeom prst="roundRect">
              <a:avLst>
                <a:gd name="adj" fmla="val 6250"/>
              </a:avLst>
            </a:prstGeom>
            <a:solidFill>
              <a:schemeClr val="lt1"/>
            </a:solidFill>
            <a:ln w="9525">
              <a:solidFill>
                <a:srgbClr val="E2E8F0"/>
              </a:solidFill>
            </a:ln>
          </p:spPr>
        </p:sp>
        <p:sp>
          <p:nvSpPr>
            <p:cNvPr id="33" name="TextBox 33"/>
            <p:cNvSpPr txBox="1"/>
            <p:nvPr/>
          </p:nvSpPr>
          <p:spPr>
            <a:xfrm>
              <a:off x="4510088" y="1962150"/>
              <a:ext cx="1719792" cy="176212"/>
            </a:xfrm>
            <a:prstGeom prst="rect">
              <a:avLst/>
            </a:prstGeom>
            <a:noFill/>
            <a:ln>
              <a:noFill/>
            </a:ln>
          </p:spPr>
          <p:txBody>
            <a:bodyPr wrap="none" lIns="0" tIns="0" rIns="0" bIns="0" anchor="t" anchorCtr="0">
              <a:spAutoFit/>
            </a:bodyPr>
            <a:lstStyle/>
            <a:p>
              <a:pPr algn="l"/>
              <a:r>
                <a:rPr lang="en-US" sz="900" b="1" dirty="0">
                  <a:solidFill>
                    <a:srgbClr val="065F46"/>
                  </a:solidFill>
                  <a:latin typeface="+mn-lt"/>
                  <a:ea typeface="+mn-ea"/>
                  <a:cs typeface="+mn-cs"/>
                </a:rPr>
                <a:t>Intraday Multi-Asset Tail-Risk</a:t>
              </a:r>
            </a:p>
          </p:txBody>
        </p:sp>
        <p:sp>
          <p:nvSpPr>
            <p:cNvPr id="34" name="TextBox 34"/>
            <p:cNvSpPr txBox="1"/>
            <p:nvPr/>
          </p:nvSpPr>
          <p:spPr>
            <a:xfrm>
              <a:off x="4510088" y="2152650"/>
              <a:ext cx="2424240" cy="466725"/>
            </a:xfrm>
            <a:prstGeom prst="rect">
              <a:avLst/>
            </a:prstGeom>
            <a:noFill/>
            <a:ln>
              <a:noFill/>
            </a:ln>
          </p:spPr>
          <p:txBody>
            <a:bodyPr wrap="none" lIns="0" tIns="0" rIns="0" bIns="0" anchor="t" anchorCtr="0">
              <a:spAutoFit/>
            </a:bodyPr>
            <a:lstStyle/>
            <a:p>
              <a:pPr algn="l">
                <a:lnSpc>
                  <a:spcPts val="1200"/>
                </a:lnSpc>
              </a:pPr>
              <a:r>
                <a:rPr lang="en-US" sz="820" dirty="0">
                  <a:solidFill>
                    <a:srgbClr val="334155"/>
                  </a:solidFill>
                  <a:latin typeface="+mn-lt"/>
                  <a:ea typeface="+mn-ea"/>
                  <a:cs typeface="+mn-cs"/>
                </a:rPr>
                <a:t>Replaces overnight batch reports with real-time</a:t>
              </a:r>
              <a:br>
                <a:rPr lang="en-US" sz="820" dirty="0">
                  <a:solidFill>
                    <a:srgbClr val="334155"/>
                  </a:solidFill>
                  <a:latin typeface="+mn-lt"/>
                  <a:ea typeface="+mn-ea"/>
                  <a:cs typeface="+mn-cs"/>
                </a:rPr>
              </a:br>
              <a:r>
                <a:rPr lang="en-US" sz="820" dirty="0">
                  <a:solidFill>
                    <a:srgbClr val="334155"/>
                  </a:solidFill>
                  <a:latin typeface="+mn-lt"/>
                  <a:ea typeface="+mn-ea"/>
                  <a:cs typeface="+mn-cs"/>
                </a:rPr>
                <a:t>cross-asset factor sensitivities across equities, bonds,</a:t>
              </a:r>
              <a:br>
                <a:rPr lang="en-US" sz="820" dirty="0">
                  <a:solidFill>
                    <a:srgbClr val="334155"/>
                  </a:solidFill>
                  <a:latin typeface="+mn-lt"/>
                  <a:ea typeface="+mn-ea"/>
                  <a:cs typeface="+mn-cs"/>
                </a:rPr>
              </a:br>
              <a:r>
                <a:rPr lang="en-US" sz="820" dirty="0">
                  <a:solidFill>
                    <a:srgbClr val="334155"/>
                  </a:solidFill>
                  <a:latin typeface="+mn-lt"/>
                  <a:ea typeface="+mn-ea"/>
                  <a:cs typeface="+mn-cs"/>
                </a:rPr>
                <a:t>loans, and derivative overlays during active hours.</a:t>
              </a:r>
            </a:p>
          </p:txBody>
        </p:sp>
        <p:sp>
          <p:nvSpPr>
            <p:cNvPr id="35" name="Rectangle 35"/>
            <p:cNvSpPr/>
            <p:nvPr/>
          </p:nvSpPr>
          <p:spPr>
            <a:xfrm>
              <a:off x="4400550" y="2895600"/>
              <a:ext cx="3181350" cy="914400"/>
            </a:xfrm>
            <a:prstGeom prst="roundRect">
              <a:avLst>
                <a:gd name="adj" fmla="val 6250"/>
              </a:avLst>
            </a:prstGeom>
            <a:solidFill>
              <a:schemeClr val="lt1"/>
            </a:solidFill>
            <a:ln w="9525">
              <a:solidFill>
                <a:srgbClr val="E2E8F0"/>
              </a:solidFill>
            </a:ln>
          </p:spPr>
        </p:sp>
        <p:sp>
          <p:nvSpPr>
            <p:cNvPr id="36" name="TextBox 36"/>
            <p:cNvSpPr txBox="1"/>
            <p:nvPr/>
          </p:nvSpPr>
          <p:spPr>
            <a:xfrm>
              <a:off x="4510088" y="2990850"/>
              <a:ext cx="2070853" cy="176212"/>
            </a:xfrm>
            <a:prstGeom prst="rect">
              <a:avLst/>
            </a:prstGeom>
            <a:noFill/>
            <a:ln>
              <a:noFill/>
            </a:ln>
          </p:spPr>
          <p:txBody>
            <a:bodyPr wrap="none" lIns="0" tIns="0" rIns="0" bIns="0" anchor="t" anchorCtr="0">
              <a:spAutoFit/>
            </a:bodyPr>
            <a:lstStyle/>
            <a:p>
              <a:pPr algn="l"/>
              <a:r>
                <a:rPr lang="en-US" sz="900" b="1" dirty="0">
                  <a:solidFill>
                    <a:srgbClr val="065F46"/>
                  </a:solidFill>
                  <a:latin typeface="+mn-lt"/>
                  <a:ea typeface="+mn-ea"/>
                  <a:cs typeface="+mn-cs"/>
                </a:rPr>
                <a:t>Rule A1 Automated Capital Defense</a:t>
              </a:r>
            </a:p>
          </p:txBody>
        </p:sp>
        <p:sp>
          <p:nvSpPr>
            <p:cNvPr id="37" name="TextBox 37"/>
            <p:cNvSpPr txBox="1"/>
            <p:nvPr/>
          </p:nvSpPr>
          <p:spPr>
            <a:xfrm>
              <a:off x="4510088" y="3181350"/>
              <a:ext cx="2451421" cy="466725"/>
            </a:xfrm>
            <a:prstGeom prst="rect">
              <a:avLst/>
            </a:prstGeom>
            <a:noFill/>
            <a:ln>
              <a:noFill/>
            </a:ln>
          </p:spPr>
          <p:txBody>
            <a:bodyPr wrap="none" lIns="0" tIns="0" rIns="0" bIns="0" anchor="t" anchorCtr="0">
              <a:spAutoFit/>
            </a:bodyPr>
            <a:lstStyle/>
            <a:p>
              <a:pPr algn="l">
                <a:lnSpc>
                  <a:spcPts val="1200"/>
                </a:lnSpc>
              </a:pPr>
              <a:r>
                <a:rPr lang="en-US" sz="820" dirty="0">
                  <a:solidFill>
                    <a:srgbClr val="334155"/>
                  </a:solidFill>
                  <a:latin typeface="+mn-lt"/>
                  <a:ea typeface="+mn-ea"/>
                  <a:cs typeface="+mn-cs"/>
                </a:rPr>
                <a:t>Automated trigger prompts dynamic hedging orders,</a:t>
              </a:r>
              <a:br>
                <a:rPr lang="en-US" sz="820" dirty="0">
                  <a:solidFill>
                    <a:srgbClr val="334155"/>
                  </a:solidFill>
                  <a:latin typeface="+mn-lt"/>
                  <a:ea typeface="+mn-ea"/>
                  <a:cs typeface="+mn-cs"/>
                </a:rPr>
              </a:br>
              <a:r>
                <a:rPr lang="en-US" sz="820" dirty="0">
                  <a:solidFill>
                    <a:srgbClr val="334155"/>
                  </a:solidFill>
                  <a:latin typeface="+mn-lt"/>
                  <a:ea typeface="+mn-ea"/>
                  <a:cs typeface="+mn-cs"/>
                </a:rPr>
                <a:t>preserving capital before market contagion spreads</a:t>
              </a:r>
              <a:br>
                <a:rPr lang="en-US" sz="820" dirty="0">
                  <a:solidFill>
                    <a:srgbClr val="334155"/>
                  </a:solidFill>
                  <a:latin typeface="+mn-lt"/>
                  <a:ea typeface="+mn-ea"/>
                  <a:cs typeface="+mn-cs"/>
                </a:rPr>
              </a:br>
              <a:r>
                <a:rPr lang="en-US" sz="820" dirty="0">
                  <a:solidFill>
                    <a:srgbClr val="334155"/>
                  </a:solidFill>
                  <a:latin typeface="+mn-lt"/>
                  <a:ea typeface="+mn-ea"/>
                  <a:cs typeface="+mn-cs"/>
                </a:rPr>
                <a:t>across correlated credit and equity tranches.</a:t>
              </a:r>
            </a:p>
          </p:txBody>
        </p:sp>
        <p:sp>
          <p:nvSpPr>
            <p:cNvPr id="38" name="Rectangle 38"/>
            <p:cNvSpPr/>
            <p:nvPr/>
          </p:nvSpPr>
          <p:spPr>
            <a:xfrm>
              <a:off x="4400550" y="3924300"/>
              <a:ext cx="3181350" cy="914400"/>
            </a:xfrm>
            <a:prstGeom prst="roundRect">
              <a:avLst>
                <a:gd name="adj" fmla="val 6250"/>
              </a:avLst>
            </a:prstGeom>
            <a:solidFill>
              <a:schemeClr val="lt1"/>
            </a:solidFill>
            <a:ln w="9525">
              <a:solidFill>
                <a:srgbClr val="E2E8F0"/>
              </a:solidFill>
            </a:ln>
          </p:spPr>
        </p:sp>
        <p:sp>
          <p:nvSpPr>
            <p:cNvPr id="39" name="TextBox 39"/>
            <p:cNvSpPr txBox="1"/>
            <p:nvPr/>
          </p:nvSpPr>
          <p:spPr>
            <a:xfrm>
              <a:off x="4510088" y="4019550"/>
              <a:ext cx="1637109" cy="176212"/>
            </a:xfrm>
            <a:prstGeom prst="rect">
              <a:avLst/>
            </a:prstGeom>
            <a:noFill/>
            <a:ln>
              <a:noFill/>
            </a:ln>
          </p:spPr>
          <p:txBody>
            <a:bodyPr wrap="none" lIns="0" tIns="0" rIns="0" bIns="0" anchor="t" anchorCtr="0">
              <a:spAutoFit/>
            </a:bodyPr>
            <a:lstStyle/>
            <a:p>
              <a:pPr algn="l"/>
              <a:r>
                <a:rPr lang="en-US" sz="900" b="1" dirty="0">
                  <a:solidFill>
                    <a:srgbClr val="065F46"/>
                  </a:solidFill>
                  <a:latin typeface="+mn-lt"/>
                  <a:ea typeface="+mn-ea"/>
                  <a:cs typeface="+mn-cs"/>
                </a:rPr>
                <a:t>Interactive Scenario Shocker</a:t>
              </a:r>
            </a:p>
          </p:txBody>
        </p:sp>
        <p:sp>
          <p:nvSpPr>
            <p:cNvPr id="40" name="TextBox 40"/>
            <p:cNvSpPr txBox="1"/>
            <p:nvPr/>
          </p:nvSpPr>
          <p:spPr>
            <a:xfrm>
              <a:off x="4510088" y="4210050"/>
              <a:ext cx="2408046" cy="466725"/>
            </a:xfrm>
            <a:prstGeom prst="rect">
              <a:avLst/>
            </a:prstGeom>
            <a:noFill/>
            <a:ln>
              <a:noFill/>
            </a:ln>
          </p:spPr>
          <p:txBody>
            <a:bodyPr wrap="none" lIns="0" tIns="0" rIns="0" bIns="0" anchor="t" anchorCtr="0">
              <a:spAutoFit/>
            </a:bodyPr>
            <a:lstStyle/>
            <a:p>
              <a:pPr algn="l">
                <a:lnSpc>
                  <a:spcPts val="1200"/>
                </a:lnSpc>
              </a:pPr>
              <a:r>
                <a:rPr lang="en-US" sz="820" dirty="0">
                  <a:solidFill>
                    <a:srgbClr val="334155"/>
                  </a:solidFill>
                  <a:latin typeface="+mn-lt"/>
                  <a:ea typeface="+mn-ea"/>
                  <a:cs typeface="+mn-cs"/>
                </a:rPr>
                <a:t>Enables custom macro shock simulations (rate hikes,</a:t>
              </a:r>
              <a:br>
                <a:rPr lang="en-US" sz="820" dirty="0">
                  <a:solidFill>
                    <a:srgbClr val="334155"/>
                  </a:solidFill>
                  <a:latin typeface="+mn-lt"/>
                  <a:ea typeface="+mn-ea"/>
                  <a:cs typeface="+mn-cs"/>
                </a:rPr>
              </a:br>
              <a:r>
                <a:rPr lang="en-US" sz="820" dirty="0">
                  <a:solidFill>
                    <a:srgbClr val="334155"/>
                  </a:solidFill>
                  <a:latin typeface="+mn-lt"/>
                  <a:ea typeface="+mn-ea"/>
                  <a:cs typeface="+mn-cs"/>
                </a:rPr>
                <a:t>geopolitical escalation, liquidity freezes) with instant</a:t>
              </a:r>
              <a:br>
                <a:rPr lang="en-US" sz="820" dirty="0">
                  <a:solidFill>
                    <a:srgbClr val="334155"/>
                  </a:solidFill>
                  <a:latin typeface="+mn-lt"/>
                  <a:ea typeface="+mn-ea"/>
                  <a:cs typeface="+mn-cs"/>
                </a:rPr>
              </a:br>
              <a:r>
                <a:rPr lang="en-US" sz="820" dirty="0">
                  <a:solidFill>
                    <a:srgbClr val="334155"/>
                  </a:solidFill>
                  <a:latin typeface="+mn-lt"/>
                  <a:ea typeface="+mn-ea"/>
                  <a:cs typeface="+mn-cs"/>
                </a:rPr>
                <a:t>waterfall redraws in under 80 milliseconds.</a:t>
              </a:r>
            </a:p>
          </p:txBody>
        </p:sp>
        <p:sp>
          <p:nvSpPr>
            <p:cNvPr id="41" name="Rectangle 41"/>
            <p:cNvSpPr/>
            <p:nvPr/>
          </p:nvSpPr>
          <p:spPr>
            <a:xfrm>
              <a:off x="4400550" y="4953000"/>
              <a:ext cx="3181350" cy="1162050"/>
            </a:xfrm>
            <a:prstGeom prst="roundRect">
              <a:avLst>
                <a:gd name="adj" fmla="val 4918"/>
              </a:avLst>
            </a:prstGeom>
            <a:solidFill>
              <a:srgbClr val="ECFDF5"/>
            </a:solidFill>
            <a:ln w="9525">
              <a:solidFill>
                <a:srgbClr val="A7F3D0"/>
              </a:solidFill>
            </a:ln>
          </p:spPr>
        </p:sp>
        <p:sp>
          <p:nvSpPr>
            <p:cNvPr id="42" name="TextBox 42"/>
            <p:cNvSpPr txBox="1"/>
            <p:nvPr/>
          </p:nvSpPr>
          <p:spPr>
            <a:xfrm>
              <a:off x="4510088" y="5099050"/>
              <a:ext cx="1849762" cy="161925"/>
            </a:xfrm>
            <a:prstGeom prst="rect">
              <a:avLst/>
            </a:prstGeom>
            <a:noFill/>
            <a:ln>
              <a:noFill/>
            </a:ln>
          </p:spPr>
          <p:txBody>
            <a:bodyPr wrap="none" lIns="0" tIns="0" rIns="0" bIns="0" anchor="t" anchorCtr="0">
              <a:spAutoFit/>
            </a:bodyPr>
            <a:lstStyle/>
            <a:p>
              <a:pPr algn="l"/>
              <a:r>
                <a:rPr lang="en-US" sz="820" b="1" dirty="0">
                  <a:solidFill>
                    <a:srgbClr val="065F46"/>
                  </a:solidFill>
                  <a:latin typeface="+mn-lt"/>
                  <a:ea typeface="+mn-ea"/>
                  <a:cs typeface="+mn-cs"/>
                </a:rPr>
                <a:t>CAPITAL PRESERVATION IMPACT</a:t>
              </a:r>
            </a:p>
          </p:txBody>
        </p:sp>
        <p:sp>
          <p:nvSpPr>
            <p:cNvPr id="43" name="TextBox 43"/>
            <p:cNvSpPr txBox="1"/>
            <p:nvPr/>
          </p:nvSpPr>
          <p:spPr>
            <a:xfrm>
              <a:off x="4505706" y="5327650"/>
              <a:ext cx="1004011" cy="352044"/>
            </a:xfrm>
            <a:prstGeom prst="rect">
              <a:avLst/>
            </a:prstGeom>
            <a:noFill/>
            <a:ln>
              <a:noFill/>
            </a:ln>
          </p:spPr>
          <p:txBody>
            <a:bodyPr wrap="none" lIns="0" tIns="0" rIns="0" bIns="0" anchor="t" anchorCtr="0">
              <a:spAutoFit/>
            </a:bodyPr>
            <a:lstStyle/>
            <a:p>
              <a:pPr algn="l"/>
              <a:r>
                <a:rPr lang="en-US" sz="1800" b="1" dirty="0">
                  <a:solidFill>
                    <a:schemeClr val="accent2"/>
                  </a:solidFill>
                  <a:latin typeface="Consolas"/>
                  <a:ea typeface="Consolas"/>
                  <a:cs typeface="Consolas"/>
                </a:rPr>
                <a:t>+$29.5M</a:t>
              </a:r>
            </a:p>
          </p:txBody>
        </p:sp>
        <p:sp>
          <p:nvSpPr>
            <p:cNvPr id="44" name="TextBox 44"/>
            <p:cNvSpPr txBox="1"/>
            <p:nvPr/>
          </p:nvSpPr>
          <p:spPr>
            <a:xfrm>
              <a:off x="4510088" y="5670550"/>
              <a:ext cx="2238884" cy="161925"/>
            </a:xfrm>
            <a:prstGeom prst="rect">
              <a:avLst/>
            </a:prstGeom>
            <a:noFill/>
            <a:ln>
              <a:noFill/>
            </a:ln>
          </p:spPr>
          <p:txBody>
            <a:bodyPr wrap="none" lIns="0" tIns="0" rIns="0" bIns="0" anchor="t" anchorCtr="0">
              <a:spAutoFit/>
            </a:bodyPr>
            <a:lstStyle/>
            <a:p>
              <a:pPr marL="76200" indent="-76200" algn="l">
                <a:buClr>
                  <a:srgbClr val="334155"/>
                </a:buClr>
                <a:buSzTx/>
                <a:buFontTx/>
                <a:buChar char="•"/>
              </a:pPr>
              <a:r>
                <a:rPr lang="en-US" sz="820" dirty="0">
                  <a:solidFill>
                    <a:srgbClr val="334155"/>
                  </a:solidFill>
                  <a:latin typeface="+mn-lt"/>
                  <a:ea typeface="+mn-ea"/>
                  <a:cs typeface="+mn-cs"/>
                </a:rPr>
                <a:t>25.4% unhedged loss recovered dynamically</a:t>
              </a:r>
            </a:p>
          </p:txBody>
        </p:sp>
        <p:sp>
          <p:nvSpPr>
            <p:cNvPr id="45" name="TextBox 45"/>
            <p:cNvSpPr txBox="1"/>
            <p:nvPr/>
          </p:nvSpPr>
          <p:spPr>
            <a:xfrm>
              <a:off x="4510088" y="5861050"/>
              <a:ext cx="2303892" cy="161925"/>
            </a:xfrm>
            <a:prstGeom prst="rect">
              <a:avLst/>
            </a:prstGeom>
            <a:noFill/>
            <a:ln>
              <a:noFill/>
            </a:ln>
          </p:spPr>
          <p:txBody>
            <a:bodyPr wrap="none" lIns="0" tIns="0" rIns="0" bIns="0" anchor="t" anchorCtr="0">
              <a:spAutoFit/>
            </a:bodyPr>
            <a:lstStyle/>
            <a:p>
              <a:pPr marL="76200" indent="-76200" algn="l">
                <a:buClr>
                  <a:srgbClr val="047857"/>
                </a:buClr>
                <a:buSzTx/>
                <a:buFontTx/>
                <a:buChar char="•"/>
              </a:pPr>
              <a:r>
                <a:rPr lang="en-US" sz="820" dirty="0">
                  <a:solidFill>
                    <a:srgbClr val="047857"/>
                  </a:solidFill>
                  <a:latin typeface="+mn-lt"/>
                  <a:ea typeface="+mn-ea"/>
                  <a:cs typeface="+mn-cs"/>
                </a:rPr>
                <a:t>85.2% total portfolio value preserved in stress</a:t>
              </a:r>
            </a:p>
          </p:txBody>
        </p:sp>
      </p:grpSp>
      <p:grpSp>
        <p:nvGrpSpPr>
          <p:cNvPr id="65" name="col-treasury"/>
          <p:cNvGrpSpPr/>
          <p:nvPr/>
        </p:nvGrpSpPr>
        <p:grpSpPr>
          <a:xfrm>
            <a:off x="7924800" y="1333500"/>
            <a:ext cx="3486150" cy="4933950"/>
            <a:chOff x="7924800" y="1333500"/>
            <a:chExt cx="3486150" cy="4933950"/>
          </a:xfrm>
        </p:grpSpPr>
        <p:sp>
          <p:nvSpPr>
            <p:cNvPr id="47" name="Rectangle 47"/>
            <p:cNvSpPr/>
            <p:nvPr/>
          </p:nvSpPr>
          <p:spPr>
            <a:xfrm>
              <a:off x="7924800" y="1333500"/>
              <a:ext cx="3486150" cy="4933950"/>
            </a:xfrm>
            <a:prstGeom prst="roundRect">
              <a:avLst>
                <a:gd name="adj" fmla="val 2186"/>
              </a:avLst>
            </a:prstGeom>
            <a:solidFill>
              <a:srgbClr val="FFFFFF"/>
            </a:solidFill>
            <a:ln w="9525">
              <a:solidFill>
                <a:schemeClr val="accent6"/>
              </a:solidFill>
            </a:ln>
          </p:spPr>
        </p:sp>
        <p:sp>
          <p:nvSpPr>
            <p:cNvPr id="48" name="Freeform 48"/>
            <p:cNvSpPr/>
            <p:nvPr/>
          </p:nvSpPr>
          <p:spPr>
            <a:xfrm>
              <a:off x="7924800" y="1333500"/>
              <a:ext cx="3486150" cy="400050"/>
            </a:xfrm>
            <a:custGeom>
              <a:avLst/>
              <a:gdLst/>
              <a:ahLst/>
              <a:cxnLst/>
              <a:rect l="l" t="t" r="r" b="b"/>
              <a:pathLst>
                <a:path w="3486150" h="400050">
                  <a:moveTo>
                    <a:pt x="0" y="76200"/>
                  </a:moveTo>
                  <a:cubicBezTo>
                    <a:pt x="0" y="25400"/>
                    <a:pt x="25400" y="0"/>
                    <a:pt x="76200" y="0"/>
                  </a:cubicBezTo>
                  <a:lnTo>
                    <a:pt x="3409950" y="0"/>
                  </a:lnTo>
                  <a:cubicBezTo>
                    <a:pt x="3460750" y="0"/>
                    <a:pt x="3486150" y="25400"/>
                    <a:pt x="3486150" y="76200"/>
                  </a:cubicBezTo>
                  <a:lnTo>
                    <a:pt x="3486150" y="400050"/>
                  </a:lnTo>
                  <a:lnTo>
                    <a:pt x="0" y="400050"/>
                  </a:lnTo>
                  <a:close/>
                </a:path>
              </a:pathLst>
            </a:custGeom>
            <a:solidFill>
              <a:srgbClr val="FFFBEB"/>
            </a:solidFill>
            <a:ln>
              <a:noFill/>
            </a:ln>
          </p:spPr>
        </p:sp>
        <p:sp>
          <p:nvSpPr>
            <p:cNvPr id="49" name="TextBox 49"/>
            <p:cNvSpPr txBox="1"/>
            <p:nvPr/>
          </p:nvSpPr>
          <p:spPr>
            <a:xfrm>
              <a:off x="8110538" y="1457325"/>
              <a:ext cx="2232770" cy="176212"/>
            </a:xfrm>
            <a:prstGeom prst="rect">
              <a:avLst/>
            </a:prstGeom>
            <a:noFill/>
            <a:ln>
              <a:noFill/>
            </a:ln>
          </p:spPr>
          <p:txBody>
            <a:bodyPr wrap="none" lIns="0" tIns="0" rIns="0" bIns="0" anchor="t" anchorCtr="0">
              <a:spAutoFit/>
            </a:bodyPr>
            <a:lstStyle/>
            <a:p>
              <a:pPr algn="l"/>
              <a:r>
                <a:rPr lang="en-US" sz="900" b="1" spc="75" dirty="0">
                  <a:solidFill>
                    <a:srgbClr val="92400E"/>
                  </a:solidFill>
                  <a:latin typeface="+mn-lt"/>
                  <a:ea typeface="+mn-ea"/>
                  <a:cs typeface="+mn-cs"/>
                </a:rPr>
                <a:t>TREASURY &amp; RISK COMMITTEES</a:t>
              </a:r>
            </a:p>
          </p:txBody>
        </p:sp>
        <p:sp>
          <p:nvSpPr>
            <p:cNvPr id="50" name="TextBox 50"/>
            <p:cNvSpPr txBox="1"/>
            <p:nvPr/>
          </p:nvSpPr>
          <p:spPr>
            <a:xfrm>
              <a:off x="8110538" y="1597025"/>
              <a:ext cx="1691966" cy="147638"/>
            </a:xfrm>
            <a:prstGeom prst="rect">
              <a:avLst/>
            </a:prstGeom>
            <a:noFill/>
            <a:ln>
              <a:noFill/>
            </a:ln>
          </p:spPr>
          <p:txBody>
            <a:bodyPr wrap="none" lIns="0" tIns="0" rIns="0" bIns="0" anchor="t" anchorCtr="0">
              <a:spAutoFit/>
            </a:bodyPr>
            <a:lstStyle/>
            <a:p>
              <a:pPr algn="l"/>
              <a:r>
                <a:rPr lang="en-US" sz="750" dirty="0">
                  <a:solidFill>
                    <a:srgbClr val="B45309"/>
                  </a:solidFill>
                  <a:latin typeface="+mn-lt"/>
                  <a:ea typeface="+mn-ea"/>
                  <a:cs typeface="+mn-cs"/>
                </a:rPr>
                <a:t>CFOs, CROs &amp; Enterprise Compliance</a:t>
              </a:r>
            </a:p>
          </p:txBody>
        </p:sp>
        <p:sp>
          <p:nvSpPr>
            <p:cNvPr id="51" name="Rectangle 51"/>
            <p:cNvSpPr/>
            <p:nvPr/>
          </p:nvSpPr>
          <p:spPr>
            <a:xfrm>
              <a:off x="8077200" y="1866900"/>
              <a:ext cx="3181350" cy="914400"/>
            </a:xfrm>
            <a:prstGeom prst="roundRect">
              <a:avLst>
                <a:gd name="adj" fmla="val 6250"/>
              </a:avLst>
            </a:prstGeom>
            <a:solidFill>
              <a:schemeClr val="lt1"/>
            </a:solidFill>
            <a:ln w="9525">
              <a:solidFill>
                <a:srgbClr val="E2E8F0"/>
              </a:solidFill>
            </a:ln>
          </p:spPr>
        </p:sp>
        <p:sp>
          <p:nvSpPr>
            <p:cNvPr id="52" name="TextBox 52"/>
            <p:cNvSpPr txBox="1"/>
            <p:nvPr/>
          </p:nvSpPr>
          <p:spPr>
            <a:xfrm>
              <a:off x="8186738" y="1962150"/>
              <a:ext cx="2044204" cy="176212"/>
            </a:xfrm>
            <a:prstGeom prst="rect">
              <a:avLst/>
            </a:prstGeom>
            <a:noFill/>
            <a:ln>
              <a:noFill/>
            </a:ln>
          </p:spPr>
          <p:txBody>
            <a:bodyPr wrap="none" lIns="0" tIns="0" rIns="0" bIns="0" anchor="t" anchorCtr="0">
              <a:spAutoFit/>
            </a:bodyPr>
            <a:lstStyle/>
            <a:p>
              <a:pPr algn="l"/>
              <a:r>
                <a:rPr lang="en-US" sz="900" b="1" dirty="0">
                  <a:solidFill>
                    <a:srgbClr val="92400E"/>
                  </a:solidFill>
                  <a:latin typeface="+mn-lt"/>
                  <a:ea typeface="+mn-ea"/>
                  <a:cs typeface="+mn-cs"/>
                </a:rPr>
                <a:t>Board-Ready Executive Dashboards</a:t>
              </a:r>
            </a:p>
          </p:txBody>
        </p:sp>
        <p:sp>
          <p:nvSpPr>
            <p:cNvPr id="53" name="TextBox 53"/>
            <p:cNvSpPr txBox="1"/>
            <p:nvPr/>
          </p:nvSpPr>
          <p:spPr>
            <a:xfrm>
              <a:off x="8186738" y="2152650"/>
              <a:ext cx="2400173" cy="466725"/>
            </a:xfrm>
            <a:prstGeom prst="rect">
              <a:avLst/>
            </a:prstGeom>
            <a:noFill/>
            <a:ln>
              <a:noFill/>
            </a:ln>
          </p:spPr>
          <p:txBody>
            <a:bodyPr wrap="none" lIns="0" tIns="0" rIns="0" bIns="0" anchor="t" anchorCtr="0">
              <a:spAutoFit/>
            </a:bodyPr>
            <a:lstStyle/>
            <a:p>
              <a:pPr algn="l">
                <a:lnSpc>
                  <a:spcPts val="1200"/>
                </a:lnSpc>
              </a:pPr>
              <a:r>
                <a:rPr lang="en-US" sz="820" dirty="0">
                  <a:solidFill>
                    <a:srgbClr val="334155"/>
                  </a:solidFill>
                  <a:latin typeface="+mn-lt"/>
                  <a:ea typeface="+mn-ea"/>
                  <a:cs typeface="+mn-cs"/>
                </a:rPr>
                <a:t>Replaces complex dense spreadsheets with clean,</a:t>
              </a:r>
              <a:br>
                <a:rPr lang="en-US" sz="820" dirty="0">
                  <a:solidFill>
                    <a:srgbClr val="334155"/>
                  </a:solidFill>
                  <a:latin typeface="+mn-lt"/>
                  <a:ea typeface="+mn-ea"/>
                  <a:cs typeface="+mn-cs"/>
                </a:rPr>
              </a:br>
              <a:r>
                <a:rPr lang="en-US" sz="820" dirty="0">
                  <a:solidFill>
                    <a:srgbClr val="334155"/>
                  </a:solidFill>
                  <a:latin typeface="+mn-lt"/>
                  <a:ea typeface="+mn-ea"/>
                  <a:cs typeface="+mn-cs"/>
                </a:rPr>
                <a:t>intuitive waterfall drawdowns and asset delta visuals</a:t>
              </a:r>
              <a:br>
                <a:rPr lang="en-US" sz="820" dirty="0">
                  <a:solidFill>
                    <a:srgbClr val="334155"/>
                  </a:solidFill>
                  <a:latin typeface="+mn-lt"/>
                  <a:ea typeface="+mn-ea"/>
                  <a:cs typeface="+mn-cs"/>
                </a:rPr>
              </a:br>
              <a:r>
                <a:rPr lang="en-US" sz="820" dirty="0">
                  <a:solidFill>
                    <a:srgbClr val="334155"/>
                  </a:solidFill>
                  <a:latin typeface="+mn-lt"/>
                  <a:ea typeface="+mn-ea"/>
                  <a:cs typeface="+mn-cs"/>
                </a:rPr>
                <a:t>designed for C-suite and board risk oversight.</a:t>
              </a:r>
            </a:p>
          </p:txBody>
        </p:sp>
        <p:sp>
          <p:nvSpPr>
            <p:cNvPr id="54" name="Rectangle 54"/>
            <p:cNvSpPr/>
            <p:nvPr/>
          </p:nvSpPr>
          <p:spPr>
            <a:xfrm>
              <a:off x="8077200" y="2895600"/>
              <a:ext cx="3181350" cy="914400"/>
            </a:xfrm>
            <a:prstGeom prst="roundRect">
              <a:avLst>
                <a:gd name="adj" fmla="val 6250"/>
              </a:avLst>
            </a:prstGeom>
            <a:solidFill>
              <a:schemeClr val="lt1"/>
            </a:solidFill>
            <a:ln w="9525">
              <a:solidFill>
                <a:srgbClr val="E2E8F0"/>
              </a:solidFill>
            </a:ln>
          </p:spPr>
        </p:sp>
        <p:sp>
          <p:nvSpPr>
            <p:cNvPr id="55" name="TextBox 55"/>
            <p:cNvSpPr txBox="1"/>
            <p:nvPr/>
          </p:nvSpPr>
          <p:spPr>
            <a:xfrm>
              <a:off x="8186738" y="2990850"/>
              <a:ext cx="2004576" cy="176212"/>
            </a:xfrm>
            <a:prstGeom prst="rect">
              <a:avLst/>
            </a:prstGeom>
            <a:noFill/>
            <a:ln>
              <a:noFill/>
            </a:ln>
          </p:spPr>
          <p:txBody>
            <a:bodyPr wrap="none" lIns="0" tIns="0" rIns="0" bIns="0" anchor="t" anchorCtr="0">
              <a:spAutoFit/>
            </a:bodyPr>
            <a:lstStyle/>
            <a:p>
              <a:pPr algn="l"/>
              <a:r>
                <a:rPr lang="en-US" sz="900" b="1" dirty="0">
                  <a:solidFill>
                    <a:srgbClr val="92400E"/>
                  </a:solidFill>
                  <a:latin typeface="+mn-lt"/>
                  <a:ea typeface="+mn-ea"/>
                  <a:cs typeface="+mn-cs"/>
                </a:rPr>
                <a:t>Basel III &amp; FRTB Audit Compliance</a:t>
              </a:r>
            </a:p>
          </p:txBody>
        </p:sp>
        <p:sp>
          <p:nvSpPr>
            <p:cNvPr id="56" name="TextBox 56"/>
            <p:cNvSpPr txBox="1"/>
            <p:nvPr/>
          </p:nvSpPr>
          <p:spPr>
            <a:xfrm>
              <a:off x="8186738" y="3181350"/>
              <a:ext cx="2280683" cy="466725"/>
            </a:xfrm>
            <a:prstGeom prst="rect">
              <a:avLst/>
            </a:prstGeom>
            <a:noFill/>
            <a:ln>
              <a:noFill/>
            </a:ln>
          </p:spPr>
          <p:txBody>
            <a:bodyPr wrap="none" lIns="0" tIns="0" rIns="0" bIns="0" anchor="t" anchorCtr="0">
              <a:spAutoFit/>
            </a:bodyPr>
            <a:lstStyle/>
            <a:p>
              <a:pPr algn="l">
                <a:lnSpc>
                  <a:spcPts val="1200"/>
                </a:lnSpc>
              </a:pPr>
              <a:r>
                <a:rPr lang="en-US" sz="820" dirty="0">
                  <a:solidFill>
                    <a:srgbClr val="334155"/>
                  </a:solidFill>
                  <a:latin typeface="+mn-lt"/>
                  <a:ea typeface="+mn-ea"/>
                  <a:cs typeface="+mn-cs"/>
                </a:rPr>
                <a:t>Standardized stress testing framework aligns with</a:t>
              </a:r>
              <a:br>
                <a:rPr lang="en-US" sz="820" dirty="0">
                  <a:solidFill>
                    <a:srgbClr val="334155"/>
                  </a:solidFill>
                  <a:latin typeface="+mn-lt"/>
                  <a:ea typeface="+mn-ea"/>
                  <a:cs typeface="+mn-cs"/>
                </a:rPr>
              </a:br>
              <a:r>
                <a:rPr lang="en-US" sz="820" dirty="0">
                  <a:solidFill>
                    <a:srgbClr val="334155"/>
                  </a:solidFill>
                  <a:latin typeface="+mn-lt"/>
                  <a:ea typeface="+mn-ea"/>
                  <a:cs typeface="+mn-cs"/>
                </a:rPr>
                <a:t>Fundamental Review of the Trading Book (FRTB)</a:t>
              </a:r>
              <a:br>
                <a:rPr lang="en-US" sz="820" dirty="0">
                  <a:solidFill>
                    <a:srgbClr val="334155"/>
                  </a:solidFill>
                  <a:latin typeface="+mn-lt"/>
                  <a:ea typeface="+mn-ea"/>
                  <a:cs typeface="+mn-cs"/>
                </a:rPr>
              </a:br>
              <a:r>
                <a:rPr lang="en-US" sz="820" dirty="0">
                  <a:solidFill>
                    <a:srgbClr val="334155"/>
                  </a:solidFill>
                  <a:latin typeface="+mn-lt"/>
                  <a:ea typeface="+mn-ea"/>
                  <a:cs typeface="+mn-cs"/>
                </a:rPr>
                <a:t>and IFRS 9 expected credit loss regulations.</a:t>
              </a:r>
            </a:p>
          </p:txBody>
        </p:sp>
        <p:sp>
          <p:nvSpPr>
            <p:cNvPr id="57" name="Rectangle 57"/>
            <p:cNvSpPr/>
            <p:nvPr/>
          </p:nvSpPr>
          <p:spPr>
            <a:xfrm>
              <a:off x="8077200" y="3924300"/>
              <a:ext cx="3181350" cy="914400"/>
            </a:xfrm>
            <a:prstGeom prst="roundRect">
              <a:avLst>
                <a:gd name="adj" fmla="val 6250"/>
              </a:avLst>
            </a:prstGeom>
            <a:solidFill>
              <a:schemeClr val="lt1"/>
            </a:solidFill>
            <a:ln w="9525">
              <a:solidFill>
                <a:srgbClr val="E2E8F0"/>
              </a:solidFill>
            </a:ln>
          </p:spPr>
        </p:sp>
        <p:sp>
          <p:nvSpPr>
            <p:cNvPr id="58" name="TextBox 58"/>
            <p:cNvSpPr txBox="1"/>
            <p:nvPr/>
          </p:nvSpPr>
          <p:spPr>
            <a:xfrm>
              <a:off x="8186738" y="4019550"/>
              <a:ext cx="2062409" cy="176212"/>
            </a:xfrm>
            <a:prstGeom prst="rect">
              <a:avLst/>
            </a:prstGeom>
            <a:noFill/>
            <a:ln>
              <a:noFill/>
            </a:ln>
          </p:spPr>
          <p:txBody>
            <a:bodyPr wrap="none" lIns="0" tIns="0" rIns="0" bIns="0" anchor="t" anchorCtr="0">
              <a:spAutoFit/>
            </a:bodyPr>
            <a:lstStyle/>
            <a:p>
              <a:pPr algn="l"/>
              <a:r>
                <a:rPr lang="en-US" sz="900" b="1" dirty="0">
                  <a:solidFill>
                    <a:srgbClr val="92400E"/>
                  </a:solidFill>
                  <a:latin typeface="+mn-lt"/>
                  <a:ea typeface="+mn-ea"/>
                  <a:cs typeface="+mn-cs"/>
                </a:rPr>
                <a:t>Supply Chain &amp; ESG Early Warnings</a:t>
              </a:r>
            </a:p>
          </p:txBody>
        </p:sp>
        <p:sp>
          <p:nvSpPr>
            <p:cNvPr id="59" name="TextBox 59"/>
            <p:cNvSpPr txBox="1"/>
            <p:nvPr/>
          </p:nvSpPr>
          <p:spPr>
            <a:xfrm>
              <a:off x="8186738" y="4210050"/>
              <a:ext cx="2486828" cy="466725"/>
            </a:xfrm>
            <a:prstGeom prst="rect">
              <a:avLst/>
            </a:prstGeom>
            <a:noFill/>
            <a:ln>
              <a:noFill/>
            </a:ln>
          </p:spPr>
          <p:txBody>
            <a:bodyPr wrap="none" lIns="0" tIns="0" rIns="0" bIns="0" anchor="t" anchorCtr="0">
              <a:spAutoFit/>
            </a:bodyPr>
            <a:lstStyle/>
            <a:p>
              <a:pPr algn="l">
                <a:lnSpc>
                  <a:spcPts val="1200"/>
                </a:lnSpc>
              </a:pPr>
              <a:r>
                <a:rPr lang="en-US" sz="820" dirty="0">
                  <a:solidFill>
                    <a:srgbClr val="334155"/>
                  </a:solidFill>
                  <a:latin typeface="+mn-lt"/>
                  <a:ea typeface="+mn-ea"/>
                  <a:cs typeface="+mn-cs"/>
                </a:rPr>
                <a:t>NLP taxonomy tracks supplier bankruptcies, ESG fines,</a:t>
              </a:r>
              <a:br>
                <a:rPr lang="en-US" sz="820" dirty="0">
                  <a:solidFill>
                    <a:srgbClr val="334155"/>
                  </a:solidFill>
                  <a:latin typeface="+mn-lt"/>
                  <a:ea typeface="+mn-ea"/>
                  <a:cs typeface="+mn-cs"/>
                </a:rPr>
              </a:br>
              <a:r>
                <a:rPr lang="en-US" sz="820" dirty="0">
                  <a:solidFill>
                    <a:srgbClr val="334155"/>
                  </a:solidFill>
                  <a:latin typeface="+mn-lt"/>
                  <a:ea typeface="+mn-ea"/>
                  <a:cs typeface="+mn-cs"/>
                </a:rPr>
                <a:t>and regulatory investigations before they manifest</a:t>
              </a:r>
              <a:br>
                <a:rPr lang="en-US" sz="820" dirty="0">
                  <a:solidFill>
                    <a:srgbClr val="334155"/>
                  </a:solidFill>
                  <a:latin typeface="+mn-lt"/>
                  <a:ea typeface="+mn-ea"/>
                  <a:cs typeface="+mn-cs"/>
                </a:rPr>
              </a:br>
              <a:r>
                <a:rPr lang="en-US" sz="820" dirty="0">
                  <a:solidFill>
                    <a:srgbClr val="334155"/>
                  </a:solidFill>
                  <a:latin typeface="+mn-lt"/>
                  <a:ea typeface="+mn-ea"/>
                  <a:cs typeface="+mn-cs"/>
                </a:rPr>
                <a:t>as commercial debt impairments.</a:t>
              </a:r>
            </a:p>
          </p:txBody>
        </p:sp>
        <p:sp>
          <p:nvSpPr>
            <p:cNvPr id="60" name="Rectangle 60"/>
            <p:cNvSpPr/>
            <p:nvPr/>
          </p:nvSpPr>
          <p:spPr>
            <a:xfrm>
              <a:off x="8077200" y="4953000"/>
              <a:ext cx="3181350" cy="1162050"/>
            </a:xfrm>
            <a:prstGeom prst="roundRect">
              <a:avLst>
                <a:gd name="adj" fmla="val 4918"/>
              </a:avLst>
            </a:prstGeom>
            <a:solidFill>
              <a:srgbClr val="FFFBEB"/>
            </a:solidFill>
            <a:ln w="9525">
              <a:solidFill>
                <a:srgbClr val="FDE68A"/>
              </a:solidFill>
            </a:ln>
          </p:spPr>
        </p:sp>
        <p:sp>
          <p:nvSpPr>
            <p:cNvPr id="61" name="TextBox 61"/>
            <p:cNvSpPr txBox="1"/>
            <p:nvPr/>
          </p:nvSpPr>
          <p:spPr>
            <a:xfrm>
              <a:off x="8186738" y="5099050"/>
              <a:ext cx="1748603" cy="161925"/>
            </a:xfrm>
            <a:prstGeom prst="rect">
              <a:avLst/>
            </a:prstGeom>
            <a:noFill/>
            <a:ln>
              <a:noFill/>
            </a:ln>
          </p:spPr>
          <p:txBody>
            <a:bodyPr wrap="none" lIns="0" tIns="0" rIns="0" bIns="0" anchor="t" anchorCtr="0">
              <a:spAutoFit/>
            </a:bodyPr>
            <a:lstStyle/>
            <a:p>
              <a:pPr algn="l"/>
              <a:r>
                <a:rPr lang="en-US" sz="820" b="1" dirty="0">
                  <a:solidFill>
                    <a:srgbClr val="92400E"/>
                  </a:solidFill>
                  <a:latin typeface="+mn-lt"/>
                  <a:ea typeface="+mn-ea"/>
                  <a:cs typeface="+mn-cs"/>
                </a:rPr>
                <a:t>GOVERNANCE &amp; AUDITABILITY</a:t>
              </a:r>
            </a:p>
          </p:txBody>
        </p:sp>
        <p:sp>
          <p:nvSpPr>
            <p:cNvPr id="62" name="TextBox 62"/>
            <p:cNvSpPr txBox="1"/>
            <p:nvPr/>
          </p:nvSpPr>
          <p:spPr>
            <a:xfrm>
              <a:off x="8182356" y="5327650"/>
              <a:ext cx="551383" cy="352044"/>
            </a:xfrm>
            <a:prstGeom prst="rect">
              <a:avLst/>
            </a:prstGeom>
            <a:noFill/>
            <a:ln>
              <a:noFill/>
            </a:ln>
          </p:spPr>
          <p:txBody>
            <a:bodyPr wrap="none" lIns="0" tIns="0" rIns="0" bIns="0" anchor="t" anchorCtr="0">
              <a:spAutoFit/>
            </a:bodyPr>
            <a:lstStyle/>
            <a:p>
              <a:pPr algn="l"/>
              <a:r>
                <a:rPr lang="en-US" sz="1800" b="1" dirty="0">
                  <a:solidFill>
                    <a:srgbClr val="B45309"/>
                  </a:solidFill>
                  <a:latin typeface="Consolas"/>
                  <a:ea typeface="Consolas"/>
                  <a:cs typeface="Consolas"/>
                </a:rPr>
                <a:t>100%</a:t>
              </a:r>
            </a:p>
          </p:txBody>
        </p:sp>
        <p:sp>
          <p:nvSpPr>
            <p:cNvPr id="63" name="TextBox 63"/>
            <p:cNvSpPr txBox="1"/>
            <p:nvPr/>
          </p:nvSpPr>
          <p:spPr>
            <a:xfrm>
              <a:off x="8186738" y="5670550"/>
              <a:ext cx="2122219" cy="161925"/>
            </a:xfrm>
            <a:prstGeom prst="rect">
              <a:avLst/>
            </a:prstGeom>
            <a:noFill/>
            <a:ln>
              <a:noFill/>
            </a:ln>
          </p:spPr>
          <p:txBody>
            <a:bodyPr wrap="none" lIns="0" tIns="0" rIns="0" bIns="0" anchor="t" anchorCtr="0">
              <a:spAutoFit/>
            </a:bodyPr>
            <a:lstStyle/>
            <a:p>
              <a:pPr marL="76200" indent="-76200" algn="l">
                <a:buClr>
                  <a:srgbClr val="334155"/>
                </a:buClr>
                <a:buSzTx/>
                <a:buFontTx/>
                <a:buChar char="•"/>
              </a:pPr>
              <a:r>
                <a:rPr lang="en-US" sz="820" dirty="0">
                  <a:solidFill>
                    <a:srgbClr val="334155"/>
                  </a:solidFill>
                  <a:latin typeface="+mn-lt"/>
                  <a:ea typeface="+mn-ea"/>
                  <a:cs typeface="+mn-cs"/>
                </a:rPr>
                <a:t>Reproducible math with zero LLM opacity</a:t>
              </a:r>
            </a:p>
          </p:txBody>
        </p:sp>
      </p:grpSp>
      <p:grpSp>
        <p:nvGrpSpPr>
          <p:cNvPr id="69" name="footer"/>
          <p:cNvGrpSpPr/>
          <p:nvPr/>
        </p:nvGrpSpPr>
        <p:grpSpPr>
          <a:xfrm>
            <a:off x="566738" y="6381750"/>
            <a:ext cx="11058524" cy="288925"/>
            <a:chOff x="566738" y="6381750"/>
            <a:chExt cx="11058524" cy="288925"/>
          </a:xfrm>
        </p:grpSpPr>
        <p:sp>
          <p:nvSpPr>
            <p:cNvPr id="66" name="Line 66"/>
            <p:cNvSpPr/>
            <p:nvPr/>
          </p:nvSpPr>
          <p:spPr>
            <a:xfrm>
              <a:off x="571500" y="6381750"/>
              <a:ext cx="11049000" cy="9525"/>
            </a:xfrm>
            <a:custGeom>
              <a:avLst/>
              <a:gdLst/>
              <a:ahLst/>
              <a:cxnLst/>
              <a:rect l="l" t="t" r="r" b="b"/>
              <a:pathLst>
                <a:path w="11049000" h="9525">
                  <a:moveTo>
                    <a:pt x="0" y="0"/>
                  </a:moveTo>
                  <a:lnTo>
                    <a:pt x="11049000" y="0"/>
                  </a:lnTo>
                </a:path>
              </a:pathLst>
            </a:custGeom>
            <a:noFill/>
            <a:ln w="9525">
              <a:solidFill>
                <a:srgbClr val="E2E8F0"/>
              </a:solidFill>
            </a:ln>
          </p:spPr>
        </p:sp>
        <p:sp>
          <p:nvSpPr>
            <p:cNvPr id="67" name="TextBox 67"/>
            <p:cNvSpPr txBox="1"/>
            <p:nvPr/>
          </p:nvSpPr>
          <p:spPr>
            <a:xfrm>
              <a:off x="566738" y="6508750"/>
              <a:ext cx="3866403" cy="161925"/>
            </a:xfrm>
            <a:prstGeom prst="rect">
              <a:avLst/>
            </a:prstGeom>
            <a:noFill/>
            <a:ln>
              <a:noFill/>
            </a:ln>
          </p:spPr>
          <p:txBody>
            <a:bodyPr wrap="none" lIns="0" tIns="0" rIns="0" bIns="0" anchor="t" anchorCtr="0">
              <a:spAutoFit/>
            </a:bodyPr>
            <a:lstStyle/>
            <a:p>
              <a:pPr algn="l"/>
              <a:r>
                <a:rPr lang="en-US" sz="820" dirty="0">
                  <a:solidFill>
                    <a:srgbClr val="64748B"/>
                  </a:solidFill>
                  <a:latin typeface="+mn-lt"/>
                  <a:ea typeface="+mn-ea"/>
                  <a:cs typeface="+mn-cs"/>
                </a:rPr>
                <a:t>S&amp;P Global &amp; CRISIL Campus Hackathon 2026 | Candidate: Mritunjay Senapati</a:t>
              </a:r>
            </a:p>
          </p:txBody>
        </p:sp>
        <p:sp>
          <p:nvSpPr>
            <p:cNvPr id="68" name="TextBox 68"/>
            <p:cNvSpPr txBox="1"/>
            <p:nvPr/>
          </p:nvSpPr>
          <p:spPr>
            <a:xfrm>
              <a:off x="8610547" y="6508750"/>
              <a:ext cx="3014715" cy="161925"/>
            </a:xfrm>
            <a:prstGeom prst="rect">
              <a:avLst/>
            </a:prstGeom>
            <a:noFill/>
            <a:ln>
              <a:noFill/>
            </a:ln>
          </p:spPr>
          <p:txBody>
            <a:bodyPr wrap="none" lIns="0" tIns="0" rIns="0" bIns="0" anchor="t" anchorCtr="0">
              <a:spAutoFit/>
            </a:bodyPr>
            <a:lstStyle/>
            <a:p>
              <a:pPr algn="r"/>
              <a:r>
                <a:rPr lang="en-US" sz="820" dirty="0">
                  <a:solidFill>
                    <a:srgbClr val="64748B"/>
                  </a:solidFill>
                  <a:latin typeface="+mn-lt"/>
                  <a:ea typeface="+mn-ea"/>
                  <a:cs typeface="+mn-cs"/>
                </a:rPr>
                <a:t>Module B: Enterprise Domain Impact &amp; Stakeholder Personas</a:t>
              </a:r>
            </a:p>
          </p:txBody>
        </p:sp>
      </p:gr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header"/>
          <p:cNvGrpSpPr/>
          <p:nvPr/>
        </p:nvGrpSpPr>
        <p:grpSpPr>
          <a:xfrm>
            <a:off x="566738" y="355600"/>
            <a:ext cx="11058524" cy="206375"/>
            <a:chOff x="566738" y="355600"/>
            <a:chExt cx="11058524" cy="206375"/>
          </a:xfrm>
        </p:grpSpPr>
        <p:sp>
          <p:nvSpPr>
            <p:cNvPr id="2" name="TextBox 2"/>
            <p:cNvSpPr txBox="1"/>
            <p:nvPr/>
          </p:nvSpPr>
          <p:spPr>
            <a:xfrm>
              <a:off x="566738" y="355600"/>
              <a:ext cx="5192747" cy="161925"/>
            </a:xfrm>
            <a:prstGeom prst="rect">
              <a:avLst/>
            </a:prstGeom>
            <a:noFill/>
            <a:ln>
              <a:noFill/>
            </a:ln>
          </p:spPr>
          <p:txBody>
            <a:bodyPr wrap="none" lIns="0" tIns="0" rIns="0" bIns="0" anchor="t" anchorCtr="0">
              <a:spAutoFit/>
            </a:bodyPr>
            <a:lstStyle/>
            <a:p>
              <a:pPr algn="l"/>
              <a:r>
                <a:rPr lang="en-US" sz="820" b="1" spc="112" dirty="0">
                  <a:solidFill>
                    <a:schemeClr val="accent1"/>
                  </a:solidFill>
                  <a:latin typeface="+mn-lt"/>
                  <a:ea typeface="+mn-ea"/>
                  <a:cs typeface="+mn-cs"/>
                </a:rPr>
                <a:t>S&amp;P GLOBAL &amp; CRISIL CAMPUS HACKATHON | MODULE B: STRESS TESTING</a:t>
              </a:r>
            </a:p>
          </p:txBody>
        </p:sp>
        <p:sp>
          <p:nvSpPr>
            <p:cNvPr id="3" name="TextBox 3"/>
            <p:cNvSpPr txBox="1"/>
            <p:nvPr/>
          </p:nvSpPr>
          <p:spPr>
            <a:xfrm>
              <a:off x="10889090" y="355600"/>
              <a:ext cx="736172" cy="161925"/>
            </a:xfrm>
            <a:prstGeom prst="rect">
              <a:avLst/>
            </a:prstGeom>
            <a:noFill/>
            <a:ln>
              <a:noFill/>
            </a:ln>
          </p:spPr>
          <p:txBody>
            <a:bodyPr wrap="none" lIns="0" tIns="0" rIns="0" bIns="0" anchor="t" anchorCtr="0">
              <a:spAutoFit/>
            </a:bodyPr>
            <a:lstStyle/>
            <a:p>
              <a:pPr algn="r"/>
              <a:r>
                <a:rPr lang="en-US" sz="820" b="1" dirty="0">
                  <a:solidFill>
                    <a:srgbClr val="64748B"/>
                  </a:solidFill>
                  <a:latin typeface="+mn-lt"/>
                  <a:ea typeface="+mn-ea"/>
                  <a:cs typeface="+mn-cs"/>
                </a:rPr>
                <a:t>SLIDE 07 / 07</a:t>
              </a:r>
            </a:p>
          </p:txBody>
        </p:sp>
        <p:sp>
          <p:nvSpPr>
            <p:cNvPr id="4" name="Line 4"/>
            <p:cNvSpPr/>
            <p:nvPr/>
          </p:nvSpPr>
          <p:spPr>
            <a:xfrm>
              <a:off x="571500" y="552450"/>
              <a:ext cx="11049000" cy="9525"/>
            </a:xfrm>
            <a:custGeom>
              <a:avLst/>
              <a:gdLst/>
              <a:ahLst/>
              <a:cxnLst/>
              <a:rect l="l" t="t" r="r" b="b"/>
              <a:pathLst>
                <a:path w="11049000" h="9525">
                  <a:moveTo>
                    <a:pt x="0" y="0"/>
                  </a:moveTo>
                  <a:lnTo>
                    <a:pt x="11049000" y="0"/>
                  </a:lnTo>
                </a:path>
              </a:pathLst>
            </a:custGeom>
            <a:noFill/>
            <a:ln w="9525">
              <a:solidFill>
                <a:srgbClr val="E2E8F0"/>
              </a:solidFill>
            </a:ln>
          </p:spPr>
        </p:sp>
      </p:grpSp>
      <p:grpSp>
        <p:nvGrpSpPr>
          <p:cNvPr id="8" name="title-block"/>
          <p:cNvGrpSpPr/>
          <p:nvPr/>
        </p:nvGrpSpPr>
        <p:grpSpPr>
          <a:xfrm>
            <a:off x="559308" y="641350"/>
            <a:ext cx="8003156" cy="599059"/>
            <a:chOff x="559308" y="641350"/>
            <a:chExt cx="8003156" cy="599059"/>
          </a:xfrm>
        </p:grpSpPr>
        <p:sp>
          <p:nvSpPr>
            <p:cNvPr id="6" name="TextBox 6"/>
            <p:cNvSpPr txBox="1"/>
            <p:nvPr/>
          </p:nvSpPr>
          <p:spPr>
            <a:xfrm>
              <a:off x="559308" y="641350"/>
              <a:ext cx="8003156" cy="469392"/>
            </a:xfrm>
            <a:prstGeom prst="rect">
              <a:avLst/>
            </a:prstGeom>
            <a:noFill/>
            <a:ln>
              <a:noFill/>
            </a:ln>
          </p:spPr>
          <p:txBody>
            <a:bodyPr wrap="none" lIns="0" tIns="0" rIns="0" bIns="0" anchor="t" anchorCtr="0">
              <a:spAutoFit/>
            </a:bodyPr>
            <a:lstStyle/>
            <a:p>
              <a:pPr algn="l"/>
              <a:r>
                <a:rPr lang="en-US" sz="2400" b="1" dirty="0">
                  <a:solidFill>
                    <a:schemeClr val="dk1"/>
                  </a:solidFill>
                  <a:latin typeface="+mn-lt"/>
                  <a:ea typeface="+mn-ea"/>
                  <a:cs typeface="+mn-cs"/>
                </a:rPr>
                <a:t>Assumptions, Limitations &amp; Strategic Improvements</a:t>
              </a:r>
            </a:p>
          </p:txBody>
        </p:sp>
        <p:sp>
          <p:nvSpPr>
            <p:cNvPr id="7" name="TextBox 7"/>
            <p:cNvSpPr txBox="1"/>
            <p:nvPr/>
          </p:nvSpPr>
          <p:spPr>
            <a:xfrm>
              <a:off x="566166" y="1035050"/>
              <a:ext cx="6263360" cy="205359"/>
            </a:xfrm>
            <a:prstGeom prst="rect">
              <a:avLst/>
            </a:prstGeom>
            <a:noFill/>
            <a:ln>
              <a:noFill/>
            </a:ln>
          </p:spPr>
          <p:txBody>
            <a:bodyPr wrap="none" lIns="0" tIns="0" rIns="0" bIns="0" anchor="t" anchorCtr="0">
              <a:spAutoFit/>
            </a:bodyPr>
            <a:lstStyle/>
            <a:p>
              <a:pPr algn="l"/>
              <a:r>
                <a:rPr lang="en-US" sz="1050" dirty="0">
                  <a:solidFill>
                    <a:schemeClr val="accent5"/>
                  </a:solidFill>
                  <a:latin typeface="+mn-lt"/>
                  <a:ea typeface="+mn-ea"/>
                  <a:cs typeface="+mn-cs"/>
                </a:rPr>
                <a:t>Transparent Engineering Decisions (A1–A8) &amp; High-Impact Strategic Capability Enhancement Points</a:t>
              </a:r>
            </a:p>
          </p:txBody>
        </p:sp>
      </p:grpSp>
      <p:grpSp>
        <p:nvGrpSpPr>
          <p:cNvPr id="36" name="col-assumptions"/>
          <p:cNvGrpSpPr/>
          <p:nvPr/>
        </p:nvGrpSpPr>
        <p:grpSpPr>
          <a:xfrm>
            <a:off x="571500" y="1333500"/>
            <a:ext cx="5334000" cy="4933950"/>
            <a:chOff x="571500" y="1333500"/>
            <a:chExt cx="5334000" cy="4933950"/>
          </a:xfrm>
        </p:grpSpPr>
        <p:sp>
          <p:nvSpPr>
            <p:cNvPr id="9" name="Rectangle 9"/>
            <p:cNvSpPr/>
            <p:nvPr/>
          </p:nvSpPr>
          <p:spPr>
            <a:xfrm>
              <a:off x="571500" y="1333500"/>
              <a:ext cx="5334000" cy="4933950"/>
            </a:xfrm>
            <a:prstGeom prst="roundRect">
              <a:avLst>
                <a:gd name="adj" fmla="val 1544"/>
              </a:avLst>
            </a:prstGeom>
            <a:solidFill>
              <a:srgbClr val="FFFFFF"/>
            </a:solidFill>
            <a:ln w="9525">
              <a:solidFill>
                <a:schemeClr val="accent6"/>
              </a:solidFill>
            </a:ln>
          </p:spPr>
        </p:sp>
        <p:sp>
          <p:nvSpPr>
            <p:cNvPr id="10" name="Freeform 10"/>
            <p:cNvSpPr/>
            <p:nvPr/>
          </p:nvSpPr>
          <p:spPr>
            <a:xfrm>
              <a:off x="571500" y="1333500"/>
              <a:ext cx="5334000" cy="400050"/>
            </a:xfrm>
            <a:custGeom>
              <a:avLst/>
              <a:gdLst/>
              <a:ahLst/>
              <a:cxnLst/>
              <a:rect l="l" t="t" r="r" b="b"/>
              <a:pathLst>
                <a:path w="5334000" h="400050">
                  <a:moveTo>
                    <a:pt x="0" y="76200"/>
                  </a:moveTo>
                  <a:cubicBezTo>
                    <a:pt x="0" y="25400"/>
                    <a:pt x="25400" y="0"/>
                    <a:pt x="76200" y="0"/>
                  </a:cubicBezTo>
                  <a:lnTo>
                    <a:pt x="5257800" y="0"/>
                  </a:lnTo>
                  <a:cubicBezTo>
                    <a:pt x="5308600" y="0"/>
                    <a:pt x="5334000" y="25400"/>
                    <a:pt x="5334000" y="76200"/>
                  </a:cubicBezTo>
                  <a:lnTo>
                    <a:pt x="5334000" y="400050"/>
                  </a:lnTo>
                  <a:lnTo>
                    <a:pt x="0" y="400050"/>
                  </a:lnTo>
                  <a:close/>
                </a:path>
              </a:pathLst>
            </a:custGeom>
            <a:solidFill>
              <a:srgbClr val="EFF6FF"/>
            </a:solidFill>
            <a:ln>
              <a:noFill/>
            </a:ln>
          </p:spPr>
        </p:sp>
        <p:sp>
          <p:nvSpPr>
            <p:cNvPr id="11" name="TextBox 11"/>
            <p:cNvSpPr txBox="1"/>
            <p:nvPr/>
          </p:nvSpPr>
          <p:spPr>
            <a:xfrm>
              <a:off x="757238" y="1457325"/>
              <a:ext cx="3699659" cy="176212"/>
            </a:xfrm>
            <a:prstGeom prst="rect">
              <a:avLst/>
            </a:prstGeom>
            <a:noFill/>
            <a:ln>
              <a:noFill/>
            </a:ln>
          </p:spPr>
          <p:txBody>
            <a:bodyPr wrap="none" lIns="0" tIns="0" rIns="0" bIns="0" anchor="t" anchorCtr="0">
              <a:spAutoFit/>
            </a:bodyPr>
            <a:lstStyle/>
            <a:p>
              <a:pPr algn="l"/>
              <a:r>
                <a:rPr lang="en-US" sz="900" b="1" spc="75" dirty="0">
                  <a:solidFill>
                    <a:schemeClr val="accent1"/>
                  </a:solidFill>
                  <a:latin typeface="+mn-lt"/>
                  <a:ea typeface="+mn-ea"/>
                  <a:cs typeface="+mn-cs"/>
                </a:rPr>
                <a:t>DOCUMENTED ASSUMPTIONS &amp; RATIONALE (A1–A8)</a:t>
              </a:r>
            </a:p>
          </p:txBody>
        </p:sp>
        <p:sp>
          <p:nvSpPr>
            <p:cNvPr id="12" name="TextBox 12"/>
            <p:cNvSpPr txBox="1"/>
            <p:nvPr/>
          </p:nvSpPr>
          <p:spPr>
            <a:xfrm>
              <a:off x="757238" y="1597025"/>
              <a:ext cx="2934203" cy="147638"/>
            </a:xfrm>
            <a:prstGeom prst="rect">
              <a:avLst/>
            </a:prstGeom>
            <a:noFill/>
            <a:ln>
              <a:noFill/>
            </a:ln>
          </p:spPr>
          <p:txBody>
            <a:bodyPr wrap="none" lIns="0" tIns="0" rIns="0" bIns="0" anchor="t" anchorCtr="0">
              <a:spAutoFit/>
            </a:bodyPr>
            <a:lstStyle/>
            <a:p>
              <a:pPr algn="l"/>
              <a:r>
                <a:rPr lang="en-US" sz="750" dirty="0">
                  <a:solidFill>
                    <a:srgbClr val="2563EB"/>
                  </a:solidFill>
                  <a:latin typeface="+mn-lt"/>
                  <a:ea typeface="+mn-ea"/>
                  <a:cs typeface="+mn-cs"/>
                </a:rPr>
                <a:t>Explicit Architectural Choices for Sub-75ms Ingestion &amp; Valuation</a:t>
              </a:r>
            </a:p>
          </p:txBody>
        </p:sp>
        <p:sp>
          <p:nvSpPr>
            <p:cNvPr id="13" name="Rectangle 13"/>
            <p:cNvSpPr/>
            <p:nvPr/>
          </p:nvSpPr>
          <p:spPr>
            <a:xfrm>
              <a:off x="723900" y="1847850"/>
              <a:ext cx="5029200" cy="609600"/>
            </a:xfrm>
            <a:prstGeom prst="roundRect">
              <a:avLst>
                <a:gd name="adj" fmla="val 9375"/>
              </a:avLst>
            </a:prstGeom>
            <a:solidFill>
              <a:schemeClr val="lt1"/>
            </a:solidFill>
            <a:ln w="9525">
              <a:solidFill>
                <a:srgbClr val="E2E8F0"/>
              </a:solidFill>
            </a:ln>
          </p:spPr>
        </p:sp>
        <p:sp>
          <p:nvSpPr>
            <p:cNvPr id="14" name="TextBox 14"/>
            <p:cNvSpPr txBox="1"/>
            <p:nvPr/>
          </p:nvSpPr>
          <p:spPr>
            <a:xfrm>
              <a:off x="833438" y="1924050"/>
              <a:ext cx="2266459" cy="176212"/>
            </a:xfrm>
            <a:prstGeom prst="rect">
              <a:avLst/>
            </a:prstGeom>
            <a:noFill/>
            <a:ln>
              <a:noFill/>
            </a:ln>
          </p:spPr>
          <p:txBody>
            <a:bodyPr wrap="none" lIns="0" tIns="0" rIns="0" bIns="0" anchor="t" anchorCtr="0">
              <a:spAutoFit/>
            </a:bodyPr>
            <a:lstStyle/>
            <a:p>
              <a:pPr algn="l"/>
              <a:r>
                <a:rPr lang="en-US" sz="900" b="1" dirty="0">
                  <a:solidFill>
                    <a:schemeClr val="accent1"/>
                  </a:solidFill>
                  <a:latin typeface="+mn-lt"/>
                  <a:ea typeface="+mn-ea"/>
                  <a:cs typeface="+mn-cs"/>
                </a:rPr>
                <a:t>A1: Auto-Trigger on Impact Score &gt;= 7</a:t>
              </a:r>
            </a:p>
          </p:txBody>
        </p:sp>
        <p:sp>
          <p:nvSpPr>
            <p:cNvPr id="15" name="TextBox 15"/>
            <p:cNvSpPr txBox="1"/>
            <p:nvPr/>
          </p:nvSpPr>
          <p:spPr>
            <a:xfrm>
              <a:off x="833438" y="2108200"/>
              <a:ext cx="4419174" cy="161925"/>
            </a:xfrm>
            <a:prstGeom prst="rect">
              <a:avLst/>
            </a:prstGeom>
            <a:noFill/>
            <a:ln>
              <a:noFill/>
            </a:ln>
          </p:spPr>
          <p:txBody>
            <a:bodyPr wrap="none" lIns="0" tIns="0" rIns="0" bIns="0" anchor="t" anchorCtr="0">
              <a:spAutoFit/>
            </a:bodyPr>
            <a:lstStyle/>
            <a:p>
              <a:pPr algn="l"/>
              <a:r>
                <a:rPr lang="en-US" sz="820" dirty="0">
                  <a:solidFill>
                    <a:srgbClr val="334155"/>
                  </a:solidFill>
                  <a:latin typeface="+mn-lt"/>
                  <a:ea typeface="+mn-ea"/>
                  <a:cs typeface="+mn-cs"/>
                </a:rPr>
                <a:t>Guarantees automated, immediate stress execution on severe geopolitical and credit crises</a:t>
              </a:r>
            </a:p>
          </p:txBody>
        </p:sp>
        <p:sp>
          <p:nvSpPr>
            <p:cNvPr id="16" name="TextBox 16"/>
            <p:cNvSpPr txBox="1"/>
            <p:nvPr/>
          </p:nvSpPr>
          <p:spPr>
            <a:xfrm>
              <a:off x="833438" y="2260600"/>
              <a:ext cx="3494123" cy="161925"/>
            </a:xfrm>
            <a:prstGeom prst="rect">
              <a:avLst/>
            </a:prstGeom>
            <a:noFill/>
            <a:ln>
              <a:noFill/>
            </a:ln>
          </p:spPr>
          <p:txBody>
            <a:bodyPr wrap="none" lIns="0" tIns="0" rIns="0" bIns="0" anchor="t" anchorCtr="0">
              <a:spAutoFit/>
            </a:bodyPr>
            <a:lstStyle/>
            <a:p>
              <a:pPr algn="l"/>
              <a:r>
                <a:rPr lang="en-US" sz="820" dirty="0">
                  <a:solidFill>
                    <a:srgbClr val="64748B"/>
                  </a:solidFill>
                  <a:latin typeface="+mn-lt"/>
                  <a:ea typeface="+mn-ea"/>
                  <a:cs typeface="+mn-cs"/>
                </a:rPr>
                <a:t>without requiring manual human intervention during market contagion.</a:t>
              </a:r>
            </a:p>
          </p:txBody>
        </p:sp>
        <p:sp>
          <p:nvSpPr>
            <p:cNvPr id="17" name="Rectangle 17"/>
            <p:cNvSpPr/>
            <p:nvPr/>
          </p:nvSpPr>
          <p:spPr>
            <a:xfrm>
              <a:off x="723900" y="2533650"/>
              <a:ext cx="5029200" cy="609600"/>
            </a:xfrm>
            <a:prstGeom prst="roundRect">
              <a:avLst>
                <a:gd name="adj" fmla="val 9375"/>
              </a:avLst>
            </a:prstGeom>
            <a:solidFill>
              <a:schemeClr val="lt1"/>
            </a:solidFill>
            <a:ln w="9525">
              <a:solidFill>
                <a:srgbClr val="E2E8F0"/>
              </a:solidFill>
            </a:ln>
          </p:spPr>
        </p:sp>
        <p:sp>
          <p:nvSpPr>
            <p:cNvPr id="18" name="TextBox 18"/>
            <p:cNvSpPr txBox="1"/>
            <p:nvPr/>
          </p:nvSpPr>
          <p:spPr>
            <a:xfrm>
              <a:off x="833438" y="2609850"/>
              <a:ext cx="2671390" cy="176212"/>
            </a:xfrm>
            <a:prstGeom prst="rect">
              <a:avLst/>
            </a:prstGeom>
            <a:noFill/>
            <a:ln>
              <a:noFill/>
            </a:ln>
          </p:spPr>
          <p:txBody>
            <a:bodyPr wrap="none" lIns="0" tIns="0" rIns="0" bIns="0" anchor="t" anchorCtr="0">
              <a:spAutoFit/>
            </a:bodyPr>
            <a:lstStyle/>
            <a:p>
              <a:pPr algn="l"/>
              <a:r>
                <a:rPr lang="en-US" sz="900" b="1" dirty="0">
                  <a:solidFill>
                    <a:schemeClr val="accent1"/>
                  </a:solidFill>
                  <a:latin typeface="+mn-lt"/>
                  <a:ea typeface="+mn-ea"/>
                  <a:cs typeface="+mn-cs"/>
                </a:rPr>
                <a:t>A2 &amp; A3: Standardized NLP &amp; Scoring Bounds</a:t>
              </a:r>
            </a:p>
          </p:txBody>
        </p:sp>
        <p:sp>
          <p:nvSpPr>
            <p:cNvPr id="19" name="TextBox 19"/>
            <p:cNvSpPr txBox="1"/>
            <p:nvPr/>
          </p:nvSpPr>
          <p:spPr>
            <a:xfrm>
              <a:off x="833438" y="2794000"/>
              <a:ext cx="4391299" cy="161925"/>
            </a:xfrm>
            <a:prstGeom prst="rect">
              <a:avLst/>
            </a:prstGeom>
            <a:noFill/>
            <a:ln>
              <a:noFill/>
            </a:ln>
          </p:spPr>
          <p:txBody>
            <a:bodyPr wrap="none" lIns="0" tIns="0" rIns="0" bIns="0" anchor="t" anchorCtr="0">
              <a:spAutoFit/>
            </a:bodyPr>
            <a:lstStyle/>
            <a:p>
              <a:pPr algn="l"/>
              <a:r>
                <a:rPr lang="en-US" sz="820" dirty="0">
                  <a:solidFill>
                    <a:srgbClr val="334155"/>
                  </a:solidFill>
                  <a:latin typeface="+mn-lt"/>
                  <a:ea typeface="+mn-ea"/>
                  <a:cs typeface="+mn-cs"/>
                </a:rPr>
                <a:t>Impact Score 1–10 (integer); FinBERT Sentiment [-1.0, +1.0] computed via P(pos) - P(neg).</a:t>
              </a:r>
            </a:p>
          </p:txBody>
        </p:sp>
        <p:sp>
          <p:nvSpPr>
            <p:cNvPr id="20" name="TextBox 20"/>
            <p:cNvSpPr txBox="1"/>
            <p:nvPr/>
          </p:nvSpPr>
          <p:spPr>
            <a:xfrm>
              <a:off x="833438" y="2946400"/>
              <a:ext cx="3970924" cy="161925"/>
            </a:xfrm>
            <a:prstGeom prst="rect">
              <a:avLst/>
            </a:prstGeom>
            <a:noFill/>
            <a:ln>
              <a:noFill/>
            </a:ln>
          </p:spPr>
          <p:txBody>
            <a:bodyPr wrap="none" lIns="0" tIns="0" rIns="0" bIns="0" anchor="t" anchorCtr="0">
              <a:spAutoFit/>
            </a:bodyPr>
            <a:lstStyle/>
            <a:p>
              <a:pPr algn="l"/>
              <a:r>
                <a:rPr lang="en-US" sz="820" dirty="0">
                  <a:solidFill>
                    <a:srgbClr val="64748B"/>
                  </a:solidFill>
                  <a:latin typeface="+mn-lt"/>
                  <a:ea typeface="+mn-ea"/>
                  <a:cs typeface="+mn-cs"/>
                </a:rPr>
                <a:t>Negative polarity denotes market risk; positive polarity indicates risk-off recovery.</a:t>
              </a:r>
            </a:p>
          </p:txBody>
        </p:sp>
        <p:sp>
          <p:nvSpPr>
            <p:cNvPr id="21" name="Rectangle 21"/>
            <p:cNvSpPr/>
            <p:nvPr/>
          </p:nvSpPr>
          <p:spPr>
            <a:xfrm>
              <a:off x="723900" y="3219450"/>
              <a:ext cx="5029200" cy="609600"/>
            </a:xfrm>
            <a:prstGeom prst="roundRect">
              <a:avLst>
                <a:gd name="adj" fmla="val 9375"/>
              </a:avLst>
            </a:prstGeom>
            <a:solidFill>
              <a:schemeClr val="lt1"/>
            </a:solidFill>
            <a:ln w="9525">
              <a:solidFill>
                <a:srgbClr val="E2E8F0"/>
              </a:solidFill>
            </a:ln>
          </p:spPr>
        </p:sp>
        <p:sp>
          <p:nvSpPr>
            <p:cNvPr id="22" name="TextBox 22"/>
            <p:cNvSpPr txBox="1"/>
            <p:nvPr/>
          </p:nvSpPr>
          <p:spPr>
            <a:xfrm>
              <a:off x="833438" y="3295650"/>
              <a:ext cx="3351831" cy="176212"/>
            </a:xfrm>
            <a:prstGeom prst="rect">
              <a:avLst/>
            </a:prstGeom>
            <a:noFill/>
            <a:ln>
              <a:noFill/>
            </a:ln>
          </p:spPr>
          <p:txBody>
            <a:bodyPr wrap="none" lIns="0" tIns="0" rIns="0" bIns="0" anchor="t" anchorCtr="0">
              <a:spAutoFit/>
            </a:bodyPr>
            <a:lstStyle/>
            <a:p>
              <a:pPr algn="l"/>
              <a:r>
                <a:rPr lang="en-US" sz="900" b="1" dirty="0">
                  <a:solidFill>
                    <a:schemeClr val="accent1"/>
                  </a:solidFill>
                  <a:latin typeface="+mn-lt"/>
                  <a:ea typeface="+mn-ea"/>
                  <a:cs typeface="+mn-cs"/>
                </a:rPr>
                <a:t>A4 &amp; A5: Notional Valuation &amp; Predefined Shock Regimes</a:t>
              </a:r>
            </a:p>
          </p:txBody>
        </p:sp>
        <p:sp>
          <p:nvSpPr>
            <p:cNvPr id="23" name="TextBox 23"/>
            <p:cNvSpPr txBox="1"/>
            <p:nvPr/>
          </p:nvSpPr>
          <p:spPr>
            <a:xfrm>
              <a:off x="833438" y="3479800"/>
              <a:ext cx="3863272" cy="161925"/>
            </a:xfrm>
            <a:prstGeom prst="rect">
              <a:avLst/>
            </a:prstGeom>
            <a:noFill/>
            <a:ln>
              <a:noFill/>
            </a:ln>
          </p:spPr>
          <p:txBody>
            <a:bodyPr wrap="none" lIns="0" tIns="0" rIns="0" bIns="0" anchor="t" anchorCtr="0">
              <a:spAutoFit/>
            </a:bodyPr>
            <a:lstStyle/>
            <a:p>
              <a:pPr algn="l"/>
              <a:r>
                <a:rPr lang="en-US" sz="820" dirty="0">
                  <a:solidFill>
                    <a:srgbClr val="334155"/>
                  </a:solidFill>
                  <a:latin typeface="+mn-lt"/>
                  <a:ea typeface="+mn-ea"/>
                  <a:cs typeface="+mn-cs"/>
                </a:rPr>
                <a:t>Portfolio valuation scoped to $585M notional AUM; 7 calibrated shock regimes</a:t>
              </a:r>
            </a:p>
          </p:txBody>
        </p:sp>
        <p:sp>
          <p:nvSpPr>
            <p:cNvPr id="24" name="TextBox 24"/>
            <p:cNvSpPr txBox="1"/>
            <p:nvPr/>
          </p:nvSpPr>
          <p:spPr>
            <a:xfrm>
              <a:off x="833438" y="3632200"/>
              <a:ext cx="4770653" cy="161925"/>
            </a:xfrm>
            <a:prstGeom prst="rect">
              <a:avLst/>
            </a:prstGeom>
            <a:noFill/>
            <a:ln>
              <a:noFill/>
            </a:ln>
          </p:spPr>
          <p:txBody>
            <a:bodyPr wrap="none" lIns="0" tIns="0" rIns="0" bIns="0" anchor="t" anchorCtr="0">
              <a:spAutoFit/>
            </a:bodyPr>
            <a:lstStyle/>
            <a:p>
              <a:pPr algn="l"/>
              <a:r>
                <a:rPr lang="en-US" sz="820" dirty="0">
                  <a:solidFill>
                    <a:srgbClr val="64748B"/>
                  </a:solidFill>
                  <a:latin typeface="+mn-lt"/>
                  <a:ea typeface="+mn-ea"/>
                  <a:cs typeface="+mn-cs"/>
                </a:rPr>
                <a:t>(Geopolitical, Credit Crunch, etc.) eliminate tick-level noise while preserving macro risk attribution.</a:t>
              </a:r>
            </a:p>
          </p:txBody>
        </p:sp>
        <p:sp>
          <p:nvSpPr>
            <p:cNvPr id="25" name="Rectangle 25"/>
            <p:cNvSpPr/>
            <p:nvPr/>
          </p:nvSpPr>
          <p:spPr>
            <a:xfrm>
              <a:off x="723900" y="3905250"/>
              <a:ext cx="5029200" cy="609600"/>
            </a:xfrm>
            <a:prstGeom prst="roundRect">
              <a:avLst>
                <a:gd name="adj" fmla="val 9375"/>
              </a:avLst>
            </a:prstGeom>
            <a:solidFill>
              <a:schemeClr val="lt1"/>
            </a:solidFill>
            <a:ln w="9525">
              <a:solidFill>
                <a:srgbClr val="E2E8F0"/>
              </a:solidFill>
            </a:ln>
          </p:spPr>
        </p:sp>
        <p:sp>
          <p:nvSpPr>
            <p:cNvPr id="26" name="TextBox 26"/>
            <p:cNvSpPr txBox="1"/>
            <p:nvPr/>
          </p:nvSpPr>
          <p:spPr>
            <a:xfrm>
              <a:off x="833438" y="3981450"/>
              <a:ext cx="3506184" cy="176212"/>
            </a:xfrm>
            <a:prstGeom prst="rect">
              <a:avLst/>
            </a:prstGeom>
            <a:noFill/>
            <a:ln>
              <a:noFill/>
            </a:ln>
          </p:spPr>
          <p:txBody>
            <a:bodyPr wrap="none" lIns="0" tIns="0" rIns="0" bIns="0" anchor="t" anchorCtr="0">
              <a:spAutoFit/>
            </a:bodyPr>
            <a:lstStyle/>
            <a:p>
              <a:pPr algn="l"/>
              <a:r>
                <a:rPr lang="en-US" sz="900" b="1" dirty="0">
                  <a:solidFill>
                    <a:schemeClr val="accent1"/>
                  </a:solidFill>
                  <a:latin typeface="+mn-lt"/>
                  <a:ea typeface="+mn-ea"/>
                  <a:cs typeface="+mn-cs"/>
                </a:rPr>
                <a:t>A6: First-Order Bond Duration Approximation (Taylor Series)</a:t>
              </a:r>
            </a:p>
          </p:txBody>
        </p:sp>
        <p:sp>
          <p:nvSpPr>
            <p:cNvPr id="27" name="TextBox 27"/>
            <p:cNvSpPr txBox="1"/>
            <p:nvPr/>
          </p:nvSpPr>
          <p:spPr>
            <a:xfrm>
              <a:off x="833438" y="4165600"/>
              <a:ext cx="4013239" cy="161925"/>
            </a:xfrm>
            <a:prstGeom prst="rect">
              <a:avLst/>
            </a:prstGeom>
            <a:noFill/>
            <a:ln>
              <a:noFill/>
            </a:ln>
          </p:spPr>
          <p:txBody>
            <a:bodyPr wrap="none" lIns="0" tIns="0" rIns="0" bIns="0" anchor="t" anchorCtr="0">
              <a:spAutoFit/>
            </a:bodyPr>
            <a:lstStyle/>
            <a:p>
              <a:pPr algn="l"/>
              <a:r>
                <a:rPr lang="el-GR" sz="820" dirty="0">
                  <a:solidFill>
                    <a:srgbClr val="334155"/>
                  </a:solidFill>
                  <a:latin typeface="+mn-lt"/>
                  <a:ea typeface="+mn-ea"/>
                  <a:cs typeface="+mn-cs"/>
                </a:rPr>
                <a:t>Bond PnL: ΔP ≈ -D × Δy - SpreadShock. Second-order convexity (d²P/dy²) omitted</a:t>
              </a:r>
            </a:p>
          </p:txBody>
        </p:sp>
        <p:sp>
          <p:nvSpPr>
            <p:cNvPr id="28" name="TextBox 28"/>
            <p:cNvSpPr txBox="1"/>
            <p:nvPr/>
          </p:nvSpPr>
          <p:spPr>
            <a:xfrm>
              <a:off x="833438" y="4318000"/>
              <a:ext cx="4347568" cy="161925"/>
            </a:xfrm>
            <a:prstGeom prst="rect">
              <a:avLst/>
            </a:prstGeom>
            <a:noFill/>
            <a:ln>
              <a:noFill/>
            </a:ln>
          </p:spPr>
          <p:txBody>
            <a:bodyPr wrap="none" lIns="0" tIns="0" rIns="0" bIns="0" anchor="t" anchorCtr="0">
              <a:spAutoFit/>
            </a:bodyPr>
            <a:lstStyle/>
            <a:p>
              <a:pPr algn="l"/>
              <a:r>
                <a:rPr lang="en-US" sz="820" dirty="0">
                  <a:solidFill>
                    <a:srgbClr val="64748B"/>
                  </a:solidFill>
                  <a:latin typeface="+mn-lt"/>
                  <a:ea typeface="+mn-ea"/>
                  <a:cs typeface="+mn-cs"/>
                </a:rPr>
                <a:t>to guarantee sub-75ms deterministic valuation speed for high-frequency signal pipelines.</a:t>
              </a:r>
            </a:p>
          </p:txBody>
        </p:sp>
        <p:sp>
          <p:nvSpPr>
            <p:cNvPr id="29" name="Rectangle 29"/>
            <p:cNvSpPr/>
            <p:nvPr/>
          </p:nvSpPr>
          <p:spPr>
            <a:xfrm>
              <a:off x="723900" y="4591050"/>
              <a:ext cx="5029200" cy="609600"/>
            </a:xfrm>
            <a:prstGeom prst="roundRect">
              <a:avLst>
                <a:gd name="adj" fmla="val 9375"/>
              </a:avLst>
            </a:prstGeom>
            <a:solidFill>
              <a:schemeClr val="lt1"/>
            </a:solidFill>
            <a:ln w="9525">
              <a:solidFill>
                <a:srgbClr val="E2E8F0"/>
              </a:solidFill>
            </a:ln>
          </p:spPr>
        </p:sp>
        <p:sp>
          <p:nvSpPr>
            <p:cNvPr id="30" name="TextBox 30"/>
            <p:cNvSpPr txBox="1"/>
            <p:nvPr/>
          </p:nvSpPr>
          <p:spPr>
            <a:xfrm>
              <a:off x="833438" y="4667250"/>
              <a:ext cx="2678356" cy="176212"/>
            </a:xfrm>
            <a:prstGeom prst="rect">
              <a:avLst/>
            </a:prstGeom>
            <a:noFill/>
            <a:ln>
              <a:noFill/>
            </a:ln>
          </p:spPr>
          <p:txBody>
            <a:bodyPr wrap="none" lIns="0" tIns="0" rIns="0" bIns="0" anchor="t" anchorCtr="0">
              <a:spAutoFit/>
            </a:bodyPr>
            <a:lstStyle/>
            <a:p>
              <a:pPr algn="l"/>
              <a:r>
                <a:rPr lang="en-US" sz="900" b="1" dirty="0">
                  <a:solidFill>
                    <a:schemeClr val="accent1"/>
                  </a:solidFill>
                  <a:latin typeface="+mn-lt"/>
                  <a:ea typeface="+mn-ea"/>
                  <a:cs typeface="+mn-cs"/>
                </a:rPr>
                <a:t>A7 &amp; A8: Source Credibility &amp; Token Clippings</a:t>
              </a:r>
            </a:p>
          </p:txBody>
        </p:sp>
        <p:sp>
          <p:nvSpPr>
            <p:cNvPr id="31" name="TextBox 31"/>
            <p:cNvSpPr txBox="1"/>
            <p:nvPr/>
          </p:nvSpPr>
          <p:spPr>
            <a:xfrm>
              <a:off x="833438" y="4851400"/>
              <a:ext cx="4372498" cy="161925"/>
            </a:xfrm>
            <a:prstGeom prst="rect">
              <a:avLst/>
            </a:prstGeom>
            <a:noFill/>
            <a:ln>
              <a:noFill/>
            </a:ln>
          </p:spPr>
          <p:txBody>
            <a:bodyPr wrap="none" lIns="0" tIns="0" rIns="0" bIns="0" anchor="t" anchorCtr="0">
              <a:spAutoFit/>
            </a:bodyPr>
            <a:lstStyle/>
            <a:p>
              <a:pPr algn="l"/>
              <a:r>
                <a:rPr lang="en-US" sz="820" dirty="0">
                  <a:solidFill>
                    <a:srgbClr val="334155"/>
                  </a:solidFill>
                  <a:latin typeface="+mn-lt"/>
                  <a:ea typeface="+mn-ea"/>
                  <a:cs typeface="+mn-cs"/>
                </a:rPr>
                <a:t>GDELT curated news weighted 1.0 vs Kaggle social tweets weighted 0.7 to discount noise;</a:t>
              </a:r>
            </a:p>
          </p:txBody>
        </p:sp>
        <p:sp>
          <p:nvSpPr>
            <p:cNvPr id="32" name="TextBox 32"/>
            <p:cNvSpPr txBox="1"/>
            <p:nvPr/>
          </p:nvSpPr>
          <p:spPr>
            <a:xfrm>
              <a:off x="833438" y="5003800"/>
              <a:ext cx="4753147" cy="161925"/>
            </a:xfrm>
            <a:prstGeom prst="rect">
              <a:avLst/>
            </a:prstGeom>
            <a:noFill/>
            <a:ln>
              <a:noFill/>
            </a:ln>
          </p:spPr>
          <p:txBody>
            <a:bodyPr wrap="none" lIns="0" tIns="0" rIns="0" bIns="0" anchor="t" anchorCtr="0">
              <a:spAutoFit/>
            </a:bodyPr>
            <a:lstStyle/>
            <a:p>
              <a:pPr algn="l"/>
              <a:r>
                <a:rPr lang="en-US" sz="820" dirty="0">
                  <a:solidFill>
                    <a:srgbClr val="64748B"/>
                  </a:solidFill>
                  <a:latin typeface="+mn-lt"/>
                  <a:ea typeface="+mn-ea"/>
                  <a:cs typeface="+mn-cs"/>
                </a:rPr>
                <a:t>512 token clipping eliminates transformer OOM errors and maximizes GPU inference throughput.</a:t>
              </a:r>
            </a:p>
          </p:txBody>
        </p:sp>
        <p:sp>
          <p:nvSpPr>
            <p:cNvPr id="33" name="Rectangle 33"/>
            <p:cNvSpPr/>
            <p:nvPr/>
          </p:nvSpPr>
          <p:spPr>
            <a:xfrm>
              <a:off x="723900" y="5276850"/>
              <a:ext cx="5029200" cy="838200"/>
            </a:xfrm>
            <a:prstGeom prst="roundRect">
              <a:avLst>
                <a:gd name="adj" fmla="val 6818"/>
              </a:avLst>
            </a:prstGeom>
            <a:solidFill>
              <a:srgbClr val="EFF6FF"/>
            </a:solidFill>
            <a:ln w="9525">
              <a:solidFill>
                <a:srgbClr val="BFDBFE"/>
              </a:solidFill>
            </a:ln>
          </p:spPr>
        </p:sp>
        <p:sp>
          <p:nvSpPr>
            <p:cNvPr id="34" name="TextBox 34"/>
            <p:cNvSpPr txBox="1"/>
            <p:nvPr/>
          </p:nvSpPr>
          <p:spPr>
            <a:xfrm>
              <a:off x="833438" y="5384800"/>
              <a:ext cx="1703069" cy="161925"/>
            </a:xfrm>
            <a:prstGeom prst="rect">
              <a:avLst/>
            </a:prstGeom>
            <a:noFill/>
            <a:ln>
              <a:noFill/>
            </a:ln>
          </p:spPr>
          <p:txBody>
            <a:bodyPr wrap="none" lIns="0" tIns="0" rIns="0" bIns="0" anchor="t" anchorCtr="0">
              <a:spAutoFit/>
            </a:bodyPr>
            <a:lstStyle/>
            <a:p>
              <a:pPr algn="l"/>
              <a:r>
                <a:rPr lang="en-US" sz="820" b="1" dirty="0">
                  <a:solidFill>
                    <a:schemeClr val="accent1"/>
                  </a:solidFill>
                  <a:latin typeface="+mn-lt"/>
                  <a:ea typeface="+mn-ea"/>
                  <a:cs typeface="+mn-cs"/>
                </a:rPr>
                <a:t>Domain Transparency Rationale:</a:t>
              </a:r>
            </a:p>
          </p:txBody>
        </p:sp>
        <p:sp>
          <p:nvSpPr>
            <p:cNvPr id="35" name="TextBox 35"/>
            <p:cNvSpPr txBox="1"/>
            <p:nvPr/>
          </p:nvSpPr>
          <p:spPr>
            <a:xfrm>
              <a:off x="833438" y="5537200"/>
              <a:ext cx="3800940" cy="333375"/>
            </a:xfrm>
            <a:prstGeom prst="rect">
              <a:avLst/>
            </a:prstGeom>
            <a:noFill/>
            <a:ln>
              <a:noFill/>
            </a:ln>
          </p:spPr>
          <p:txBody>
            <a:bodyPr wrap="none" lIns="0" tIns="0" rIns="0" bIns="0" anchor="t" anchorCtr="0">
              <a:spAutoFit/>
            </a:bodyPr>
            <a:lstStyle/>
            <a:p>
              <a:pPr algn="l">
                <a:lnSpc>
                  <a:spcPts val="1350"/>
                </a:lnSpc>
              </a:pPr>
              <a:r>
                <a:rPr lang="en-US" sz="820" dirty="0">
                  <a:solidFill>
                    <a:srgbClr val="334155"/>
                  </a:solidFill>
                  <a:latin typeface="+mn-lt"/>
                  <a:ea typeface="+mn-ea"/>
                  <a:cs typeface="+mn-cs"/>
                </a:rPr>
                <a:t>Assumptions are explicitly documented and test-covered; every formula parameter</a:t>
              </a:r>
              <a:br>
                <a:rPr lang="en-US" sz="820" dirty="0">
                  <a:solidFill>
                    <a:srgbClr val="334155"/>
                  </a:solidFill>
                  <a:latin typeface="+mn-lt"/>
                  <a:ea typeface="+mn-ea"/>
                  <a:cs typeface="+mn-cs"/>
                </a:rPr>
              </a:br>
              <a:r>
                <a:rPr lang="en-US" sz="820" dirty="0">
                  <a:solidFill>
                    <a:srgbClr val="334155"/>
                  </a:solidFill>
                  <a:latin typeface="+mn-lt"/>
                  <a:ea typeface="+mn-ea"/>
                  <a:cs typeface="+mn-cs"/>
                </a:rPr>
                <a:t>can be updated or calibrated dynamically via Spring Boot application properties.</a:t>
              </a:r>
            </a:p>
          </p:txBody>
        </p:sp>
      </p:grpSp>
      <p:grpSp>
        <p:nvGrpSpPr>
          <p:cNvPr id="71" name="col-roadmap"/>
          <p:cNvGrpSpPr/>
          <p:nvPr/>
        </p:nvGrpSpPr>
        <p:grpSpPr>
          <a:xfrm>
            <a:off x="6286500" y="1333500"/>
            <a:ext cx="5334000" cy="4933950"/>
            <a:chOff x="6286500" y="1333500"/>
            <a:chExt cx="5334000" cy="4933950"/>
          </a:xfrm>
        </p:grpSpPr>
        <p:sp>
          <p:nvSpPr>
            <p:cNvPr id="37" name="Rectangle 37"/>
            <p:cNvSpPr/>
            <p:nvPr/>
          </p:nvSpPr>
          <p:spPr>
            <a:xfrm>
              <a:off x="6286500" y="1333500"/>
              <a:ext cx="5334000" cy="4933950"/>
            </a:xfrm>
            <a:prstGeom prst="roundRect">
              <a:avLst>
                <a:gd name="adj" fmla="val 1544"/>
              </a:avLst>
            </a:prstGeom>
            <a:solidFill>
              <a:srgbClr val="FFFFFF"/>
            </a:solidFill>
            <a:ln w="9525">
              <a:solidFill>
                <a:schemeClr val="accent6"/>
              </a:solidFill>
            </a:ln>
          </p:spPr>
        </p:sp>
        <p:sp>
          <p:nvSpPr>
            <p:cNvPr id="38" name="Freeform 38"/>
            <p:cNvSpPr/>
            <p:nvPr/>
          </p:nvSpPr>
          <p:spPr>
            <a:xfrm>
              <a:off x="6286500" y="1333500"/>
              <a:ext cx="5334000" cy="400050"/>
            </a:xfrm>
            <a:custGeom>
              <a:avLst/>
              <a:gdLst/>
              <a:ahLst/>
              <a:cxnLst/>
              <a:rect l="l" t="t" r="r" b="b"/>
              <a:pathLst>
                <a:path w="5334000" h="400050">
                  <a:moveTo>
                    <a:pt x="0" y="76200"/>
                  </a:moveTo>
                  <a:cubicBezTo>
                    <a:pt x="0" y="25400"/>
                    <a:pt x="25400" y="0"/>
                    <a:pt x="76200" y="0"/>
                  </a:cubicBezTo>
                  <a:lnTo>
                    <a:pt x="5257800" y="0"/>
                  </a:lnTo>
                  <a:cubicBezTo>
                    <a:pt x="5308600" y="0"/>
                    <a:pt x="5334000" y="25400"/>
                    <a:pt x="5334000" y="76200"/>
                  </a:cubicBezTo>
                  <a:lnTo>
                    <a:pt x="5334000" y="400050"/>
                  </a:lnTo>
                  <a:lnTo>
                    <a:pt x="0" y="400050"/>
                  </a:lnTo>
                  <a:close/>
                </a:path>
              </a:pathLst>
            </a:custGeom>
            <a:solidFill>
              <a:srgbClr val="ECFDF5"/>
            </a:solidFill>
            <a:ln>
              <a:noFill/>
            </a:ln>
          </p:spPr>
        </p:sp>
        <p:sp>
          <p:nvSpPr>
            <p:cNvPr id="39" name="TextBox 39"/>
            <p:cNvSpPr txBox="1"/>
            <p:nvPr/>
          </p:nvSpPr>
          <p:spPr>
            <a:xfrm>
              <a:off x="6472238" y="1457325"/>
              <a:ext cx="4261811" cy="176212"/>
            </a:xfrm>
            <a:prstGeom prst="rect">
              <a:avLst/>
            </a:prstGeom>
            <a:noFill/>
            <a:ln>
              <a:noFill/>
            </a:ln>
          </p:spPr>
          <p:txBody>
            <a:bodyPr wrap="none" lIns="0" tIns="0" rIns="0" bIns="0" anchor="t" anchorCtr="0">
              <a:spAutoFit/>
            </a:bodyPr>
            <a:lstStyle/>
            <a:p>
              <a:pPr algn="l"/>
              <a:r>
                <a:rPr lang="en-US" sz="900" b="1" spc="75" dirty="0">
                  <a:solidFill>
                    <a:srgbClr val="065F46"/>
                  </a:solidFill>
                  <a:latin typeface="+mn-lt"/>
                  <a:ea typeface="+mn-ea"/>
                  <a:cs typeface="+mn-cs"/>
                </a:rPr>
                <a:t>KEY STRATEGIC IMPROVEMENTS &amp; ADVANCED CAPABILITIES</a:t>
              </a:r>
            </a:p>
          </p:txBody>
        </p:sp>
        <p:sp>
          <p:nvSpPr>
            <p:cNvPr id="40" name="TextBox 40"/>
            <p:cNvSpPr txBox="1"/>
            <p:nvPr/>
          </p:nvSpPr>
          <p:spPr>
            <a:xfrm>
              <a:off x="6472238" y="1597025"/>
              <a:ext cx="2981400" cy="147638"/>
            </a:xfrm>
            <a:prstGeom prst="rect">
              <a:avLst/>
            </a:prstGeom>
            <a:noFill/>
            <a:ln>
              <a:noFill/>
            </a:ln>
          </p:spPr>
          <p:txBody>
            <a:bodyPr wrap="none" lIns="0" tIns="0" rIns="0" bIns="0" anchor="t" anchorCtr="0">
              <a:spAutoFit/>
            </a:bodyPr>
            <a:lstStyle/>
            <a:p>
              <a:pPr algn="l"/>
              <a:r>
                <a:rPr lang="en-US" sz="750" dirty="0">
                  <a:solidFill>
                    <a:schemeClr val="accent2"/>
                  </a:solidFill>
                  <a:latin typeface="+mn-lt"/>
                  <a:ea typeface="+mn-ea"/>
                  <a:cs typeface="+mn-cs"/>
                </a:rPr>
                <a:t>High-Impact Enhancement Vectors for Enterprise Production Scale</a:t>
              </a:r>
            </a:p>
          </p:txBody>
        </p:sp>
        <p:sp>
          <p:nvSpPr>
            <p:cNvPr id="41" name="Rectangle 41"/>
            <p:cNvSpPr/>
            <p:nvPr/>
          </p:nvSpPr>
          <p:spPr>
            <a:xfrm>
              <a:off x="6438900" y="1847850"/>
              <a:ext cx="5029200" cy="914400"/>
            </a:xfrm>
            <a:prstGeom prst="roundRect">
              <a:avLst>
                <a:gd name="adj" fmla="val 6250"/>
              </a:avLst>
            </a:prstGeom>
            <a:solidFill>
              <a:schemeClr val="lt1"/>
            </a:solidFill>
            <a:ln w="9525">
              <a:solidFill>
                <a:srgbClr val="E2E8F0"/>
              </a:solidFill>
            </a:ln>
          </p:spPr>
        </p:sp>
        <p:sp>
          <p:nvSpPr>
            <p:cNvPr id="42" name="Rectangle 42"/>
            <p:cNvSpPr/>
            <p:nvPr/>
          </p:nvSpPr>
          <p:spPr>
            <a:xfrm>
              <a:off x="6553200" y="1962150"/>
              <a:ext cx="285750" cy="209550"/>
            </a:xfrm>
            <a:prstGeom prst="roundRect">
              <a:avLst>
                <a:gd name="adj" fmla="val 18182"/>
              </a:avLst>
            </a:prstGeom>
            <a:solidFill>
              <a:srgbClr val="ECFDF5"/>
            </a:solidFill>
            <a:ln w="9525">
              <a:solidFill>
                <a:srgbClr val="A7F3D0"/>
              </a:solidFill>
            </a:ln>
          </p:spPr>
        </p:sp>
        <p:sp>
          <p:nvSpPr>
            <p:cNvPr id="43" name="TextBox 43"/>
            <p:cNvSpPr txBox="1"/>
            <p:nvPr/>
          </p:nvSpPr>
          <p:spPr>
            <a:xfrm>
              <a:off x="6627817" y="2012950"/>
              <a:ext cx="136516" cy="161925"/>
            </a:xfrm>
            <a:prstGeom prst="rect">
              <a:avLst/>
            </a:prstGeom>
            <a:noFill/>
            <a:ln>
              <a:noFill/>
            </a:ln>
          </p:spPr>
          <p:txBody>
            <a:bodyPr wrap="none" lIns="0" tIns="0" rIns="0" bIns="0" anchor="t" anchorCtr="0">
              <a:spAutoFit/>
            </a:bodyPr>
            <a:lstStyle/>
            <a:p>
              <a:pPr algn="ctr"/>
              <a:r>
                <a:rPr lang="en-US" sz="820" b="1" dirty="0">
                  <a:solidFill>
                    <a:srgbClr val="065F46"/>
                  </a:solidFill>
                  <a:latin typeface="+mn-lt"/>
                  <a:ea typeface="+mn-ea"/>
                  <a:cs typeface="+mn-cs"/>
                </a:rPr>
                <a:t>01</a:t>
              </a:r>
            </a:p>
          </p:txBody>
        </p:sp>
        <p:sp>
          <p:nvSpPr>
            <p:cNvPr id="44" name="TextBox 44"/>
            <p:cNvSpPr txBox="1"/>
            <p:nvPr/>
          </p:nvSpPr>
          <p:spPr>
            <a:xfrm>
              <a:off x="6948297" y="1987550"/>
              <a:ext cx="3013575" cy="191643"/>
            </a:xfrm>
            <a:prstGeom prst="rect">
              <a:avLst/>
            </a:prstGeom>
            <a:noFill/>
            <a:ln>
              <a:noFill/>
            </a:ln>
          </p:spPr>
          <p:txBody>
            <a:bodyPr wrap="none" lIns="0" tIns="0" rIns="0" bIns="0" anchor="t" anchorCtr="0">
              <a:spAutoFit/>
            </a:bodyPr>
            <a:lstStyle/>
            <a:p>
              <a:pPr algn="l"/>
              <a:r>
                <a:rPr lang="en-US" sz="980" b="1" dirty="0">
                  <a:solidFill>
                    <a:schemeClr val="dk1"/>
                  </a:solidFill>
                  <a:latin typeface="+mn-lt"/>
                  <a:ea typeface="+mn-ea"/>
                  <a:cs typeface="+mn-cs"/>
                </a:rPr>
                <a:t>Stochastic Monte Carlo &amp; Yield Curve Convexity</a:t>
              </a:r>
            </a:p>
          </p:txBody>
        </p:sp>
        <p:sp>
          <p:nvSpPr>
            <p:cNvPr id="45" name="TextBox 45"/>
            <p:cNvSpPr txBox="1"/>
            <p:nvPr/>
          </p:nvSpPr>
          <p:spPr>
            <a:xfrm>
              <a:off x="6548438" y="2232025"/>
              <a:ext cx="4075707" cy="161925"/>
            </a:xfrm>
            <a:prstGeom prst="rect">
              <a:avLst/>
            </a:prstGeom>
            <a:noFill/>
            <a:ln>
              <a:noFill/>
            </a:ln>
          </p:spPr>
          <p:txBody>
            <a:bodyPr wrap="none" lIns="0" tIns="0" rIns="0" bIns="0" anchor="t" anchorCtr="0">
              <a:spAutoFit/>
            </a:bodyPr>
            <a:lstStyle/>
            <a:p>
              <a:pPr marL="76200" indent="-76200" algn="l">
                <a:buClr>
                  <a:srgbClr val="334155"/>
                </a:buClr>
                <a:buSzTx/>
                <a:buFontTx/>
                <a:buChar char="•"/>
              </a:pPr>
              <a:r>
                <a:rPr lang="en-US" sz="820" dirty="0">
                  <a:solidFill>
                    <a:srgbClr val="334155"/>
                  </a:solidFill>
                  <a:latin typeface="+mn-lt"/>
                  <a:ea typeface="+mn-ea"/>
                  <a:cs typeface="+mn-cs"/>
                </a:rPr>
                <a:t>Incorporate second-order bond convexity (d²P/dy²) and yield curve bootstrapping</a:t>
              </a:r>
            </a:p>
          </p:txBody>
        </p:sp>
        <p:sp>
          <p:nvSpPr>
            <p:cNvPr id="46" name="TextBox 46"/>
            <p:cNvSpPr txBox="1"/>
            <p:nvPr/>
          </p:nvSpPr>
          <p:spPr>
            <a:xfrm>
              <a:off x="6548438" y="2384425"/>
              <a:ext cx="4114545" cy="161925"/>
            </a:xfrm>
            <a:prstGeom prst="rect">
              <a:avLst/>
            </a:prstGeom>
            <a:noFill/>
            <a:ln>
              <a:noFill/>
            </a:ln>
          </p:spPr>
          <p:txBody>
            <a:bodyPr wrap="none" lIns="0" tIns="0" rIns="0" bIns="0" anchor="t" anchorCtr="0">
              <a:spAutoFit/>
            </a:bodyPr>
            <a:lstStyle/>
            <a:p>
              <a:pPr marL="76200" indent="-76200" algn="l">
                <a:buClr>
                  <a:srgbClr val="334155"/>
                </a:buClr>
                <a:buSzTx/>
                <a:buFontTx/>
                <a:buChar char="•"/>
              </a:pPr>
              <a:r>
                <a:rPr lang="en-US" sz="820" dirty="0">
                  <a:solidFill>
                    <a:srgbClr val="334155"/>
                  </a:solidFill>
                  <a:latin typeface="+mn-lt"/>
                  <a:ea typeface="+mn-ea"/>
                  <a:cs typeface="+mn-cs"/>
                </a:rPr>
                <a:t>Execute 10,000-path stochastic Monte Carlo simulations for Value-at-Risk (VaR 99)</a:t>
              </a:r>
            </a:p>
          </p:txBody>
        </p:sp>
        <p:sp>
          <p:nvSpPr>
            <p:cNvPr id="47" name="TextBox 47"/>
            <p:cNvSpPr txBox="1"/>
            <p:nvPr/>
          </p:nvSpPr>
          <p:spPr>
            <a:xfrm>
              <a:off x="6548438" y="2536825"/>
              <a:ext cx="4023993" cy="161925"/>
            </a:xfrm>
            <a:prstGeom prst="rect">
              <a:avLst/>
            </a:prstGeom>
            <a:noFill/>
            <a:ln>
              <a:noFill/>
            </a:ln>
          </p:spPr>
          <p:txBody>
            <a:bodyPr wrap="none" lIns="0" tIns="0" rIns="0" bIns="0" anchor="t" anchorCtr="0">
              <a:spAutoFit/>
            </a:bodyPr>
            <a:lstStyle/>
            <a:p>
              <a:pPr marL="76200" indent="-76200" algn="l">
                <a:buClr>
                  <a:srgbClr val="64748B"/>
                </a:buClr>
                <a:buSzTx/>
                <a:buFontTx/>
                <a:buChar char="•"/>
              </a:pPr>
              <a:r>
                <a:rPr lang="en-US" sz="820" dirty="0">
                  <a:solidFill>
                    <a:srgbClr val="64748B"/>
                  </a:solidFill>
                  <a:latin typeface="+mn-lt"/>
                  <a:ea typeface="+mn-ea"/>
                  <a:cs typeface="+mn-cs"/>
                </a:rPr>
                <a:t>GPU-accelerated PyTorch tensor kernels for non-linear derivative option surfaces</a:t>
              </a:r>
            </a:p>
          </p:txBody>
        </p:sp>
        <p:sp>
          <p:nvSpPr>
            <p:cNvPr id="48" name="Rectangle 48"/>
            <p:cNvSpPr/>
            <p:nvPr/>
          </p:nvSpPr>
          <p:spPr>
            <a:xfrm>
              <a:off x="6438900" y="2838450"/>
              <a:ext cx="5029200" cy="914400"/>
            </a:xfrm>
            <a:prstGeom prst="roundRect">
              <a:avLst>
                <a:gd name="adj" fmla="val 6250"/>
              </a:avLst>
            </a:prstGeom>
            <a:solidFill>
              <a:schemeClr val="lt1"/>
            </a:solidFill>
            <a:ln w="9525">
              <a:solidFill>
                <a:srgbClr val="E2E8F0"/>
              </a:solidFill>
            </a:ln>
          </p:spPr>
        </p:sp>
        <p:sp>
          <p:nvSpPr>
            <p:cNvPr id="49" name="Rectangle 49"/>
            <p:cNvSpPr/>
            <p:nvPr/>
          </p:nvSpPr>
          <p:spPr>
            <a:xfrm>
              <a:off x="6553200" y="2952750"/>
              <a:ext cx="285750" cy="209550"/>
            </a:xfrm>
            <a:prstGeom prst="roundRect">
              <a:avLst>
                <a:gd name="adj" fmla="val 18182"/>
              </a:avLst>
            </a:prstGeom>
            <a:solidFill>
              <a:srgbClr val="EFF6FF"/>
            </a:solidFill>
            <a:ln w="9525">
              <a:solidFill>
                <a:srgbClr val="BFDBFE"/>
              </a:solidFill>
            </a:ln>
          </p:spPr>
        </p:sp>
        <p:sp>
          <p:nvSpPr>
            <p:cNvPr id="50" name="TextBox 50"/>
            <p:cNvSpPr txBox="1"/>
            <p:nvPr/>
          </p:nvSpPr>
          <p:spPr>
            <a:xfrm>
              <a:off x="6627817" y="3003550"/>
              <a:ext cx="136516" cy="161925"/>
            </a:xfrm>
            <a:prstGeom prst="rect">
              <a:avLst/>
            </a:prstGeom>
            <a:noFill/>
            <a:ln>
              <a:noFill/>
            </a:ln>
          </p:spPr>
          <p:txBody>
            <a:bodyPr wrap="none" lIns="0" tIns="0" rIns="0" bIns="0" anchor="t" anchorCtr="0">
              <a:spAutoFit/>
            </a:bodyPr>
            <a:lstStyle/>
            <a:p>
              <a:pPr algn="ctr"/>
              <a:r>
                <a:rPr lang="en-US" sz="820" b="1" dirty="0">
                  <a:solidFill>
                    <a:schemeClr val="accent1"/>
                  </a:solidFill>
                  <a:latin typeface="+mn-lt"/>
                  <a:ea typeface="+mn-ea"/>
                  <a:cs typeface="+mn-cs"/>
                </a:rPr>
                <a:t>02</a:t>
              </a:r>
            </a:p>
          </p:txBody>
        </p:sp>
        <p:sp>
          <p:nvSpPr>
            <p:cNvPr id="51" name="TextBox 51"/>
            <p:cNvSpPr txBox="1"/>
            <p:nvPr/>
          </p:nvSpPr>
          <p:spPr>
            <a:xfrm>
              <a:off x="6948297" y="2978150"/>
              <a:ext cx="3235416" cy="191643"/>
            </a:xfrm>
            <a:prstGeom prst="rect">
              <a:avLst/>
            </a:prstGeom>
            <a:noFill/>
            <a:ln>
              <a:noFill/>
            </a:ln>
          </p:spPr>
          <p:txBody>
            <a:bodyPr wrap="none" lIns="0" tIns="0" rIns="0" bIns="0" anchor="t" anchorCtr="0">
              <a:spAutoFit/>
            </a:bodyPr>
            <a:lstStyle/>
            <a:p>
              <a:pPr algn="l"/>
              <a:r>
                <a:rPr lang="en-US" sz="980" b="1" dirty="0">
                  <a:solidFill>
                    <a:schemeClr val="dk1"/>
                  </a:solidFill>
                  <a:latin typeface="+mn-lt"/>
                  <a:ea typeface="+mn-ea"/>
                  <a:cs typeface="+mn-cs"/>
                </a:rPr>
                <a:t>Streaming Market Feeds &amp; FIX Protocol Integration</a:t>
              </a:r>
            </a:p>
          </p:txBody>
        </p:sp>
        <p:sp>
          <p:nvSpPr>
            <p:cNvPr id="52" name="TextBox 52"/>
            <p:cNvSpPr txBox="1"/>
            <p:nvPr/>
          </p:nvSpPr>
          <p:spPr>
            <a:xfrm>
              <a:off x="6548438" y="3222625"/>
              <a:ext cx="4015341" cy="161925"/>
            </a:xfrm>
            <a:prstGeom prst="rect">
              <a:avLst/>
            </a:prstGeom>
            <a:noFill/>
            <a:ln>
              <a:noFill/>
            </a:ln>
          </p:spPr>
          <p:txBody>
            <a:bodyPr wrap="none" lIns="0" tIns="0" rIns="0" bIns="0" anchor="t" anchorCtr="0">
              <a:spAutoFit/>
            </a:bodyPr>
            <a:lstStyle/>
            <a:p>
              <a:pPr marL="76200" indent="-76200" algn="l">
                <a:buClr>
                  <a:srgbClr val="334155"/>
                </a:buClr>
                <a:buSzTx/>
                <a:buFontTx/>
                <a:buChar char="•"/>
              </a:pPr>
              <a:r>
                <a:rPr lang="en-US" sz="820" dirty="0">
                  <a:solidFill>
                    <a:srgbClr val="334155"/>
                  </a:solidFill>
                  <a:latin typeface="+mn-lt"/>
                  <a:ea typeface="+mn-ea"/>
                  <a:cs typeface="+mn-cs"/>
                </a:rPr>
                <a:t>Hook live FIX protocol / WebSocket feeds (Bloomberg B-PIPE, Refinitiv Elektron)</a:t>
              </a:r>
            </a:p>
          </p:txBody>
        </p:sp>
        <p:sp>
          <p:nvSpPr>
            <p:cNvPr id="53" name="TextBox 53"/>
            <p:cNvSpPr txBox="1"/>
            <p:nvPr/>
          </p:nvSpPr>
          <p:spPr>
            <a:xfrm>
              <a:off x="6548438" y="3375025"/>
              <a:ext cx="3882732" cy="161925"/>
            </a:xfrm>
            <a:prstGeom prst="rect">
              <a:avLst/>
            </a:prstGeom>
            <a:noFill/>
            <a:ln>
              <a:noFill/>
            </a:ln>
          </p:spPr>
          <p:txBody>
            <a:bodyPr wrap="none" lIns="0" tIns="0" rIns="0" bIns="0" anchor="t" anchorCtr="0">
              <a:spAutoFit/>
            </a:bodyPr>
            <a:lstStyle/>
            <a:p>
              <a:pPr marL="76200" indent="-76200" algn="l">
                <a:buClr>
                  <a:srgbClr val="334155"/>
                </a:buClr>
                <a:buSzTx/>
                <a:buFontTx/>
                <a:buChar char="•"/>
              </a:pPr>
              <a:r>
                <a:rPr lang="en-US" sz="820" dirty="0">
                  <a:solidFill>
                    <a:srgbClr val="334155"/>
                  </a:solidFill>
                  <a:latin typeface="+mn-lt"/>
                  <a:ea typeface="+mn-ea"/>
                  <a:cs typeface="+mn-cs"/>
                </a:rPr>
                <a:t>Streaming mark-to-market portfolio pricing replacing static notional baselines</a:t>
              </a:r>
            </a:p>
          </p:txBody>
        </p:sp>
        <p:sp>
          <p:nvSpPr>
            <p:cNvPr id="54" name="TextBox 54"/>
            <p:cNvSpPr txBox="1"/>
            <p:nvPr/>
          </p:nvSpPr>
          <p:spPr>
            <a:xfrm>
              <a:off x="6548438" y="3527425"/>
              <a:ext cx="4148884" cy="161925"/>
            </a:xfrm>
            <a:prstGeom prst="rect">
              <a:avLst/>
            </a:prstGeom>
            <a:noFill/>
            <a:ln>
              <a:noFill/>
            </a:ln>
          </p:spPr>
          <p:txBody>
            <a:bodyPr wrap="none" lIns="0" tIns="0" rIns="0" bIns="0" anchor="t" anchorCtr="0">
              <a:spAutoFit/>
            </a:bodyPr>
            <a:lstStyle/>
            <a:p>
              <a:pPr marL="76200" indent="-76200" algn="l">
                <a:buClr>
                  <a:srgbClr val="64748B"/>
                </a:buClr>
                <a:buSzTx/>
                <a:buFontTx/>
                <a:buChar char="•"/>
              </a:pPr>
              <a:r>
                <a:rPr lang="en-US" sz="820" dirty="0">
                  <a:solidFill>
                    <a:srgbClr val="64748B"/>
                  </a:solidFill>
                  <a:latin typeface="+mn-lt"/>
                  <a:ea typeface="+mn-ea"/>
                  <a:cs typeface="+mn-cs"/>
                </a:rPr>
                <a:t>Automated intraday corporate action, dividend, and coupon payment reconciliation</a:t>
              </a:r>
            </a:p>
          </p:txBody>
        </p:sp>
        <p:sp>
          <p:nvSpPr>
            <p:cNvPr id="55" name="Rectangle 55"/>
            <p:cNvSpPr/>
            <p:nvPr/>
          </p:nvSpPr>
          <p:spPr>
            <a:xfrm>
              <a:off x="6438900" y="3829050"/>
              <a:ext cx="5029200" cy="914400"/>
            </a:xfrm>
            <a:prstGeom prst="roundRect">
              <a:avLst>
                <a:gd name="adj" fmla="val 6250"/>
              </a:avLst>
            </a:prstGeom>
            <a:solidFill>
              <a:schemeClr val="lt1"/>
            </a:solidFill>
            <a:ln w="9525">
              <a:solidFill>
                <a:srgbClr val="E2E8F0"/>
              </a:solidFill>
            </a:ln>
          </p:spPr>
        </p:sp>
        <p:sp>
          <p:nvSpPr>
            <p:cNvPr id="56" name="Rectangle 56"/>
            <p:cNvSpPr/>
            <p:nvPr/>
          </p:nvSpPr>
          <p:spPr>
            <a:xfrm>
              <a:off x="6553200" y="3943350"/>
              <a:ext cx="285750" cy="209550"/>
            </a:xfrm>
            <a:prstGeom prst="roundRect">
              <a:avLst>
                <a:gd name="adj" fmla="val 18182"/>
              </a:avLst>
            </a:prstGeom>
            <a:solidFill>
              <a:srgbClr val="FFFBEB"/>
            </a:solidFill>
            <a:ln w="9525">
              <a:solidFill>
                <a:srgbClr val="FDE68A"/>
              </a:solidFill>
            </a:ln>
          </p:spPr>
        </p:sp>
        <p:sp>
          <p:nvSpPr>
            <p:cNvPr id="57" name="TextBox 57"/>
            <p:cNvSpPr txBox="1"/>
            <p:nvPr/>
          </p:nvSpPr>
          <p:spPr>
            <a:xfrm>
              <a:off x="6627817" y="3994150"/>
              <a:ext cx="136516" cy="161925"/>
            </a:xfrm>
            <a:prstGeom prst="rect">
              <a:avLst/>
            </a:prstGeom>
            <a:noFill/>
            <a:ln>
              <a:noFill/>
            </a:ln>
          </p:spPr>
          <p:txBody>
            <a:bodyPr wrap="none" lIns="0" tIns="0" rIns="0" bIns="0" anchor="t" anchorCtr="0">
              <a:spAutoFit/>
            </a:bodyPr>
            <a:lstStyle/>
            <a:p>
              <a:pPr algn="ctr"/>
              <a:r>
                <a:rPr lang="en-US" sz="820" b="1" dirty="0">
                  <a:solidFill>
                    <a:srgbClr val="B45309"/>
                  </a:solidFill>
                  <a:latin typeface="+mn-lt"/>
                  <a:ea typeface="+mn-ea"/>
                  <a:cs typeface="+mn-cs"/>
                </a:rPr>
                <a:t>03</a:t>
              </a:r>
            </a:p>
          </p:txBody>
        </p:sp>
        <p:sp>
          <p:nvSpPr>
            <p:cNvPr id="58" name="TextBox 58"/>
            <p:cNvSpPr txBox="1"/>
            <p:nvPr/>
          </p:nvSpPr>
          <p:spPr>
            <a:xfrm>
              <a:off x="6948297" y="3968750"/>
              <a:ext cx="3401341" cy="191643"/>
            </a:xfrm>
            <a:prstGeom prst="rect">
              <a:avLst/>
            </a:prstGeom>
            <a:noFill/>
            <a:ln>
              <a:noFill/>
            </a:ln>
          </p:spPr>
          <p:txBody>
            <a:bodyPr wrap="none" lIns="0" tIns="0" rIns="0" bIns="0" anchor="t" anchorCtr="0">
              <a:spAutoFit/>
            </a:bodyPr>
            <a:lstStyle/>
            <a:p>
              <a:pPr algn="l"/>
              <a:r>
                <a:rPr lang="en-US" sz="980" b="1" dirty="0">
                  <a:solidFill>
                    <a:schemeClr val="dk1"/>
                  </a:solidFill>
                  <a:latin typeface="+mn-lt"/>
                  <a:ea typeface="+mn-ea"/>
                  <a:cs typeface="+mn-cs"/>
                </a:rPr>
                <a:t>Knowledge Graph &amp; Supply Chain Contagion Network</a:t>
              </a:r>
            </a:p>
          </p:txBody>
        </p:sp>
        <p:sp>
          <p:nvSpPr>
            <p:cNvPr id="59" name="TextBox 59"/>
            <p:cNvSpPr txBox="1"/>
            <p:nvPr/>
          </p:nvSpPr>
          <p:spPr>
            <a:xfrm>
              <a:off x="6548438" y="4213225"/>
              <a:ext cx="3967503" cy="161925"/>
            </a:xfrm>
            <a:prstGeom prst="rect">
              <a:avLst/>
            </a:prstGeom>
            <a:noFill/>
            <a:ln>
              <a:noFill/>
            </a:ln>
          </p:spPr>
          <p:txBody>
            <a:bodyPr wrap="none" lIns="0" tIns="0" rIns="0" bIns="0" anchor="t" anchorCtr="0">
              <a:spAutoFit/>
            </a:bodyPr>
            <a:lstStyle/>
            <a:p>
              <a:pPr marL="76200" indent="-76200" algn="l">
                <a:buClr>
                  <a:srgbClr val="334155"/>
                </a:buClr>
                <a:buSzTx/>
                <a:buFontTx/>
                <a:buChar char="•"/>
              </a:pPr>
              <a:r>
                <a:rPr lang="en-US" sz="820" dirty="0">
                  <a:solidFill>
                    <a:srgbClr val="334155"/>
                  </a:solidFill>
                  <a:latin typeface="+mn-lt"/>
                  <a:ea typeface="+mn-ea"/>
                  <a:cs typeface="+mn-cs"/>
                </a:rPr>
                <a:t>Neo4j / Wikidata property graph mapping 200k+ global parent-subsidiary trees</a:t>
              </a:r>
            </a:p>
          </p:txBody>
        </p:sp>
        <p:sp>
          <p:nvSpPr>
            <p:cNvPr id="60" name="TextBox 60"/>
            <p:cNvSpPr txBox="1"/>
            <p:nvPr/>
          </p:nvSpPr>
          <p:spPr>
            <a:xfrm>
              <a:off x="6548438" y="4365625"/>
              <a:ext cx="3748514" cy="161925"/>
            </a:xfrm>
            <a:prstGeom prst="rect">
              <a:avLst/>
            </a:prstGeom>
            <a:noFill/>
            <a:ln>
              <a:noFill/>
            </a:ln>
          </p:spPr>
          <p:txBody>
            <a:bodyPr wrap="none" lIns="0" tIns="0" rIns="0" bIns="0" anchor="t" anchorCtr="0">
              <a:spAutoFit/>
            </a:bodyPr>
            <a:lstStyle/>
            <a:p>
              <a:pPr marL="76200" indent="-76200" algn="l">
                <a:buClr>
                  <a:srgbClr val="334155"/>
                </a:buClr>
                <a:buSzTx/>
                <a:buFontTx/>
                <a:buChar char="•"/>
              </a:pPr>
              <a:r>
                <a:rPr lang="en-US" sz="820" dirty="0">
                  <a:solidFill>
                    <a:srgbClr val="334155"/>
                  </a:solidFill>
                  <a:latin typeface="+mn-lt"/>
                  <a:ea typeface="+mn-ea"/>
                  <a:cs typeface="+mn-cs"/>
                </a:rPr>
                <a:t>Second-order supply chain and geopolitical contagion network pathfinding</a:t>
              </a:r>
            </a:p>
          </p:txBody>
        </p:sp>
        <p:sp>
          <p:nvSpPr>
            <p:cNvPr id="61" name="TextBox 61"/>
            <p:cNvSpPr txBox="1"/>
            <p:nvPr/>
          </p:nvSpPr>
          <p:spPr>
            <a:xfrm>
              <a:off x="6548438" y="4518025"/>
              <a:ext cx="3546530" cy="161925"/>
            </a:xfrm>
            <a:prstGeom prst="rect">
              <a:avLst/>
            </a:prstGeom>
            <a:noFill/>
            <a:ln>
              <a:noFill/>
            </a:ln>
          </p:spPr>
          <p:txBody>
            <a:bodyPr wrap="none" lIns="0" tIns="0" rIns="0" bIns="0" anchor="t" anchorCtr="0">
              <a:spAutoFit/>
            </a:bodyPr>
            <a:lstStyle/>
            <a:p>
              <a:pPr marL="76200" indent="-76200" algn="l">
                <a:buClr>
                  <a:srgbClr val="64748B"/>
                </a:buClr>
                <a:buSzTx/>
                <a:buFontTx/>
                <a:buChar char="•"/>
              </a:pPr>
              <a:r>
                <a:rPr lang="en-US" sz="820" dirty="0">
                  <a:solidFill>
                    <a:srgbClr val="64748B"/>
                  </a:solidFill>
                  <a:latin typeface="+mn-lt"/>
                  <a:ea typeface="+mn-ea"/>
                  <a:cs typeface="+mn-cs"/>
                </a:rPr>
                <a:t>Multi-hop credit risk propagation across complex structured debt SPVs</a:t>
              </a:r>
            </a:p>
          </p:txBody>
        </p:sp>
        <p:sp>
          <p:nvSpPr>
            <p:cNvPr id="62" name="Rectangle 62"/>
            <p:cNvSpPr/>
            <p:nvPr/>
          </p:nvSpPr>
          <p:spPr>
            <a:xfrm>
              <a:off x="6438900" y="4819650"/>
              <a:ext cx="5029200" cy="914400"/>
            </a:xfrm>
            <a:prstGeom prst="roundRect">
              <a:avLst>
                <a:gd name="adj" fmla="val 6250"/>
              </a:avLst>
            </a:prstGeom>
            <a:solidFill>
              <a:schemeClr val="lt1"/>
            </a:solidFill>
            <a:ln w="9525">
              <a:solidFill>
                <a:srgbClr val="E2E8F0"/>
              </a:solidFill>
            </a:ln>
          </p:spPr>
        </p:sp>
        <p:sp>
          <p:nvSpPr>
            <p:cNvPr id="63" name="Rectangle 63"/>
            <p:cNvSpPr/>
            <p:nvPr/>
          </p:nvSpPr>
          <p:spPr>
            <a:xfrm>
              <a:off x="6553200" y="4933950"/>
              <a:ext cx="285750" cy="209550"/>
            </a:xfrm>
            <a:prstGeom prst="roundRect">
              <a:avLst>
                <a:gd name="adj" fmla="val 18182"/>
              </a:avLst>
            </a:prstGeom>
            <a:solidFill>
              <a:srgbClr val="FDF2F8"/>
            </a:solidFill>
            <a:ln w="9525">
              <a:solidFill>
                <a:srgbClr val="FBCFE8"/>
              </a:solidFill>
            </a:ln>
          </p:spPr>
        </p:sp>
        <p:sp>
          <p:nvSpPr>
            <p:cNvPr id="64" name="TextBox 64"/>
            <p:cNvSpPr txBox="1"/>
            <p:nvPr/>
          </p:nvSpPr>
          <p:spPr>
            <a:xfrm>
              <a:off x="6627817" y="4984750"/>
              <a:ext cx="136516" cy="161925"/>
            </a:xfrm>
            <a:prstGeom prst="rect">
              <a:avLst/>
            </a:prstGeom>
            <a:noFill/>
            <a:ln>
              <a:noFill/>
            </a:ln>
          </p:spPr>
          <p:txBody>
            <a:bodyPr wrap="none" lIns="0" tIns="0" rIns="0" bIns="0" anchor="t" anchorCtr="0">
              <a:spAutoFit/>
            </a:bodyPr>
            <a:lstStyle/>
            <a:p>
              <a:pPr algn="ctr"/>
              <a:r>
                <a:rPr lang="en-US" sz="820" b="1" dirty="0">
                  <a:solidFill>
                    <a:srgbClr val="BE185D"/>
                  </a:solidFill>
                  <a:latin typeface="+mn-lt"/>
                  <a:ea typeface="+mn-ea"/>
                  <a:cs typeface="+mn-cs"/>
                </a:rPr>
                <a:t>04</a:t>
              </a:r>
            </a:p>
          </p:txBody>
        </p:sp>
        <p:sp>
          <p:nvSpPr>
            <p:cNvPr id="65" name="TextBox 65"/>
            <p:cNvSpPr txBox="1"/>
            <p:nvPr/>
          </p:nvSpPr>
          <p:spPr>
            <a:xfrm>
              <a:off x="6948297" y="4959350"/>
              <a:ext cx="3297513" cy="191643"/>
            </a:xfrm>
            <a:prstGeom prst="rect">
              <a:avLst/>
            </a:prstGeom>
            <a:noFill/>
            <a:ln>
              <a:noFill/>
            </a:ln>
          </p:spPr>
          <p:txBody>
            <a:bodyPr wrap="none" lIns="0" tIns="0" rIns="0" bIns="0" anchor="t" anchorCtr="0">
              <a:spAutoFit/>
            </a:bodyPr>
            <a:lstStyle/>
            <a:p>
              <a:pPr algn="l"/>
              <a:r>
                <a:rPr lang="en-US" sz="980" b="1" dirty="0">
                  <a:solidFill>
                    <a:schemeClr val="dk1"/>
                  </a:solidFill>
                  <a:latin typeface="+mn-lt"/>
                  <a:ea typeface="+mn-ea"/>
                  <a:cs typeface="+mn-cs"/>
                </a:rPr>
                <a:t>High-Throughput Distributed Event Streaming Mesh</a:t>
              </a:r>
            </a:p>
          </p:txBody>
        </p:sp>
        <p:sp>
          <p:nvSpPr>
            <p:cNvPr id="66" name="TextBox 66"/>
            <p:cNvSpPr txBox="1"/>
            <p:nvPr/>
          </p:nvSpPr>
          <p:spPr>
            <a:xfrm>
              <a:off x="6548438" y="5203825"/>
              <a:ext cx="3977617" cy="161925"/>
            </a:xfrm>
            <a:prstGeom prst="rect">
              <a:avLst/>
            </a:prstGeom>
            <a:noFill/>
            <a:ln>
              <a:noFill/>
            </a:ln>
          </p:spPr>
          <p:txBody>
            <a:bodyPr wrap="none" lIns="0" tIns="0" rIns="0" bIns="0" anchor="t" anchorCtr="0">
              <a:spAutoFit/>
            </a:bodyPr>
            <a:lstStyle/>
            <a:p>
              <a:pPr marL="76200" indent="-76200" algn="l">
                <a:buClr>
                  <a:srgbClr val="334155"/>
                </a:buClr>
                <a:buSzTx/>
                <a:buFontTx/>
                <a:buChar char="•"/>
              </a:pPr>
              <a:r>
                <a:rPr lang="en-US" sz="820" dirty="0">
                  <a:solidFill>
                    <a:srgbClr val="334155"/>
                  </a:solidFill>
                  <a:latin typeface="+mn-lt"/>
                  <a:ea typeface="+mn-ea"/>
                  <a:cs typeface="+mn-cs"/>
                </a:rPr>
                <a:t>Replace REST WebClient with distributed Apache Kafka / Redpanda event mesh</a:t>
              </a:r>
            </a:p>
          </p:txBody>
        </p:sp>
        <p:sp>
          <p:nvSpPr>
            <p:cNvPr id="68" name="TextBox 68"/>
            <p:cNvSpPr txBox="1"/>
            <p:nvPr/>
          </p:nvSpPr>
          <p:spPr>
            <a:xfrm>
              <a:off x="6548438" y="5400675"/>
              <a:ext cx="3845717" cy="161925"/>
            </a:xfrm>
            <a:prstGeom prst="rect">
              <a:avLst/>
            </a:prstGeom>
            <a:noFill/>
            <a:ln>
              <a:noFill/>
            </a:ln>
          </p:spPr>
          <p:txBody>
            <a:bodyPr wrap="none" lIns="0" tIns="0" rIns="0" bIns="0" anchor="t" anchorCtr="0">
              <a:spAutoFit/>
            </a:bodyPr>
            <a:lstStyle/>
            <a:p>
              <a:pPr marL="76200" indent="-76200" algn="l">
                <a:buClr>
                  <a:srgbClr val="64748B"/>
                </a:buClr>
                <a:buSzTx/>
                <a:buFontTx/>
                <a:buChar char="•"/>
              </a:pPr>
              <a:r>
                <a:rPr lang="en-US" sz="820" dirty="0">
                  <a:solidFill>
                    <a:srgbClr val="64748B"/>
                  </a:solidFill>
                  <a:latin typeface="+mn-lt"/>
                  <a:ea typeface="+mn-ea"/>
                  <a:cs typeface="+mn-cs"/>
                </a:rPr>
                <a:t>Active-active multi-region replication with zero-downtime failover and SOC 2</a:t>
              </a:r>
            </a:p>
          </p:txBody>
        </p:sp>
        <p:sp>
          <p:nvSpPr>
            <p:cNvPr id="69" name="Rectangle 69"/>
            <p:cNvSpPr/>
            <p:nvPr/>
          </p:nvSpPr>
          <p:spPr>
            <a:xfrm>
              <a:off x="6438900" y="5810250"/>
              <a:ext cx="5029200" cy="342900"/>
            </a:xfrm>
            <a:prstGeom prst="roundRect">
              <a:avLst>
                <a:gd name="adj" fmla="val 16667"/>
              </a:avLst>
            </a:prstGeom>
            <a:solidFill>
              <a:srgbClr val="EFF6FF"/>
            </a:solidFill>
            <a:ln w="9525">
              <a:solidFill>
                <a:srgbClr val="BFDBFE"/>
              </a:solidFill>
            </a:ln>
          </p:spPr>
        </p:sp>
        <p:sp>
          <p:nvSpPr>
            <p:cNvPr id="70" name="TextBox 70"/>
            <p:cNvSpPr txBox="1"/>
            <p:nvPr/>
          </p:nvSpPr>
          <p:spPr>
            <a:xfrm>
              <a:off x="6872691" y="5918200"/>
              <a:ext cx="4161619" cy="161925"/>
            </a:xfrm>
            <a:prstGeom prst="rect">
              <a:avLst/>
            </a:prstGeom>
            <a:noFill/>
            <a:ln>
              <a:noFill/>
            </a:ln>
          </p:spPr>
          <p:txBody>
            <a:bodyPr wrap="none" lIns="0" tIns="0" rIns="0" bIns="0" anchor="t" anchorCtr="0">
              <a:spAutoFit/>
            </a:bodyPr>
            <a:lstStyle/>
            <a:p>
              <a:pPr algn="ctr"/>
              <a:r>
                <a:rPr lang="en-US" sz="820" b="1" dirty="0">
                  <a:solidFill>
                    <a:schemeClr val="accent1"/>
                  </a:solidFill>
                  <a:latin typeface="+mn-lt"/>
                  <a:ea typeface="+mn-ea"/>
                  <a:cs typeface="+mn-cs"/>
                </a:rPr>
                <a:t>Enterprise-Ready · Modular · Compliant · S&amp;P Global &amp; CRISIL Hackathon 2026</a:t>
              </a:r>
            </a:p>
          </p:txBody>
        </p:sp>
      </p:grpSp>
      <p:grpSp>
        <p:nvGrpSpPr>
          <p:cNvPr id="75" name="footer"/>
          <p:cNvGrpSpPr/>
          <p:nvPr/>
        </p:nvGrpSpPr>
        <p:grpSpPr>
          <a:xfrm>
            <a:off x="566738" y="6381750"/>
            <a:ext cx="11058524" cy="288925"/>
            <a:chOff x="566738" y="6381750"/>
            <a:chExt cx="11058524" cy="288925"/>
          </a:xfrm>
        </p:grpSpPr>
        <p:sp>
          <p:nvSpPr>
            <p:cNvPr id="72" name="Line 72"/>
            <p:cNvSpPr/>
            <p:nvPr/>
          </p:nvSpPr>
          <p:spPr>
            <a:xfrm>
              <a:off x="571500" y="6381750"/>
              <a:ext cx="11049000" cy="9525"/>
            </a:xfrm>
            <a:custGeom>
              <a:avLst/>
              <a:gdLst/>
              <a:ahLst/>
              <a:cxnLst/>
              <a:rect l="l" t="t" r="r" b="b"/>
              <a:pathLst>
                <a:path w="11049000" h="9525">
                  <a:moveTo>
                    <a:pt x="0" y="0"/>
                  </a:moveTo>
                  <a:lnTo>
                    <a:pt x="11049000" y="0"/>
                  </a:lnTo>
                </a:path>
              </a:pathLst>
            </a:custGeom>
            <a:noFill/>
            <a:ln w="9525">
              <a:solidFill>
                <a:srgbClr val="E2E8F0"/>
              </a:solidFill>
            </a:ln>
          </p:spPr>
        </p:sp>
        <p:sp>
          <p:nvSpPr>
            <p:cNvPr id="73" name="TextBox 73"/>
            <p:cNvSpPr txBox="1"/>
            <p:nvPr/>
          </p:nvSpPr>
          <p:spPr>
            <a:xfrm>
              <a:off x="566738" y="6508750"/>
              <a:ext cx="3866403" cy="161925"/>
            </a:xfrm>
            <a:prstGeom prst="rect">
              <a:avLst/>
            </a:prstGeom>
            <a:noFill/>
            <a:ln>
              <a:noFill/>
            </a:ln>
          </p:spPr>
          <p:txBody>
            <a:bodyPr wrap="none" lIns="0" tIns="0" rIns="0" bIns="0" anchor="t" anchorCtr="0">
              <a:spAutoFit/>
            </a:bodyPr>
            <a:lstStyle/>
            <a:p>
              <a:pPr algn="l"/>
              <a:r>
                <a:rPr lang="en-US" sz="820" dirty="0">
                  <a:solidFill>
                    <a:srgbClr val="64748B"/>
                  </a:solidFill>
                  <a:latin typeface="+mn-lt"/>
                  <a:ea typeface="+mn-ea"/>
                  <a:cs typeface="+mn-cs"/>
                </a:rPr>
                <a:t>S&amp;P Global &amp; CRISIL Campus Hackathon 2026 | Candidate: Mritunjay Senapati</a:t>
              </a:r>
            </a:p>
          </p:txBody>
        </p:sp>
        <p:sp>
          <p:nvSpPr>
            <p:cNvPr id="74" name="TextBox 74"/>
            <p:cNvSpPr txBox="1"/>
            <p:nvPr/>
          </p:nvSpPr>
          <p:spPr>
            <a:xfrm>
              <a:off x="8525106" y="6508750"/>
              <a:ext cx="3100156" cy="161925"/>
            </a:xfrm>
            <a:prstGeom prst="rect">
              <a:avLst/>
            </a:prstGeom>
            <a:noFill/>
            <a:ln>
              <a:noFill/>
            </a:ln>
          </p:spPr>
          <p:txBody>
            <a:bodyPr wrap="none" lIns="0" tIns="0" rIns="0" bIns="0" anchor="t" anchorCtr="0">
              <a:spAutoFit/>
            </a:bodyPr>
            <a:lstStyle/>
            <a:p>
              <a:pPr algn="r"/>
              <a:r>
                <a:rPr lang="en-US" sz="820" dirty="0">
                  <a:solidFill>
                    <a:srgbClr val="64748B"/>
                  </a:solidFill>
                  <a:latin typeface="+mn-lt"/>
                  <a:ea typeface="+mn-ea"/>
                  <a:cs typeface="+mn-cs"/>
                </a:rPr>
                <a:t>Module B: Engineering Assumptions &amp; Strategic Improvements</a:t>
              </a:r>
            </a:p>
          </p:txBody>
        </p:sp>
      </p:gr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theme/theme1.xml><?xml version="1.0" encoding="utf-8"?>
<a:theme xmlns:a="http://schemas.openxmlformats.org/drawingml/2006/main" name="financial_risk_engine">
  <a:themeElements>
    <a:clrScheme name="financial_risk_engine">
      <a:dk1>
        <a:srgbClr val="0F172A"/>
      </a:dk1>
      <a:lt1>
        <a:srgbClr val="F8FAFC"/>
      </a:lt1>
      <a:dk2>
        <a:srgbClr val="1F497D"/>
      </a:dk2>
      <a:lt2>
        <a:srgbClr val="F8FAFC"/>
      </a:lt2>
      <a:accent1>
        <a:srgbClr val="1E40AF"/>
      </a:accent1>
      <a:accent2>
        <a:srgbClr val="059669"/>
      </a:accent2>
      <a:accent3>
        <a:srgbClr val="DC2626"/>
      </a:accent3>
      <a:accent4>
        <a:srgbClr val="1E40AF"/>
      </a:accent4>
      <a:accent5>
        <a:srgbClr val="475569"/>
      </a:accent5>
      <a:accent6>
        <a:srgbClr val="CBD5E1"/>
      </a:accent6>
      <a:hlink>
        <a:srgbClr val="059669"/>
      </a:hlink>
      <a:folHlink>
        <a:srgbClr val="DC2626"/>
      </a:folHlink>
    </a:clrScheme>
    <a:fontScheme name="financial_risk_engine">
      <a:majorFont>
        <a:latin typeface="Segoe UI"/>
        <a:ea typeface="Microsoft YaHei"/>
        <a:cs typeface="Segoe UI"/>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Microsoft YaHei"/>
        <a:cs typeface="Segoe UI"/>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inancial_risk_engin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financial_risk_engine">
  <a:themeElements>
    <a:clrScheme name="financial_risk_engine">
      <a:dk1>
        <a:srgbClr val="0F172A"/>
      </a:dk1>
      <a:lt1>
        <a:srgbClr val="F8FAFC"/>
      </a:lt1>
      <a:dk2>
        <a:srgbClr val="1F497D"/>
      </a:dk2>
      <a:lt2>
        <a:srgbClr val="F8FAFC"/>
      </a:lt2>
      <a:accent1>
        <a:srgbClr val="1E40AF"/>
      </a:accent1>
      <a:accent2>
        <a:srgbClr val="059669"/>
      </a:accent2>
      <a:accent3>
        <a:srgbClr val="DC2626"/>
      </a:accent3>
      <a:accent4>
        <a:srgbClr val="1E40AF"/>
      </a:accent4>
      <a:accent5>
        <a:srgbClr val="475569"/>
      </a:accent5>
      <a:accent6>
        <a:srgbClr val="CBD5E1"/>
      </a:accent6>
      <a:hlink>
        <a:srgbClr val="059669"/>
      </a:hlink>
      <a:folHlink>
        <a:srgbClr val="DC2626"/>
      </a:folHlink>
    </a:clrScheme>
    <a:fontScheme name="financial_risk_engine">
      <a:majorFont>
        <a:latin typeface="Segoe UI"/>
        <a:ea typeface="Microsoft YaHei"/>
        <a:cs typeface="Segoe UI"/>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Microsoft YaHei"/>
        <a:cs typeface="Segoe UI"/>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inancial_risk_engin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9</TotalTime>
  <Words>3883</Words>
  <Application>Microsoft Office PowerPoint</Application>
  <PresentationFormat>Widescreen</PresentationFormat>
  <Paragraphs>389</Paragraphs>
  <Slides>7</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Consolas</vt:lpstr>
      <vt:lpstr>Segoe UI</vt:lpstr>
      <vt:lpstr>financial_risk_engine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Mritunjay Senapati</cp:lastModifiedBy>
  <cp:revision>3</cp:revision>
  <dcterms:created xsi:type="dcterms:W3CDTF">2026-10-06T04:37:06Z</dcterms:created>
  <dcterms:modified xsi:type="dcterms:W3CDTF">2026-10-08T15:40:15Z</dcterms:modified>
  <cp:category/>
  <cp:contentStatus/>
  <dc:language>en-US</dc:language>
</cp:coreProperties>
</file>